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sldIdLst>
    <p:sldId id="334" r:id="rId2"/>
    <p:sldId id="335" r:id="rId3"/>
    <p:sldId id="336" r:id="rId4"/>
    <p:sldId id="337" r:id="rId5"/>
    <p:sldId id="349" r:id="rId6"/>
    <p:sldId id="350" r:id="rId7"/>
    <p:sldId id="340" r:id="rId8"/>
    <p:sldId id="342" r:id="rId9"/>
    <p:sldId id="322" r:id="rId10"/>
    <p:sldId id="316" r:id="rId11"/>
    <p:sldId id="311" r:id="rId12"/>
    <p:sldId id="312" r:id="rId13"/>
    <p:sldId id="313" r:id="rId14"/>
    <p:sldId id="314" r:id="rId15"/>
    <p:sldId id="341" r:id="rId16"/>
    <p:sldId id="345" r:id="rId17"/>
    <p:sldId id="346" r:id="rId18"/>
    <p:sldId id="347" r:id="rId19"/>
    <p:sldId id="318" r:id="rId20"/>
    <p:sldId id="328" r:id="rId21"/>
    <p:sldId id="34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1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94" y="9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5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64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8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65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80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2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9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20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09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4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4582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88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426327"/>
            <a:ext cx="12192000" cy="100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latin typeface="맑은 고딕"/>
                <a:ea typeface="맑은 고딕"/>
              </a:rPr>
              <a:t>Ⅰ. </a:t>
            </a:r>
            <a:r>
              <a:rPr lang="en-US" altLang="ko-KR" sz="6000" b="1"/>
              <a:t>ggotAI(</a:t>
            </a:r>
            <a:r>
              <a:rPr lang="ko-KR" altLang="en-US" sz="6000" b="1"/>
              <a:t>꽃아이</a:t>
            </a:r>
            <a:r>
              <a:rPr lang="en-US" altLang="ko-KR" sz="6000" b="1"/>
              <a:t>)</a:t>
            </a:r>
            <a:endParaRPr lang="en-US" altLang="ko-KR" sz="6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7610" y="224994"/>
            <a:ext cx="3703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1.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전체 업무 흐름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91116" y="5056192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017389" y="2753909"/>
            <a:ext cx="1270578" cy="184996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>
                <a:solidFill>
                  <a:srgbClr val="0070C0"/>
                </a:solidFill>
              </a:rPr>
              <a:t>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0681" y="2954648"/>
            <a:ext cx="167523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Whisper</a:t>
            </a:r>
          </a:p>
        </p:txBody>
      </p:sp>
      <p:cxnSp>
        <p:nvCxnSpPr>
          <p:cNvPr id="105" name="직선 연결선 104"/>
          <p:cNvCxnSpPr>
            <a:stCxn id="104" idx="3"/>
          </p:cNvCxnSpPr>
          <p:nvPr/>
        </p:nvCxnSpPr>
        <p:spPr>
          <a:xfrm>
            <a:off x="3642918" y="3338405"/>
            <a:ext cx="1375049" cy="156338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84" idx="3"/>
          </p:cNvCxnSpPr>
          <p:nvPr/>
        </p:nvCxnSpPr>
        <p:spPr>
          <a:xfrm flipV="1">
            <a:off x="3642918" y="3943477"/>
            <a:ext cx="1383515" cy="4512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3965510" y="4618653"/>
            <a:ext cx="811763" cy="979714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>
            <a:stCxn id="96" idx="3"/>
          </p:cNvCxnSpPr>
          <p:nvPr/>
        </p:nvCxnSpPr>
        <p:spPr>
          <a:xfrm>
            <a:off x="3642918" y="2733983"/>
            <a:ext cx="1330298" cy="279805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764603" y="3739151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7059" y="2895615"/>
            <a:ext cx="10727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cxnSp>
        <p:nvCxnSpPr>
          <p:cNvPr id="113" name="직선 화살표 연결선 112"/>
          <p:cNvCxnSpPr/>
          <p:nvPr/>
        </p:nvCxnSpPr>
        <p:spPr>
          <a:xfrm>
            <a:off x="6321564" y="3150296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/>
          <p:nvPr/>
        </p:nvCxnSpPr>
        <p:spPr>
          <a:xfrm>
            <a:off x="6321564" y="3510025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249351" y="3261901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59988" y="380348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6321564" y="4020064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/>
          <p:cNvCxnSpPr/>
          <p:nvPr/>
        </p:nvCxnSpPr>
        <p:spPr>
          <a:xfrm>
            <a:off x="6321564" y="4344902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222301" y="4110224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59731" y="3783323"/>
            <a:ext cx="165618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Gemini</a:t>
            </a:r>
            <a:endParaRPr lang="en-US" altLang="ko-KR" sz="900"/>
          </a:p>
        </p:txBody>
      </p:sp>
      <p:sp>
        <p:nvSpPr>
          <p:cNvPr id="121" name="TextBox 120"/>
          <p:cNvSpPr txBox="1"/>
          <p:nvPr/>
        </p:nvSpPr>
        <p:spPr>
          <a:xfrm>
            <a:off x="6305758" y="4738681"/>
            <a:ext cx="181652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/>
              <a:t>RPA </a:t>
            </a:r>
            <a:r>
              <a:rPr lang="ko-KR" altLang="en-US" sz="900"/>
              <a:t>실행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endParaRPr lang="ko-KR" altLang="en-US" sz="900"/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6181986" y="5097205"/>
            <a:ext cx="787981" cy="445179"/>
          </a:xfrm>
          <a:prstGeom prst="roundRect">
            <a:avLst>
              <a:gd name="adj" fmla="val 16667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23" name="직선 화살표 연결선 122"/>
          <p:cNvCxnSpPr/>
          <p:nvPr/>
        </p:nvCxnSpPr>
        <p:spPr>
          <a:xfrm>
            <a:off x="5950540" y="4623120"/>
            <a:ext cx="506244" cy="434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044834" y="5598764"/>
            <a:ext cx="20665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꽃집 업무 관리 프로그램에</a:t>
            </a:r>
          </a:p>
          <a:p>
            <a:pPr lvl="0">
              <a:defRPr/>
            </a:pPr>
            <a:r>
              <a:rPr lang="ko-KR" altLang="en-US" sz="900"/>
              <a:t>주문내역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r>
              <a:rPr lang="ko-KR" altLang="en-US" sz="900"/>
              <a:t> 입력</a:t>
            </a:r>
          </a:p>
        </p:txBody>
      </p:sp>
      <p:cxnSp>
        <p:nvCxnSpPr>
          <p:cNvPr id="126" name="직선 화살표 연결선 125"/>
          <p:cNvCxnSpPr/>
          <p:nvPr/>
        </p:nvCxnSpPr>
        <p:spPr>
          <a:xfrm>
            <a:off x="6678911" y="5579084"/>
            <a:ext cx="598967" cy="513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2677092" y="2603177"/>
            <a:ext cx="965826" cy="261610"/>
            <a:chOff x="2677092" y="2603177"/>
            <a:chExt cx="965826" cy="261610"/>
          </a:xfrm>
        </p:grpSpPr>
        <p:sp>
          <p:nvSpPr>
            <p:cNvPr id="96" name="TextBox 95"/>
            <p:cNvSpPr txBox="1"/>
            <p:nvPr/>
          </p:nvSpPr>
          <p:spPr>
            <a:xfrm>
              <a:off x="2951718" y="2610872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쇼핑몰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677092" y="2603177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①</a:t>
              </a:r>
              <a:endParaRPr lang="ko-KR" altLang="en-US" sz="1100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2677092" y="3207599"/>
            <a:ext cx="965826" cy="261610"/>
            <a:chOff x="2677092" y="3207599"/>
            <a:chExt cx="965826" cy="261610"/>
          </a:xfrm>
        </p:grpSpPr>
        <p:sp>
          <p:nvSpPr>
            <p:cNvPr id="104" name="TextBox 103"/>
            <p:cNvSpPr txBox="1"/>
            <p:nvPr/>
          </p:nvSpPr>
          <p:spPr>
            <a:xfrm>
              <a:off x="2951718" y="3215294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인터라넷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677092" y="3207599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②</a:t>
              </a:r>
              <a:endParaRPr lang="ko-KR" altLang="en-US" sz="110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677092" y="3817183"/>
            <a:ext cx="965826" cy="261610"/>
            <a:chOff x="2677092" y="3817183"/>
            <a:chExt cx="965826" cy="261610"/>
          </a:xfrm>
        </p:grpSpPr>
        <p:sp>
          <p:nvSpPr>
            <p:cNvPr id="84" name="TextBox 83"/>
            <p:cNvSpPr txBox="1"/>
            <p:nvPr/>
          </p:nvSpPr>
          <p:spPr>
            <a:xfrm>
              <a:off x="2951718" y="382487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가게전화</a:t>
              </a:r>
              <a:endParaRPr lang="en-US" altLang="ko-KR" sz="10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677092" y="3817183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③</a:t>
              </a:r>
              <a:endParaRPr lang="ko-KR" altLang="en-US" sz="110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677092" y="4422292"/>
            <a:ext cx="1271656" cy="292098"/>
            <a:chOff x="2677092" y="4422292"/>
            <a:chExt cx="1271656" cy="292098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3643370" y="4422292"/>
              <a:ext cx="305378" cy="292098"/>
            </a:xfrm>
            <a:prstGeom prst="roundRect">
              <a:avLst>
                <a:gd name="adj" fmla="val 16667"/>
              </a:avLst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>
                  <a:solidFill>
                    <a:srgbClr val="00B0F0"/>
                  </a:solidFill>
                </a:rPr>
                <a:t>앱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51718" y="4443393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핸드폰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677092" y="4435698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④</a:t>
              </a:r>
              <a:endParaRPr lang="ko-KR" altLang="en-US" sz="110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677092" y="5356665"/>
            <a:ext cx="965826" cy="261610"/>
            <a:chOff x="2677092" y="5020763"/>
            <a:chExt cx="965826" cy="261610"/>
          </a:xfrm>
        </p:grpSpPr>
        <p:sp>
          <p:nvSpPr>
            <p:cNvPr id="131" name="TextBox 86"/>
            <p:cNvSpPr txBox="1"/>
            <p:nvPr/>
          </p:nvSpPr>
          <p:spPr>
            <a:xfrm>
              <a:off x="2677092" y="5020763"/>
              <a:ext cx="3543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100">
                  <a:latin typeface="맑은 고딕"/>
                  <a:ea typeface="맑은 고딕"/>
                </a:rPr>
                <a:t>⑤</a:t>
              </a:r>
              <a:endParaRPr lang="en-US" altLang="ko-KR" sz="1100">
                <a:latin typeface="맑은 고딕"/>
                <a:ea typeface="맑은 고딕"/>
              </a:endParaRPr>
            </a:p>
          </p:txBody>
        </p:sp>
        <p:sp>
          <p:nvSpPr>
            <p:cNvPr id="133" name="TextBox 44"/>
            <p:cNvSpPr txBox="1"/>
            <p:nvPr/>
          </p:nvSpPr>
          <p:spPr>
            <a:xfrm>
              <a:off x="2951718" y="502845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가게음성</a:t>
              </a:r>
            </a:p>
          </p:txBody>
        </p:sp>
      </p:grpSp>
      <p:cxnSp>
        <p:nvCxnSpPr>
          <p:cNvPr id="134" name="직선 화살표 연결선 133"/>
          <p:cNvCxnSpPr>
            <a:endCxn id="138" idx="2"/>
          </p:cNvCxnSpPr>
          <p:nvPr/>
        </p:nvCxnSpPr>
        <p:spPr>
          <a:xfrm flipV="1">
            <a:off x="3610947" y="4714390"/>
            <a:ext cx="185112" cy="6507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2705085" y="1863041"/>
            <a:ext cx="6522972" cy="47853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3" name="TextBox 142"/>
          <p:cNvSpPr txBox="1"/>
          <p:nvPr/>
        </p:nvSpPr>
        <p:spPr>
          <a:xfrm>
            <a:off x="4595479" y="1930937"/>
            <a:ext cx="2452916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B. </a:t>
            </a:r>
            <a:r>
              <a:rPr lang="ko-KR" altLang="en-US" sz="1400" b="1"/>
              <a:t>실시간 주문 수집 및 입력</a:t>
            </a:r>
          </a:p>
          <a:p>
            <a:pPr lvl="0" algn="ctr">
              <a:defRPr/>
            </a:pP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</a:p>
          <a:p>
            <a:pPr algn="ctr">
              <a:defRPr/>
            </a:pPr>
            <a:r>
              <a:rPr lang="en-US" altLang="ko-KR" sz="1400" b="1"/>
              <a:t>ggotAIorder</a:t>
            </a:r>
            <a:endParaRPr lang="ko-KR" altLang="en-US" sz="1400" b="1"/>
          </a:p>
        </p:txBody>
      </p:sp>
      <p:sp>
        <p:nvSpPr>
          <p:cNvPr id="148" name="직사각형 147"/>
          <p:cNvSpPr/>
          <p:nvPr/>
        </p:nvSpPr>
        <p:spPr>
          <a:xfrm>
            <a:off x="96117" y="1863040"/>
            <a:ext cx="2499886" cy="4785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476271" y="1930937"/>
            <a:ext cx="173957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A.</a:t>
            </a:r>
            <a:r>
              <a:rPr lang="ko-KR" altLang="en-US" sz="1400" b="1"/>
              <a:t>핸드폰 통화 관리</a:t>
            </a:r>
          </a:p>
          <a:p>
            <a:pPr lvl="0" algn="ctr">
              <a:defRPr/>
            </a:pPr>
            <a:r>
              <a:rPr lang="en-US" altLang="ko-KR" sz="1400" b="1"/>
              <a:t>ggotAIhp</a:t>
            </a:r>
            <a:endParaRPr lang="ko-KR" altLang="en-US" sz="1400" b="1"/>
          </a:p>
        </p:txBody>
      </p:sp>
      <p:grpSp>
        <p:nvGrpSpPr>
          <p:cNvPr id="44" name="그룹 43"/>
          <p:cNvGrpSpPr/>
          <p:nvPr/>
        </p:nvGrpSpPr>
        <p:grpSpPr>
          <a:xfrm>
            <a:off x="1338742" y="761333"/>
            <a:ext cx="9374981" cy="1067950"/>
            <a:chOff x="1338742" y="761333"/>
            <a:chExt cx="9374981" cy="1067950"/>
          </a:xfrm>
        </p:grpSpPr>
        <p:sp>
          <p:nvSpPr>
            <p:cNvPr id="10" name="TextBox 9"/>
            <p:cNvSpPr txBox="1"/>
            <p:nvPr/>
          </p:nvSpPr>
          <p:spPr>
            <a:xfrm>
              <a:off x="5581484" y="761333"/>
              <a:ext cx="2276998" cy="52730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ctr">
                <a:defRPr/>
              </a:pPr>
              <a:r>
                <a:rPr lang="en-US" altLang="ko-KR" sz="2400" b="1"/>
                <a:t>ggotAI</a:t>
              </a:r>
              <a:endParaRPr lang="ko-KR" altLang="en-US" sz="2400" b="1"/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7858483" y="1024985"/>
              <a:ext cx="2855240" cy="800858"/>
              <a:chOff x="7858483" y="1024985"/>
              <a:chExt cx="2855240" cy="800858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 flipH="1">
                <a:off x="7858483" y="1024985"/>
                <a:ext cx="2855240" cy="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/>
              <p:cNvCxnSpPr/>
              <p:nvPr/>
            </p:nvCxnSpPr>
            <p:spPr>
              <a:xfrm>
                <a:off x="10713723" y="1024985"/>
                <a:ext cx="0" cy="8008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1338742" y="1024985"/>
              <a:ext cx="4242743" cy="804298"/>
              <a:chOff x="1338742" y="1024985"/>
              <a:chExt cx="4242743" cy="804298"/>
            </a:xfrm>
          </p:grpSpPr>
          <p:cxnSp>
            <p:nvCxnSpPr>
              <p:cNvPr id="23" name="직선 연결선 22"/>
              <p:cNvCxnSpPr/>
              <p:nvPr/>
            </p:nvCxnSpPr>
            <p:spPr>
              <a:xfrm flipH="1" flipV="1">
                <a:off x="1338742" y="1024987"/>
                <a:ext cx="424274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/>
              <p:cNvCxnSpPr/>
              <p:nvPr/>
            </p:nvCxnSpPr>
            <p:spPr>
              <a:xfrm>
                <a:off x="5231471" y="1028425"/>
                <a:ext cx="0" cy="8008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화살표 연결선 150"/>
              <p:cNvCxnSpPr/>
              <p:nvPr/>
            </p:nvCxnSpPr>
            <p:spPr>
              <a:xfrm>
                <a:off x="1338743" y="1024985"/>
                <a:ext cx="0" cy="8008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/>
          <p:cNvSpPr txBox="1"/>
          <p:nvPr/>
        </p:nvSpPr>
        <p:spPr>
          <a:xfrm>
            <a:off x="481016" y="2853268"/>
            <a:ext cx="1730025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안드로이드 앱</a:t>
            </a:r>
          </a:p>
          <a:p>
            <a:pPr algn="ctr">
              <a:defRPr/>
            </a:pPr>
            <a:r>
              <a:rPr lang="en-US" altLang="ko-KR"/>
              <a:t>(ggotAIhp)</a:t>
            </a:r>
          </a:p>
          <a:p>
            <a:pPr algn="ctr">
              <a:defRPr/>
            </a:pPr>
            <a:r>
              <a:rPr lang="ko-KR" altLang="en-US" sz="1000"/>
              <a:t>핸드폰</a:t>
            </a:r>
            <a:r>
              <a:rPr lang="en-US" altLang="ko-KR" sz="1000"/>
              <a:t> </a:t>
            </a:r>
            <a:r>
              <a:rPr lang="ko-KR" altLang="en-US" sz="1000"/>
              <a:t>통화내역 서버 전송</a:t>
            </a:r>
            <a:endParaRPr lang="en-US" altLang="ko-KR" sz="1000"/>
          </a:p>
        </p:txBody>
      </p:sp>
      <p:sp>
        <p:nvSpPr>
          <p:cNvPr id="77" name="TextBox 76"/>
          <p:cNvSpPr txBox="1"/>
          <p:nvPr/>
        </p:nvSpPr>
        <p:spPr>
          <a:xfrm rot="741081">
            <a:off x="3709439" y="2654037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0" name="TextBox 79"/>
          <p:cNvSpPr txBox="1"/>
          <p:nvPr/>
        </p:nvSpPr>
        <p:spPr>
          <a:xfrm rot="388627">
            <a:off x="3756092" y="3195211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1" name="TextBox 80"/>
          <p:cNvSpPr txBox="1"/>
          <p:nvPr/>
        </p:nvSpPr>
        <p:spPr>
          <a:xfrm rot="2933355">
            <a:off x="3857909" y="4858825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4641743" y="5593086"/>
            <a:ext cx="646641" cy="554108"/>
            <a:chOff x="4679065" y="5742375"/>
            <a:chExt cx="646641" cy="554108"/>
          </a:xfrm>
        </p:grpSpPr>
        <p:sp>
          <p:nvSpPr>
            <p:cNvPr id="83" name="순서도: 자기 디스크 82"/>
            <p:cNvSpPr/>
            <p:nvPr/>
          </p:nvSpPr>
          <p:spPr>
            <a:xfrm>
              <a:off x="4679065" y="5742375"/>
              <a:ext cx="646641" cy="54783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766725" y="6050262"/>
              <a:ext cx="441146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서버</a:t>
              </a:r>
              <a:endParaRPr lang="en-US" altLang="ko-KR" sz="1000"/>
            </a:p>
          </p:txBody>
        </p:sp>
      </p:grpSp>
      <p:cxnSp>
        <p:nvCxnSpPr>
          <p:cNvPr id="26" name="직선 화살표 연결선 25"/>
          <p:cNvCxnSpPr>
            <a:stCxn id="83" idx="1"/>
          </p:cNvCxnSpPr>
          <p:nvPr/>
        </p:nvCxnSpPr>
        <p:spPr>
          <a:xfrm flipV="1">
            <a:off x="4965064" y="4609322"/>
            <a:ext cx="437360" cy="983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753648" y="4886816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33" name="자유형 32"/>
          <p:cNvSpPr/>
          <p:nvPr/>
        </p:nvSpPr>
        <p:spPr>
          <a:xfrm>
            <a:off x="2090057" y="3125755"/>
            <a:ext cx="1660849" cy="1315617"/>
          </a:xfrm>
          <a:custGeom>
            <a:avLst/>
            <a:gdLst>
              <a:gd name="connsiteX0" fmla="*/ 0 w 1593270"/>
              <a:gd name="connsiteY0" fmla="*/ 0 h 1180207"/>
              <a:gd name="connsiteX1" fmla="*/ 251927 w 1593270"/>
              <a:gd name="connsiteY1" fmla="*/ 765110 h 1180207"/>
              <a:gd name="connsiteX2" fmla="*/ 690466 w 1593270"/>
              <a:gd name="connsiteY2" fmla="*/ 951722 h 1180207"/>
              <a:gd name="connsiteX3" fmla="*/ 1296955 w 1593270"/>
              <a:gd name="connsiteY3" fmla="*/ 998375 h 1180207"/>
              <a:gd name="connsiteX4" fmla="*/ 1586204 w 1593270"/>
              <a:gd name="connsiteY4" fmla="*/ 1175657 h 1180207"/>
              <a:gd name="connsiteX5" fmla="*/ 1576874 w 1593270"/>
              <a:gd name="connsiteY5" fmla="*/ 1138335 h 1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3270" h="1180207">
                <a:moveTo>
                  <a:pt x="0" y="0"/>
                </a:moveTo>
                <a:cubicBezTo>
                  <a:pt x="68424" y="303245"/>
                  <a:pt x="136849" y="606490"/>
                  <a:pt x="251927" y="765110"/>
                </a:cubicBezTo>
                <a:cubicBezTo>
                  <a:pt x="367005" y="923730"/>
                  <a:pt x="516295" y="912845"/>
                  <a:pt x="690466" y="951722"/>
                </a:cubicBezTo>
                <a:cubicBezTo>
                  <a:pt x="864637" y="990599"/>
                  <a:pt x="1147665" y="961053"/>
                  <a:pt x="1296955" y="998375"/>
                </a:cubicBezTo>
                <a:cubicBezTo>
                  <a:pt x="1446245" y="1035697"/>
                  <a:pt x="1586204" y="1175657"/>
                  <a:pt x="1586204" y="1175657"/>
                </a:cubicBezTo>
                <a:cubicBezTo>
                  <a:pt x="1632857" y="1198984"/>
                  <a:pt x="1427584" y="1124339"/>
                  <a:pt x="1576874" y="1138335"/>
                </a:cubicBezTo>
              </a:path>
            </a:pathLst>
          </a:custGeom>
          <a:noFill/>
          <a:ln>
            <a:solidFill>
              <a:srgbClr val="FF000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74" name="그룹 73"/>
          <p:cNvGrpSpPr/>
          <p:nvPr/>
        </p:nvGrpSpPr>
        <p:grpSpPr>
          <a:xfrm>
            <a:off x="9335664" y="1879975"/>
            <a:ext cx="2743142" cy="2522692"/>
            <a:chOff x="7750695" y="1863042"/>
            <a:chExt cx="2743142" cy="2522692"/>
          </a:xfrm>
        </p:grpSpPr>
        <p:sp>
          <p:nvSpPr>
            <p:cNvPr id="75" name="직사각형 74"/>
            <p:cNvSpPr/>
            <p:nvPr/>
          </p:nvSpPr>
          <p:spPr>
            <a:xfrm>
              <a:off x="7750695" y="1863042"/>
              <a:ext cx="2743142" cy="2522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465058" y="2785062"/>
              <a:ext cx="1370888" cy="9233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①회원가입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②주문 내역 조회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③환경설정</a:t>
              </a:r>
              <a:endParaRPr lang="en-US" altLang="ko-KR" sz="12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37705" y="1930937"/>
              <a:ext cx="2586446" cy="64843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400" b="1"/>
                <a:t>C.</a:t>
              </a:r>
              <a:r>
                <a:rPr lang="ko-KR" altLang="en-US" sz="1400" b="1"/>
                <a:t> 관리용 </a:t>
              </a:r>
              <a:r>
                <a:rPr lang="en-US" altLang="ko-KR" sz="1400" b="1"/>
                <a:t>UI </a:t>
              </a:r>
              <a:r>
                <a:rPr lang="ko-KR" altLang="en-US" sz="1400" b="1"/>
                <a:t>애플리케이션</a:t>
              </a:r>
            </a:p>
            <a:p>
              <a:pPr lvl="0" algn="ctr">
                <a:defRPr/>
              </a:pPr>
              <a:r>
                <a:rPr lang="en-US" altLang="ko-KR" sz="900"/>
                <a:t>(PC </a:t>
              </a:r>
              <a:r>
                <a:rPr lang="ko-KR" altLang="en-US" sz="900"/>
                <a:t>포그라운드 액티비티</a:t>
              </a:r>
              <a:r>
                <a:rPr lang="en-US" altLang="ko-KR" sz="900"/>
                <a:t>)</a:t>
              </a:r>
            </a:p>
            <a:p>
              <a:pPr lvl="0" algn="ctr">
                <a:defRPr/>
              </a:pPr>
              <a:r>
                <a:rPr lang="en-US" altLang="ko-KR" sz="1400" b="1"/>
                <a:t>ggotAIya</a:t>
              </a: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9342543" y="5719251"/>
            <a:ext cx="271060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RPA</a:t>
            </a:r>
            <a:r>
              <a:rPr lang="en-US" altLang="ko-KR" sz="1050" dirty="0"/>
              <a:t>(Robotic Process Automation)</a:t>
            </a:r>
          </a:p>
          <a:p>
            <a:pPr>
              <a:defRPr/>
            </a:pPr>
            <a:r>
              <a:rPr lang="en-US" altLang="ko-KR" sz="900" b="1" dirty="0"/>
              <a:t>RPA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사람이 컴퓨터로 처리하는 반복적이고 규칙적인 업무</a:t>
            </a:r>
            <a:r>
              <a:rPr lang="ko-KR" altLang="en-US" sz="900" dirty="0"/>
              <a:t>를 </a:t>
            </a:r>
            <a:r>
              <a:rPr lang="ko-KR" altLang="en-US" sz="900" u="sng" dirty="0" smtClean="0"/>
              <a:t>소프트웨어 </a:t>
            </a:r>
            <a:r>
              <a:rPr lang="ko-KR" altLang="en-US" sz="900" u="sng" dirty="0"/>
              <a:t>로봇이 대신 수행하는 기술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입니다</a:t>
            </a:r>
            <a:r>
              <a:rPr lang="en-US" altLang="ko-KR" sz="900" u="sng" dirty="0"/>
              <a:t>.</a:t>
            </a:r>
            <a:endParaRPr lang="ko-KR" altLang="en-US" sz="900" dirty="0"/>
          </a:p>
        </p:txBody>
      </p:sp>
      <p:sp>
        <p:nvSpPr>
          <p:cNvPr id="88" name="TextBox 87"/>
          <p:cNvSpPr txBox="1"/>
          <p:nvPr/>
        </p:nvSpPr>
        <p:spPr>
          <a:xfrm>
            <a:off x="9342543" y="4541808"/>
            <a:ext cx="2710603" cy="530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Whisper</a:t>
            </a:r>
          </a:p>
          <a:p>
            <a:pPr>
              <a:defRPr/>
            </a:pPr>
            <a:r>
              <a:rPr lang="en-US" altLang="ko-KR" sz="900" b="1" dirty="0"/>
              <a:t>Whisper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음성을 텍스트 변환</a:t>
            </a:r>
            <a:r>
              <a:rPr lang="en-US" altLang="ko-KR" sz="900" u="sng" dirty="0"/>
              <a:t>(STT)</a:t>
            </a:r>
            <a:r>
              <a:rPr lang="ko-KR" altLang="en-US" sz="900" u="sng" dirty="0"/>
              <a:t>하는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서비스 입니다</a:t>
            </a:r>
            <a:r>
              <a:rPr lang="en-US" altLang="ko-KR" sz="900" u="sng" dirty="0"/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42543" y="6434931"/>
            <a:ext cx="2728019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800"/>
              <a:t>인터라넷 사용 고객은 </a:t>
            </a:r>
            <a:r>
              <a:rPr lang="en-US" altLang="ko-KR" sz="800"/>
              <a:t>‘</a:t>
            </a:r>
            <a:r>
              <a:rPr lang="ko-KR" altLang="en-US" sz="800"/>
              <a:t>타지역 꽃집</a:t>
            </a:r>
            <a:r>
              <a:rPr lang="en-US" altLang="ko-KR" sz="800"/>
              <a:t>’ </a:t>
            </a:r>
            <a:r>
              <a:rPr lang="ko-KR" altLang="en-US" sz="800"/>
              <a:t>입니다</a:t>
            </a:r>
            <a:r>
              <a:rPr lang="en-US" altLang="ko-KR" sz="800"/>
              <a:t>.</a:t>
            </a:r>
            <a:endParaRPr lang="ko-KR" altLang="en-US" sz="400"/>
          </a:p>
        </p:txBody>
      </p:sp>
      <p:sp>
        <p:nvSpPr>
          <p:cNvPr id="82" name="TextBox 81"/>
          <p:cNvSpPr txBox="1"/>
          <p:nvPr/>
        </p:nvSpPr>
        <p:spPr>
          <a:xfrm>
            <a:off x="9342543" y="5118988"/>
            <a:ext cx="270552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 dirty="0" smtClean="0"/>
              <a:t>Gemini</a:t>
            </a:r>
            <a:endParaRPr lang="en-US" altLang="ko-KR" sz="800" dirty="0"/>
          </a:p>
          <a:p>
            <a:pPr>
              <a:defRPr/>
            </a:pPr>
            <a:r>
              <a:rPr lang="en-US" altLang="ko-KR" sz="900" dirty="0" smtClean="0">
                <a:latin typeface="맑은 고딕"/>
              </a:rPr>
              <a:t>Gemini</a:t>
            </a:r>
            <a:r>
              <a:rPr lang="ko-KR" altLang="en-US" sz="900" dirty="0" smtClean="0">
                <a:latin typeface="맑은 고딕"/>
              </a:rPr>
              <a:t>는 </a:t>
            </a:r>
            <a:r>
              <a:rPr lang="ko-KR" altLang="en-US" sz="900" dirty="0">
                <a:latin typeface="맑은 고딕"/>
              </a:rPr>
              <a:t>꽃가게 비정형 </a:t>
            </a:r>
            <a:r>
              <a:rPr lang="ko-KR" altLang="en-US" sz="900" dirty="0" err="1">
                <a:latin typeface="맑은 고딕"/>
              </a:rPr>
              <a:t>음성주문</a:t>
            </a:r>
            <a:r>
              <a:rPr lang="ko-KR" altLang="en-US" sz="900" dirty="0">
                <a:latin typeface="맑은 고딕"/>
              </a:rPr>
              <a:t> 데이터를 </a:t>
            </a:r>
          </a:p>
          <a:p>
            <a:pPr>
              <a:defRPr/>
            </a:pPr>
            <a:r>
              <a:rPr lang="ko-KR" altLang="en-US" sz="900" dirty="0">
                <a:latin typeface="맑은 고딕"/>
              </a:rPr>
              <a:t>표준화된 데이터로 </a:t>
            </a:r>
            <a:r>
              <a:rPr lang="ko-KR" altLang="en-US" sz="900" dirty="0" smtClean="0">
                <a:latin typeface="맑은 고딕"/>
              </a:rPr>
              <a:t>변환해줍니다</a:t>
            </a:r>
            <a:r>
              <a:rPr lang="en-US" altLang="ko-KR" sz="900" dirty="0" smtClean="0">
                <a:latin typeface="맑은 고딕"/>
              </a:rPr>
              <a:t>.</a:t>
            </a:r>
            <a:endParaRPr lang="ko-KR" altLang="en-US" sz="900" dirty="0"/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10269" y="5198599"/>
            <a:ext cx="749332" cy="271235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85330" y="6150568"/>
            <a:ext cx="749538" cy="4453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52400" y="133350"/>
            <a:ext cx="36215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2.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시스템 구성도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84150" y="733425"/>
            <a:ext cx="11906250" cy="6124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순서도: 문서 9"/>
          <p:cNvSpPr/>
          <p:nvPr/>
        </p:nvSpPr>
        <p:spPr>
          <a:xfrm>
            <a:off x="4375149" y="17902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웹</a:t>
            </a:r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7" name="순서도: 문서 66"/>
          <p:cNvSpPr/>
          <p:nvPr/>
        </p:nvSpPr>
        <p:spPr>
          <a:xfrm>
            <a:off x="1612900" y="1979517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앱</a:t>
            </a:r>
          </a:p>
        </p:txBody>
      </p:sp>
      <p:sp>
        <p:nvSpPr>
          <p:cNvPr id="12" name="순서도: 자기 디스크 11"/>
          <p:cNvSpPr/>
          <p:nvPr/>
        </p:nvSpPr>
        <p:spPr>
          <a:xfrm>
            <a:off x="1140982" y="3254368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DataBase</a:t>
            </a:r>
          </a:p>
        </p:txBody>
      </p:sp>
      <p:sp>
        <p:nvSpPr>
          <p:cNvPr id="68" name="순서도: 자기 디스크 67"/>
          <p:cNvSpPr/>
          <p:nvPr/>
        </p:nvSpPr>
        <p:spPr>
          <a:xfrm>
            <a:off x="5769554" y="5239126"/>
            <a:ext cx="825979" cy="4843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2" y="806694"/>
            <a:ext cx="150554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/>
              <a:t>A.</a:t>
            </a:r>
            <a:r>
              <a:rPr lang="ko-KR" altLang="en-US" sz="1200"/>
              <a:t>핸드폰 통화 관리</a:t>
            </a:r>
          </a:p>
          <a:p>
            <a:pPr algn="ctr">
              <a:defRPr/>
            </a:pPr>
            <a:r>
              <a:rPr lang="en-US" altLang="ko-KR" sz="1200" b="1"/>
              <a:t>ggotAIhp</a:t>
            </a:r>
            <a:endParaRPr lang="ko-KR" altLang="en-US" sz="1200" b="1"/>
          </a:p>
        </p:txBody>
      </p:sp>
      <p:sp>
        <p:nvSpPr>
          <p:cNvPr id="69" name="TextBox 68"/>
          <p:cNvSpPr txBox="1"/>
          <p:nvPr/>
        </p:nvSpPr>
        <p:spPr>
          <a:xfrm>
            <a:off x="3866091" y="806694"/>
            <a:ext cx="368402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/>
              <a:t>B.</a:t>
            </a:r>
            <a:r>
              <a:rPr lang="ko-KR" altLang="en-US" sz="1200"/>
              <a:t>실시간 주문 수집 및 입력</a:t>
            </a:r>
            <a:r>
              <a:rPr lang="en-US" altLang="ko-KR" sz="1200"/>
              <a:t>(PC </a:t>
            </a:r>
            <a:r>
              <a:rPr lang="ko-KR" altLang="en-US" sz="1200"/>
              <a:t>백그라운드 서비스</a:t>
            </a:r>
            <a:r>
              <a:rPr lang="en-US" altLang="ko-KR" sz="1200"/>
              <a:t>)</a:t>
            </a:r>
          </a:p>
          <a:p>
            <a:pPr lvl="0" algn="ctr">
              <a:defRPr/>
            </a:pPr>
            <a:r>
              <a:rPr lang="en-US" altLang="ko-KR" sz="1200" b="1"/>
              <a:t>ggotAIorder</a:t>
            </a:r>
            <a:endParaRPr lang="ko-KR" altLang="en-US" sz="1200"/>
          </a:p>
        </p:txBody>
      </p:sp>
      <p:sp>
        <p:nvSpPr>
          <p:cNvPr id="14" name="TextBox 13"/>
          <p:cNvSpPr txBox="1"/>
          <p:nvPr/>
        </p:nvSpPr>
        <p:spPr>
          <a:xfrm>
            <a:off x="4927170" y="5542781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/>
              <a:t>서버</a:t>
            </a:r>
            <a:endParaRPr lang="en-US" altLang="ko-KR" sz="1200"/>
          </a:p>
        </p:txBody>
      </p:sp>
      <p:sp>
        <p:nvSpPr>
          <p:cNvPr id="79" name="순서도: 자기 디스크 78"/>
          <p:cNvSpPr/>
          <p:nvPr/>
        </p:nvSpPr>
        <p:spPr>
          <a:xfrm>
            <a:off x="7276308" y="3886472"/>
            <a:ext cx="838200" cy="61912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순서도: 문서 83"/>
          <p:cNvSpPr/>
          <p:nvPr/>
        </p:nvSpPr>
        <p:spPr>
          <a:xfrm>
            <a:off x="7242175" y="1579466"/>
            <a:ext cx="866775" cy="51120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rgbClr val="FF0000"/>
                </a:solidFill>
              </a:rPr>
              <a:t>Whisper</a:t>
            </a:r>
          </a:p>
        </p:txBody>
      </p:sp>
      <p:sp>
        <p:nvSpPr>
          <p:cNvPr id="93" name="순서도: 문서 92"/>
          <p:cNvSpPr/>
          <p:nvPr/>
        </p:nvSpPr>
        <p:spPr>
          <a:xfrm>
            <a:off x="7242175" y="2217642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Gemini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52017" y="4545975"/>
            <a:ext cx="8867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200"/>
              <a:t>PC </a:t>
            </a:r>
            <a:r>
              <a:rPr lang="ko-KR" altLang="en-US" sz="1200"/>
              <a:t>디스크</a:t>
            </a:r>
            <a:endParaRPr lang="en-US" altLang="ko-KR" sz="1200"/>
          </a:p>
        </p:txBody>
      </p:sp>
      <p:sp>
        <p:nvSpPr>
          <p:cNvPr id="104" name="순서도: 문서 103"/>
          <p:cNvSpPr/>
          <p:nvPr/>
        </p:nvSpPr>
        <p:spPr>
          <a:xfrm>
            <a:off x="5867927" y="3243446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RPA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9627" y="2004043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스마트폰</a:t>
            </a:r>
          </a:p>
          <a:p>
            <a:pPr algn="ctr">
              <a:defRPr/>
            </a:pPr>
            <a:r>
              <a:rPr lang="ko-KR" altLang="en-US" sz="1000"/>
              <a:t>전화주문</a:t>
            </a:r>
          </a:p>
        </p:txBody>
      </p:sp>
      <p:cxnSp>
        <p:nvCxnSpPr>
          <p:cNvPr id="4" name="직선 화살표 연결선 3"/>
          <p:cNvCxnSpPr>
            <a:stCxn id="2" idx="3"/>
          </p:cNvCxnSpPr>
          <p:nvPr/>
        </p:nvCxnSpPr>
        <p:spPr>
          <a:xfrm>
            <a:off x="1187254" y="2204098"/>
            <a:ext cx="425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9559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01668" y="2084784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쇼핑몰 주문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1668" y="1743312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가게 전화주문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1668" y="2422035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인터라넷 주문</a:t>
            </a:r>
          </a:p>
        </p:txBody>
      </p:sp>
      <p:cxnSp>
        <p:nvCxnSpPr>
          <p:cNvPr id="29" name="직선 화살표 연결선 28"/>
          <p:cNvCxnSpPr>
            <a:stCxn id="57" idx="3"/>
          </p:cNvCxnSpPr>
          <p:nvPr/>
        </p:nvCxnSpPr>
        <p:spPr>
          <a:xfrm>
            <a:off x="4001668" y="1866423"/>
            <a:ext cx="383007" cy="24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56" idx="3"/>
          </p:cNvCxnSpPr>
          <p:nvPr/>
        </p:nvCxnSpPr>
        <p:spPr>
          <a:xfrm>
            <a:off x="4001668" y="2207895"/>
            <a:ext cx="373481" cy="2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58" idx="3"/>
          </p:cNvCxnSpPr>
          <p:nvPr/>
        </p:nvCxnSpPr>
        <p:spPr>
          <a:xfrm flipV="1">
            <a:off x="4001668" y="2371004"/>
            <a:ext cx="383007" cy="174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5280024" y="1799034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>
            <a:off x="5280024" y="2037629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5280024" y="2400048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H="1">
            <a:off x="5280024" y="2676743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rot="5400000">
            <a:off x="1308076" y="2728740"/>
            <a:ext cx="781355" cy="231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rot="5400000">
            <a:off x="1453990" y="2753095"/>
            <a:ext cx="771410" cy="17245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 rot="19101958">
            <a:off x="440834" y="2556536"/>
            <a:ext cx="11154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</a:p>
        </p:txBody>
      </p:sp>
      <p:cxnSp>
        <p:nvCxnSpPr>
          <p:cNvPr id="64" name="직선 화살표 연결선 63"/>
          <p:cNvCxnSpPr>
            <a:stCxn id="67" idx="2"/>
          </p:cNvCxnSpPr>
          <p:nvPr/>
        </p:nvCxnSpPr>
        <p:spPr>
          <a:xfrm rot="16200000" flipH="1">
            <a:off x="1683229" y="2821418"/>
            <a:ext cx="2683216" cy="195709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17279432">
            <a:off x="1246532" y="2770372"/>
            <a:ext cx="678872" cy="22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endParaRPr lang="en-US" altLang="ko-KR" sz="80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5089259" y="2712857"/>
            <a:ext cx="718874" cy="424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endCxn id="79" idx="2"/>
          </p:cNvCxnSpPr>
          <p:nvPr/>
        </p:nvCxnSpPr>
        <p:spPr>
          <a:xfrm>
            <a:off x="6385984" y="3688422"/>
            <a:ext cx="890324" cy="507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221229" y="2946709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실행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708" y="1577604"/>
            <a:ext cx="107273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48000" y="183850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48000" y="2188265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83236" y="2453889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057911" y="1619057"/>
            <a:ext cx="1031491" cy="1164166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3411200" y="1396134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5753485" y="1477769"/>
            <a:ext cx="2429115" cy="640291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5753485" y="2195319"/>
            <a:ext cx="2429115" cy="56885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6586200" y="1253259"/>
            <a:ext cx="337840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025" y="2731221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757187" y="3145366"/>
            <a:ext cx="1079741" cy="668867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115771" y="2930505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  <a:ea typeface="맑은 고딕"/>
              </a:rPr>
              <a:t>⑤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3374930" y="5029201"/>
            <a:ext cx="3502120" cy="75247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300197" y="4954429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84423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539691" y="814388"/>
            <a:ext cx="3389842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/>
              <a:t>C.</a:t>
            </a:r>
            <a:r>
              <a:rPr lang="ko-KR" altLang="en-US" sz="1100"/>
              <a:t>관리용 </a:t>
            </a:r>
            <a:r>
              <a:rPr lang="en-US" altLang="ko-KR" sz="1100"/>
              <a:t>UI </a:t>
            </a:r>
            <a:r>
              <a:rPr lang="ko-KR" altLang="en-US" sz="1100"/>
              <a:t>애플리케이션</a:t>
            </a:r>
            <a:r>
              <a:rPr lang="en-US" altLang="ko-KR" sz="1100"/>
              <a:t>(PC </a:t>
            </a:r>
            <a:r>
              <a:rPr lang="ko-KR" altLang="en-US" sz="1100"/>
              <a:t>포그라운드 액티비티</a:t>
            </a:r>
            <a:r>
              <a:rPr lang="en-US" altLang="ko-KR" sz="1100"/>
              <a:t>)</a:t>
            </a:r>
          </a:p>
          <a:p>
            <a:pPr lvl="0" algn="ctr">
              <a:defRPr/>
            </a:pPr>
            <a:r>
              <a:rPr lang="en-US" altLang="ko-KR" sz="1100" b="1"/>
              <a:t>ggotAIya</a:t>
            </a:r>
          </a:p>
        </p:txBody>
      </p:sp>
      <p:sp>
        <p:nvSpPr>
          <p:cNvPr id="87" name="순서도: 문서 86"/>
          <p:cNvSpPr/>
          <p:nvPr/>
        </p:nvSpPr>
        <p:spPr>
          <a:xfrm>
            <a:off x="9988549" y="16378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웹</a:t>
            </a:r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 rot="17763278">
            <a:off x="8666178" y="3790605"/>
            <a:ext cx="6735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주문내역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3.</a:t>
            </a:r>
            <a:r>
              <a:rPr lang="ko-KR" altLang="en-US" sz="800"/>
              <a:t>환경정보</a:t>
            </a:r>
          </a:p>
        </p:txBody>
      </p:sp>
      <p:sp>
        <p:nvSpPr>
          <p:cNvPr id="88" name="TextBox 87"/>
          <p:cNvSpPr txBox="1"/>
          <p:nvPr/>
        </p:nvSpPr>
        <p:spPr>
          <a:xfrm rot="18252696">
            <a:off x="6440351" y="3882952"/>
            <a:ext cx="118173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800"/>
              <a:t>정형화된 주문 텍스트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8959" y="1537512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가게</a:t>
            </a:r>
          </a:p>
          <a:p>
            <a:pPr algn="ctr">
              <a:defRPr/>
            </a:pPr>
            <a:r>
              <a:rPr lang="ko-KR" altLang="en-US" sz="1000"/>
              <a:t>음성주문</a:t>
            </a:r>
          </a:p>
        </p:txBody>
      </p:sp>
      <p:cxnSp>
        <p:nvCxnSpPr>
          <p:cNvPr id="94" name="직선 화살표 연결선 93"/>
          <p:cNvCxnSpPr/>
          <p:nvPr/>
        </p:nvCxnSpPr>
        <p:spPr>
          <a:xfrm>
            <a:off x="1205915" y="1737568"/>
            <a:ext cx="389620" cy="296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 rot="13920425">
            <a:off x="1805381" y="3162415"/>
            <a:ext cx="1338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 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  <a:endParaRPr lang="en-US" altLang="ko-KR" sz="800"/>
          </a:p>
        </p:txBody>
      </p:sp>
      <p:sp>
        <p:nvSpPr>
          <p:cNvPr id="125" name="순서도: 자기 디스크 11"/>
          <p:cNvSpPr/>
          <p:nvPr/>
        </p:nvSpPr>
        <p:spPr>
          <a:xfrm>
            <a:off x="318368" y="3257830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Storage</a:t>
            </a:r>
          </a:p>
        </p:txBody>
      </p:sp>
      <p:cxnSp>
        <p:nvCxnSpPr>
          <p:cNvPr id="126" name="직선 화살표 연결선 61"/>
          <p:cNvCxnSpPr/>
          <p:nvPr/>
        </p:nvCxnSpPr>
        <p:spPr>
          <a:xfrm rot="10800000" flipV="1">
            <a:off x="673649" y="2380865"/>
            <a:ext cx="914716" cy="819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61"/>
          <p:cNvCxnSpPr/>
          <p:nvPr/>
        </p:nvCxnSpPr>
        <p:spPr>
          <a:xfrm rot="10800000" flipV="1">
            <a:off x="808153" y="2505459"/>
            <a:ext cx="808980" cy="73380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순서도: 자기 디스크 67"/>
          <p:cNvSpPr/>
          <p:nvPr/>
        </p:nvSpPr>
        <p:spPr>
          <a:xfrm>
            <a:off x="3597853" y="5137526"/>
            <a:ext cx="1239307" cy="4589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Storage</a:t>
            </a:r>
          </a:p>
        </p:txBody>
      </p:sp>
      <p:cxnSp>
        <p:nvCxnSpPr>
          <p:cNvPr id="133" name="직선 화살표 연결선 63"/>
          <p:cNvCxnSpPr>
            <a:endCxn id="68" idx="2"/>
          </p:cNvCxnSpPr>
          <p:nvPr/>
        </p:nvCxnSpPr>
        <p:spPr>
          <a:xfrm>
            <a:off x="2400300" y="2428875"/>
            <a:ext cx="3369254" cy="30524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95"/>
          <p:cNvSpPr txBox="1"/>
          <p:nvPr/>
        </p:nvSpPr>
        <p:spPr>
          <a:xfrm rot="13365525">
            <a:off x="2360422" y="3388738"/>
            <a:ext cx="20710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)</a:t>
            </a:r>
          </a:p>
        </p:txBody>
      </p:sp>
      <p:cxnSp>
        <p:nvCxnSpPr>
          <p:cNvPr id="136" name="직선 화살표 연결선 135"/>
          <p:cNvCxnSpPr>
            <a:stCxn id="10" idx="2"/>
          </p:cNvCxnSpPr>
          <p:nvPr/>
        </p:nvCxnSpPr>
        <p:spPr>
          <a:xfrm>
            <a:off x="4808537" y="2827319"/>
            <a:ext cx="1177396" cy="2422014"/>
          </a:xfrm>
          <a:prstGeom prst="straightConnector1">
            <a:avLst/>
          </a:prstGeom>
          <a:ln>
            <a:solidFill>
              <a:srgbClr val="000000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/>
        </p:nvCxnSpPr>
        <p:spPr>
          <a:xfrm flipH="1">
            <a:off x="4111817" y="2877611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95"/>
          <p:cNvSpPr txBox="1"/>
          <p:nvPr/>
        </p:nvSpPr>
        <p:spPr>
          <a:xfrm rot="16692916">
            <a:off x="3658074" y="3353149"/>
            <a:ext cx="1175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>
                <a:solidFill>
                  <a:srgbClr val="0000FF"/>
                </a:solidFill>
              </a:rPr>
              <a:t>가게 전화 통화내용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86" name="TextBox 95"/>
          <p:cNvSpPr txBox="1"/>
          <p:nvPr/>
        </p:nvSpPr>
        <p:spPr>
          <a:xfrm rot="14706016">
            <a:off x="4210654" y="3923349"/>
            <a:ext cx="2164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가게통화</a:t>
            </a:r>
            <a:r>
              <a:rPr lang="en-US" altLang="ko-KR" sz="800"/>
              <a:t>,</a:t>
            </a:r>
            <a:r>
              <a:rPr lang="ko-KR" altLang="en-US" sz="800"/>
              <a:t>쇼핑몰</a:t>
            </a:r>
            <a:r>
              <a:rPr lang="en-US" altLang="ko-KR" sz="800"/>
              <a:t>,</a:t>
            </a:r>
            <a:r>
              <a:rPr lang="ko-KR" altLang="en-US" sz="800"/>
              <a:t>인터라넷</a:t>
            </a:r>
            <a:r>
              <a:rPr lang="en-US" altLang="ko-KR" sz="800"/>
              <a:t>)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주문내역</a:t>
            </a:r>
          </a:p>
        </p:txBody>
      </p:sp>
      <p:sp>
        <p:nvSpPr>
          <p:cNvPr id="20" name="자유형 19"/>
          <p:cNvSpPr/>
          <p:nvPr/>
        </p:nvSpPr>
        <p:spPr>
          <a:xfrm>
            <a:off x="6620933" y="2743200"/>
            <a:ext cx="3522134" cy="2810933"/>
          </a:xfrm>
          <a:custGeom>
            <a:avLst/>
            <a:gdLst>
              <a:gd name="connsiteX0" fmla="*/ 0 w 3522134"/>
              <a:gd name="connsiteY0" fmla="*/ 2971800 h 2972956"/>
              <a:gd name="connsiteX1" fmla="*/ 1058334 w 3522134"/>
              <a:gd name="connsiteY1" fmla="*/ 2921000 h 2972956"/>
              <a:gd name="connsiteX2" fmla="*/ 2125134 w 3522134"/>
              <a:gd name="connsiteY2" fmla="*/ 2692400 h 2972956"/>
              <a:gd name="connsiteX3" fmla="*/ 3522134 w 3522134"/>
              <a:gd name="connsiteY3" fmla="*/ 0 h 2972956"/>
              <a:gd name="connsiteX4" fmla="*/ 3522134 w 3522134"/>
              <a:gd name="connsiteY4" fmla="*/ 0 h 2972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134" h="2972956">
                <a:moveTo>
                  <a:pt x="0" y="2971800"/>
                </a:moveTo>
                <a:cubicBezTo>
                  <a:pt x="352072" y="2969683"/>
                  <a:pt x="704145" y="2967567"/>
                  <a:pt x="1058334" y="2921000"/>
                </a:cubicBezTo>
                <a:cubicBezTo>
                  <a:pt x="1412523" y="2874433"/>
                  <a:pt x="1714501" y="3179233"/>
                  <a:pt x="2125134" y="2692400"/>
                </a:cubicBezTo>
                <a:cubicBezTo>
                  <a:pt x="2535767" y="2205567"/>
                  <a:pt x="3522134" y="0"/>
                  <a:pt x="3522134" y="0"/>
                </a:cubicBezTo>
                <a:lnTo>
                  <a:pt x="3522134" y="0"/>
                </a:lnTo>
              </a:path>
            </a:pathLst>
          </a:custGeom>
          <a:noFill/>
          <a:ln w="6350">
            <a:solidFill>
              <a:schemeClr val="tx1"/>
            </a:solidFill>
            <a:headEnd type="triangle" w="med" len="med"/>
            <a:tailEnd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6595533" y="2709333"/>
            <a:ext cx="3420534" cy="2667000"/>
          </a:xfrm>
          <a:custGeom>
            <a:avLst/>
            <a:gdLst>
              <a:gd name="connsiteX0" fmla="*/ 0 w 3420534"/>
              <a:gd name="connsiteY0" fmla="*/ 2810934 h 2810934"/>
              <a:gd name="connsiteX1" fmla="*/ 685800 w 3420534"/>
              <a:gd name="connsiteY1" fmla="*/ 2785534 h 2810934"/>
              <a:gd name="connsiteX2" fmla="*/ 1879600 w 3420534"/>
              <a:gd name="connsiteY2" fmla="*/ 2667000 h 2810934"/>
              <a:gd name="connsiteX3" fmla="*/ 2446867 w 3420534"/>
              <a:gd name="connsiteY3" fmla="*/ 1811867 h 2810934"/>
              <a:gd name="connsiteX4" fmla="*/ 3420534 w 3420534"/>
              <a:gd name="connsiteY4" fmla="*/ 0 h 281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534" h="2810934">
                <a:moveTo>
                  <a:pt x="0" y="2810934"/>
                </a:moveTo>
                <a:cubicBezTo>
                  <a:pt x="186266" y="2810228"/>
                  <a:pt x="372533" y="2809523"/>
                  <a:pt x="685800" y="2785534"/>
                </a:cubicBezTo>
                <a:cubicBezTo>
                  <a:pt x="999067" y="2761545"/>
                  <a:pt x="1586089" y="2829278"/>
                  <a:pt x="1879600" y="2667000"/>
                </a:cubicBezTo>
                <a:cubicBezTo>
                  <a:pt x="2173111" y="2504722"/>
                  <a:pt x="2190045" y="2256367"/>
                  <a:pt x="2446867" y="1811867"/>
                </a:cubicBezTo>
                <a:cubicBezTo>
                  <a:pt x="2703689" y="1367367"/>
                  <a:pt x="3062111" y="683683"/>
                  <a:pt x="3420534" y="0"/>
                </a:cubicBez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 rot="17763278">
            <a:off x="9126555" y="4280785"/>
            <a:ext cx="6735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환경정보</a:t>
            </a:r>
          </a:p>
        </p:txBody>
      </p:sp>
      <p:cxnSp>
        <p:nvCxnSpPr>
          <p:cNvPr id="113" name="직선 화살표 연결선 112"/>
          <p:cNvCxnSpPr>
            <a:endCxn id="68" idx="1"/>
          </p:cNvCxnSpPr>
          <p:nvPr/>
        </p:nvCxnSpPr>
        <p:spPr>
          <a:xfrm>
            <a:off x="4941887" y="2760644"/>
            <a:ext cx="1240657" cy="2478482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 flipH="1">
            <a:off x="4330892" y="2887136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95"/>
          <p:cNvSpPr txBox="1"/>
          <p:nvPr/>
        </p:nvSpPr>
        <p:spPr>
          <a:xfrm rot="16692916">
            <a:off x="3783279" y="3826470"/>
            <a:ext cx="1767439" cy="33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1.</a:t>
            </a:r>
            <a:r>
              <a:rPr lang="ko-KR" altLang="en-US" sz="800">
                <a:solidFill>
                  <a:srgbClr val="0000FF"/>
                </a:solidFill>
              </a:rPr>
              <a:t>핸드폰</a:t>
            </a:r>
            <a:r>
              <a:rPr lang="en-US" altLang="ko-KR" sz="800">
                <a:solidFill>
                  <a:srgbClr val="0000FF"/>
                </a:solidFill>
              </a:rPr>
              <a:t>,</a:t>
            </a:r>
            <a:r>
              <a:rPr lang="ko-KR" altLang="en-US" sz="800">
                <a:solidFill>
                  <a:srgbClr val="0000FF"/>
                </a:solidFill>
              </a:rPr>
              <a:t> 가게전화 통화내용</a:t>
            </a:r>
          </a:p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2..</a:t>
            </a:r>
            <a:r>
              <a:rPr lang="ko-KR" altLang="en-US" sz="800">
                <a:solidFill>
                  <a:srgbClr val="0000FF"/>
                </a:solidFill>
              </a:rPr>
              <a:t>가게 주문 음성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7862356">
            <a:off x="8640233" y="4300007"/>
            <a:ext cx="286007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핸드폰 통화내용</a:t>
            </a:r>
            <a:r>
              <a:rPr lang="en-US" altLang="ko-KR" sz="900"/>
              <a:t>, </a:t>
            </a:r>
            <a:r>
              <a:rPr lang="ko-KR" altLang="en-US" sz="900"/>
              <a:t>가게전화 통화내용</a:t>
            </a:r>
            <a:r>
              <a:rPr lang="en-US" altLang="ko-KR" sz="900"/>
              <a:t>. </a:t>
            </a:r>
            <a:r>
              <a:rPr lang="ko-KR" altLang="en-US" sz="900"/>
              <a:t>가게주문 음성</a:t>
            </a:r>
          </a:p>
        </p:txBody>
      </p:sp>
      <p:sp>
        <p:nvSpPr>
          <p:cNvPr id="117" name="TextBox 95"/>
          <p:cNvSpPr txBox="1"/>
          <p:nvPr/>
        </p:nvSpPr>
        <p:spPr>
          <a:xfrm rot="14581366">
            <a:off x="4658188" y="3865117"/>
            <a:ext cx="2199012" cy="33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</a:t>
            </a:r>
            <a:r>
              <a:rPr lang="en-US" altLang="ko-KR" sz="800"/>
              <a:t>,</a:t>
            </a:r>
            <a:r>
              <a:rPr lang="ko-KR" altLang="en-US" sz="800"/>
              <a:t>가게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,</a:t>
            </a:r>
            <a:r>
              <a:rPr lang="ko-KR" altLang="en-US" sz="800"/>
              <a:t> 쇼핑몰</a:t>
            </a:r>
            <a:r>
              <a:rPr lang="en-US" altLang="ko-KR" sz="800"/>
              <a:t>,</a:t>
            </a:r>
            <a:r>
              <a:rPr lang="ko-KR" altLang="en-US" sz="800"/>
              <a:t> 인터라넷</a:t>
            </a:r>
            <a:r>
              <a:rPr lang="en-US" altLang="ko-KR" sz="800"/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52747" y="504756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19" name="TextBox 58"/>
          <p:cNvSpPr txBox="1"/>
          <p:nvPr/>
        </p:nvSpPr>
        <p:spPr>
          <a:xfrm>
            <a:off x="2858696" y="6239471"/>
            <a:ext cx="6014371" cy="492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900"/>
              <a:t>‘B.</a:t>
            </a:r>
            <a:r>
              <a:rPr lang="ko-KR" altLang="en-US" sz="900"/>
              <a:t>실시간 주문 수집 및 입력</a:t>
            </a:r>
            <a:r>
              <a:rPr lang="en-US" altLang="ko-KR" sz="900"/>
              <a:t>(PC </a:t>
            </a:r>
            <a:r>
              <a:rPr lang="ko-KR" altLang="en-US" sz="900"/>
              <a:t>백그라운드 서비스</a:t>
            </a:r>
            <a:r>
              <a:rPr lang="en-US" altLang="ko-KR" sz="900"/>
              <a:t>)‘ </a:t>
            </a:r>
            <a:r>
              <a:rPr lang="ko-KR" altLang="en-US" sz="900"/>
              <a:t>업무처리순서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전화주문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②</a:t>
            </a:r>
            <a:r>
              <a:rPr lang="en-US" altLang="ko-KR" sz="900"/>
              <a:t>’</a:t>
            </a:r>
            <a:r>
              <a:rPr lang="ko-KR" altLang="en-US" sz="900"/>
              <a:t> 음성</a:t>
            </a:r>
            <a:r>
              <a:rPr lang="en-US" altLang="ko-KR" sz="900"/>
              <a:t>-</a:t>
            </a:r>
            <a:r>
              <a:rPr lang="ko-KR" altLang="en-US" sz="900"/>
              <a:t>텍스트 변환 </a:t>
            </a:r>
            <a:r>
              <a:rPr lang="en-US" altLang="ko-KR" sz="900"/>
              <a:t>-&gt; 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③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/>
              <a:t>Gemini -&gt;‘</a:t>
            </a:r>
            <a:r>
              <a:rPr lang="ko-KR" altLang="en-US" sz="900"/>
              <a:t>④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>
                <a:ea typeface="맑은 고딕"/>
              </a:rPr>
              <a:t>’</a:t>
            </a:r>
            <a:r>
              <a:rPr lang="ko-KR" altLang="en-US" sz="900">
                <a:ea typeface="맑은 고딕"/>
              </a:rPr>
              <a:t>서버</a:t>
            </a:r>
            <a:r>
              <a:rPr lang="en-US" altLang="ko-KR" sz="900">
                <a:ea typeface="맑은 고딕"/>
              </a:rPr>
              <a:t>(DataBase) </a:t>
            </a:r>
            <a:r>
              <a:rPr lang="ko-KR" altLang="en-US" sz="900">
                <a:ea typeface="맑은 고딕"/>
              </a:rPr>
              <a:t>저장</a:t>
            </a:r>
            <a:r>
              <a:rPr lang="en-US" altLang="ko-KR" sz="900">
                <a:ea typeface="맑은 고딕"/>
              </a:rPr>
              <a:t>-&gt;</a:t>
            </a:r>
            <a:r>
              <a:rPr lang="en-US" altLang="ko-KR" sz="900"/>
              <a:t>’</a:t>
            </a:r>
            <a:r>
              <a:rPr lang="en-US" altLang="ko-KR" sz="900">
                <a:ea typeface="맑은 고딕"/>
              </a:rPr>
              <a:t>⑤’</a:t>
            </a:r>
            <a:r>
              <a:rPr lang="ko-KR" altLang="en-US" sz="900">
                <a:ea typeface="맑은 고딕"/>
              </a:rPr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쇼핑몰</a:t>
            </a:r>
            <a:r>
              <a:rPr lang="en-US" altLang="ko-KR" sz="900"/>
              <a:t>, </a:t>
            </a:r>
            <a:r>
              <a:rPr lang="ko-KR" altLang="en-US" sz="900"/>
              <a:t>인터라넷 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</a:t>
            </a:r>
            <a:r>
              <a:rPr lang="en-US" altLang="ko-KR" sz="900"/>
              <a:t> -&gt;  ’</a:t>
            </a:r>
            <a:r>
              <a:rPr lang="ko-KR" altLang="en-US" sz="900"/>
              <a:t> ④</a:t>
            </a:r>
            <a:r>
              <a:rPr lang="en-US" altLang="ko-KR" sz="900"/>
              <a:t>’</a:t>
            </a:r>
            <a:r>
              <a:rPr lang="ko-KR" altLang="en-US" sz="900"/>
              <a:t>서버</a:t>
            </a:r>
            <a:r>
              <a:rPr lang="en-US" altLang="ko-KR" sz="900">
                <a:ea typeface="맑은 고딕"/>
              </a:rPr>
              <a:t> (DataBase) </a:t>
            </a:r>
            <a:r>
              <a:rPr lang="ko-KR" altLang="en-US" sz="900"/>
              <a:t>저장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‘⑤’</a:t>
            </a:r>
            <a:r>
              <a:rPr lang="ko-KR" altLang="en-US" sz="900"/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</p:txBody>
      </p:sp>
      <p:sp>
        <p:nvSpPr>
          <p:cNvPr id="33" name="자유형 32"/>
          <p:cNvSpPr/>
          <p:nvPr/>
        </p:nvSpPr>
        <p:spPr>
          <a:xfrm>
            <a:off x="4436533" y="2616200"/>
            <a:ext cx="6163734" cy="3319018"/>
          </a:xfrm>
          <a:custGeom>
            <a:avLst/>
            <a:gdLst>
              <a:gd name="connsiteX0" fmla="*/ 0 w 6163734"/>
              <a:gd name="connsiteY0" fmla="*/ 2980267 h 3319018"/>
              <a:gd name="connsiteX1" fmla="*/ 143934 w 6163734"/>
              <a:gd name="connsiteY1" fmla="*/ 3115733 h 3319018"/>
              <a:gd name="connsiteX2" fmla="*/ 635000 w 6163734"/>
              <a:gd name="connsiteY2" fmla="*/ 3268133 h 3319018"/>
              <a:gd name="connsiteX3" fmla="*/ 1244600 w 6163734"/>
              <a:gd name="connsiteY3" fmla="*/ 3310467 h 3319018"/>
              <a:gd name="connsiteX4" fmla="*/ 2463800 w 6163734"/>
              <a:gd name="connsiteY4" fmla="*/ 3302000 h 3319018"/>
              <a:gd name="connsiteX5" fmla="*/ 4064000 w 6163734"/>
              <a:gd name="connsiteY5" fmla="*/ 3141133 h 3319018"/>
              <a:gd name="connsiteX6" fmla="*/ 4859867 w 6163734"/>
              <a:gd name="connsiteY6" fmla="*/ 2683933 h 3319018"/>
              <a:gd name="connsiteX7" fmla="*/ 5664200 w 6163734"/>
              <a:gd name="connsiteY7" fmla="*/ 1312333 h 3319018"/>
              <a:gd name="connsiteX8" fmla="*/ 6163734 w 6163734"/>
              <a:gd name="connsiteY8" fmla="*/ 0 h 3319018"/>
              <a:gd name="connsiteX9" fmla="*/ 6163734 w 6163734"/>
              <a:gd name="connsiteY9" fmla="*/ 0 h 3319018"/>
              <a:gd name="connsiteX10" fmla="*/ 6163734 w 6163734"/>
              <a:gd name="connsiteY10" fmla="*/ 0 h 331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63734" h="3319018">
                <a:moveTo>
                  <a:pt x="0" y="2980267"/>
                </a:moveTo>
                <a:cubicBezTo>
                  <a:pt x="19050" y="3024011"/>
                  <a:pt x="38101" y="3067755"/>
                  <a:pt x="143934" y="3115733"/>
                </a:cubicBezTo>
                <a:cubicBezTo>
                  <a:pt x="249767" y="3163711"/>
                  <a:pt x="451556" y="3235677"/>
                  <a:pt x="635000" y="3268133"/>
                </a:cubicBezTo>
                <a:cubicBezTo>
                  <a:pt x="818444" y="3300589"/>
                  <a:pt x="939800" y="3304823"/>
                  <a:pt x="1244600" y="3310467"/>
                </a:cubicBezTo>
                <a:cubicBezTo>
                  <a:pt x="1549400" y="3316111"/>
                  <a:pt x="1993900" y="3330222"/>
                  <a:pt x="2463800" y="3302000"/>
                </a:cubicBezTo>
                <a:cubicBezTo>
                  <a:pt x="2933700" y="3273778"/>
                  <a:pt x="3664656" y="3244144"/>
                  <a:pt x="4064000" y="3141133"/>
                </a:cubicBezTo>
                <a:cubicBezTo>
                  <a:pt x="4463344" y="3038122"/>
                  <a:pt x="4593167" y="2988733"/>
                  <a:pt x="4859867" y="2683933"/>
                </a:cubicBezTo>
                <a:cubicBezTo>
                  <a:pt x="5126567" y="2379133"/>
                  <a:pt x="5446889" y="1759655"/>
                  <a:pt x="5664200" y="1312333"/>
                </a:cubicBezTo>
                <a:cubicBezTo>
                  <a:pt x="5881511" y="865011"/>
                  <a:pt x="6163734" y="0"/>
                  <a:pt x="6163734" y="0"/>
                </a:cubicBezTo>
                <a:lnTo>
                  <a:pt x="6163734" y="0"/>
                </a:lnTo>
                <a:lnTo>
                  <a:pt x="6163734" y="0"/>
                </a:ln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60985" y="196419"/>
            <a:ext cx="2687955" cy="36365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3. DataBase &amp; Storage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728133" y="1013303"/>
          <a:ext cx="10006542" cy="275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간단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/>
                        <a:t>server_call_histor</a:t>
                      </a:r>
                      <a:r>
                        <a:rPr lang="en-US" altLang="ko-KR" sz="900">
                          <a:solidFill>
                            <a:schemeClr val="dk1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서버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>
                        <a:solidFill>
                          <a:schemeClr val="dk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주문채널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인트라넷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hp_call_history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핸드폰으로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핸드폰에 저장하는 </a:t>
                      </a:r>
                      <a:r>
                        <a:rPr lang="en-US" altLang="ko-KR" sz="900"/>
                        <a:t>DataBase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주기적으로 히스토리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서버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와 동기화 필요</a:t>
                      </a:r>
                      <a:endParaRPr lang="en-US" altLang="ko-KR" sz="9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Order_details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주문내역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인털넷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수집된 주문내역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Setting_info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환경정보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ggotAI, ggotAIorder, ggotAIhp </a:t>
                      </a:r>
                      <a:r>
                        <a:rPr lang="ko-KR" altLang="en-US" sz="900"/>
                        <a:t>사용을 위한 환경정보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ggotAIhp </a:t>
                      </a:r>
                      <a:r>
                        <a:rPr lang="ko-KR" altLang="en-US" sz="900"/>
                        <a:t>사용 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쇼핑몰 주소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ggotAIya(R.W)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member_info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회원정보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사용자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꽃집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728133" y="4054472"/>
          <a:ext cx="10044642" cy="24841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7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4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이름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간단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Storage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가게전화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 음성</a:t>
                      </a:r>
                      <a:r>
                        <a:rPr lang="en-US" altLang="ko-KR" sz="900"/>
                        <a:t>)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핸드폰 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핸드폰에 저장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별도로 저장하지 않고 안드로이드 폰이 자동 저장함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전화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 전화의 주문 통화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서버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ggotAIhp(R.W)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핸드폰에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0985" y="196419"/>
            <a:ext cx="2131417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4. DataBase Table</a:t>
            </a:r>
            <a:endParaRPr lang="en-US" altLang="ko-KR" b="1"/>
          </a:p>
        </p:txBody>
      </p:sp>
      <p:sp>
        <p:nvSpPr>
          <p:cNvPr id="2" name="직사각형 1"/>
          <p:cNvSpPr/>
          <p:nvPr/>
        </p:nvSpPr>
        <p:spPr>
          <a:xfrm>
            <a:off x="400050" y="626983"/>
            <a:ext cx="11363325" cy="29620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CREATE TABLE server_call_history ( 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Server_call_history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ko-KR" altLang="en-US" sz="900"/>
              <a:t>    id SERIAL PRIMARY KEY,                         -- 고유 ID (자동 증가)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channel_order VARCHAR(20) DEFAULT '기타',      -- 주문 수집 채널 ('핸드폰', '가게전화', '쇼핑몰', '인터라넷', '가게음성', '기타')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channel_classification VARCHAR(255) NOT NULL, -- 채널별 상세 정보 (전화번호, 쇼핑몰 주소, 인트라넷 주소 등)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shop_key INT NOT NULL,                         -- 꽃가게 고유 KEY (member_info 테이블의 id와 매핑)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shop_name VARCHAR(50) NOT NULL,                -- 꽃가게 이름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customer_phone_number VARCHAR(20) DEFAULT ' ',  -- 전화를 건 '고객'의 전화번호 (쇼핑몰/인터라넷은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customer_name VARCHAR(50) DEFAULT '신규',       -- 고객명 (전화번호부 연동명, 없을 시 '신규' / 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call_date DATE NOT NULL,                       -- 통화/수집 날짜 (YYYY-MM-DD)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call_time TIME NOT NULL,                       -- 통화/수집 시간 (HH:mm:ss)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duration_seconds INT DEFAULT 0,                -- 통화 시간(초 단위, 텍스트 채널은 0)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audio_file_name VARCHAR(255) DEFAULT NULL,     -- 서버 스토리지에 저장된 음성 파일명 (텍스트 채널은 NULL)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-- 성능 최적화를 위해 파일명 대신 텍스트 원본을 DB에 직접 저장하도록 수정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stt_text TEXT DEFAULT NULL,                    -- Whisper가 변환한 비정형 주문 텍스트 원본 (쇼핑몰/인터라넷은 스크래핑 원문)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is_order CHAR(1) DEFAULT 'N',                  -- </a:t>
            </a:r>
            <a:r>
              <a:rPr lang="en-US" altLang="ko-KR" sz="900"/>
              <a:t>Gemini</a:t>
            </a:r>
            <a:r>
              <a:rPr lang="ko-KR" altLang="en-US" sz="900"/>
              <a:t>(LLM)가 판별한 최종 주문 여부 ('Y' 또는 'N')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created_at TIMESTAMP DEFAULT NOW(),            -- 데이터 생성 일시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FOREIGN KEY (shop_key) REFERENCES member_info(id) ON DELETE CASCADE -- 회원 정보와 유기적 연동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7" name="직사각형 1"/>
          <p:cNvSpPr/>
          <p:nvPr/>
        </p:nvSpPr>
        <p:spPr>
          <a:xfrm>
            <a:off x="400048" y="3703557"/>
            <a:ext cx="11363326" cy="31049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order_details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call_history_id INT NOT NULL,                  -- 어떤 통화/채널에서 온 주문인지 매핑 (외래키)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NULL,                         -- 꽃가게 고유 KEY [cite: 852]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꽃가게 이름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customer_name VARCHAR(50) DEFAULT '신규',       -- 고객명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customer_phone_number VARCHAR(20) NOT NULL,    -- 고객전화번호 [cite: 855]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product_name VARCHAR(150) NOT NULL,            -- 상품명 [cite: 856]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quantity INT DEFAULT 1,                        -- 수량 [cite: 857]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price INT DEFAULT 0,                           -- 가격 [cite: 858]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delivery_at TIMESTAMP NOT NULL,                -- 배달일시 [cite: 859]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delivery_place VARCHAR(255) NOT NULL,          -- 배달장소 [cite: 860]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receiver_name VARCHAR(50) NOT NULL,            -- 받는사람 이름 [cite: 861]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receiver_phone_number VARCHAR(20) NOT NULL,    -- 받는사람 전화번호 [cite: 862]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ribbon_sender TEXT,                            -- 리본문구_보내는사람 [cite: 863]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ribbon_congratulations TEXT,                   -- 리본문구 경조사어 [cite: 864]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card_message TEXT,                             -- 카드메세지 [cite: 865]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rpa_status VARCHAR(20) DEFAULT 'ready',        -- RPA 처리 상태 ('ready', 'success', 'fail')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NOW(),            -- [cite: 866]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FOREIGN KEY (call_history_id) REFERENCES server_call_history(id) ON DELETE CASCADE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"/>
          <p:cNvSpPr/>
          <p:nvPr/>
        </p:nvSpPr>
        <p:spPr>
          <a:xfrm>
            <a:off x="414336" y="4619881"/>
            <a:ext cx="11363326" cy="200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member_info (</a:t>
            </a:r>
            <a:r>
              <a:rPr lang="ko-KR" altLang="en-US" sz="900"/>
              <a:t>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member_info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                         -- 고유 KEY값 (이 값이 다른 테이블의 shop_key가 됨)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username VARCHAR(50) NOT NULL UNIQUE,          --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password VARCHAR(255) NOT NULL,                -- 비밀번호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꽃집이름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representative_name VARCHAR(50) NOT NULL,      -- 대표자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landline_number VARCHAR(20) DEFAULT NULL,      -- 가게전화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mobile_number VARCHAR(20) NOT NULL,            -- 대표 핸드폰 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email VARCHAR(100) DEFAULT NULL,               -- 이메일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 VARCHAR(255) DEFAULT NULL,             -- 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address_detail VARCHAR(50) DEFAULT NULL,       -- 상세주소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is_approved CHAR(1) DEFAULT 'N',               -- 회원가입 승인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             -- 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8517" y="440715"/>
            <a:ext cx="11363325" cy="40722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setting_info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 UNIQUE,                        -- 꽃가게 고유 KEY (회원정보와 1:1 매핑)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[알림 시스템 필드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use_notification CHAR(1) DEFAULT 'Y',                -- 알림톡/문자 발송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notification_phone_number VARCHAR(20) DEFAULT NULL,  -- ★ 알림을 수신할 사장님 핸드폰 번호 (국번 포함)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rpa_success_message TEXT DEFAULT '{channel} 주문 {count}건 꽃가게 관리 프로그램에 입력 완료했습니다.', -- 성공 보고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rpa_fail_message TEXT DEFAULT '[ggotAI 경고] {channel} 주문 자동 입력 실패! 수동 확인 바랍니다.',       -- 실패 경고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[기기 및 채널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order_hp_1 VARCHAR(20) NOT NULL,                     -- 주문핸드폰1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order_hp_2 VARCHAR(20) DEFAULT NULL,                 -- 주문핸드폰2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order_landline_1 VARCHAR(20) DEFAULT NULL,           -- 주문일반전화1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order_landline_2 VARCHAR(20) DEFAULT NULL,           -- 주문일반전화2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[외부 연동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shopping_mall_url VARCHAR(255) DEFAULT NULL,         -- 쇼핑몰 관리자주소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shopping_mall_id VARCHAR(50) DEFAULT NULL,           -- 쇼핑몰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shopping_mall_password VARCHAR(255) DEFAULT NULL,    -- 쇼핑몰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intranet_url VARCHAR(255) DEFAULT NULL,              -- 인트라넷주소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intranet_id VARCHAR(50) DEFAULT NULL,                -- 인트라넷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intranet_password VARCHAR(255) DEFAULT NULL,         -- 인트라넷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shopping_mall_check_interval INT DEFAULT 10; -- </a:t>
            </a:r>
            <a:r>
              <a:rPr lang="ko-KR" altLang="en-US" sz="900"/>
              <a:t>쇼핑몰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intranet_check_interval INT DEFAULT 30;      -- </a:t>
            </a:r>
            <a:r>
              <a:rPr lang="ko-KR" altLang="en-US" sz="900"/>
              <a:t>인트라넷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3561]</a:t>
            </a:r>
            <a:endParaRPr lang="en-US" altLang="ko-KR" sz="900"/>
          </a:p>
          <a:p>
            <a:pPr lvl="0">
              <a:defRPr/>
            </a:pP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/>
          <p:cNvSpPr txBox="1"/>
          <p:nvPr/>
        </p:nvSpPr>
        <p:spPr>
          <a:xfrm>
            <a:off x="0" y="2790503"/>
            <a:ext cx="12192000" cy="127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latin typeface="맑은 고딕"/>
                <a:ea typeface="맑은 고딕"/>
              </a:rPr>
              <a:t>Ⅱ. </a:t>
            </a:r>
            <a:r>
              <a:rPr lang="en-US" altLang="ko-KR" sz="6000" b="1"/>
              <a:t>ggotAIya</a:t>
            </a:r>
          </a:p>
          <a:p>
            <a:pPr lvl="0" algn="ctr">
              <a:defRPr/>
            </a:pPr>
            <a:r>
              <a:rPr lang="en-US" altLang="ko-KR"/>
              <a:t>(</a:t>
            </a:r>
            <a:r>
              <a:rPr lang="ko-KR" altLang="en-US"/>
              <a:t>C. 관리용 UI 애플리케이션(PC 포그라운드 액티비티)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0984" y="196419"/>
            <a:ext cx="423100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1. ggotAIya</a:t>
            </a:r>
            <a:r>
              <a:rPr lang="en-US" altLang="ko-KR" sz="900"/>
              <a:t>(</a:t>
            </a:r>
            <a:r>
              <a:rPr lang="ko-KR" altLang="en-US" sz="900"/>
              <a:t>C. 관리용 UI 애플리케이션(PC 포그라운드 액티비티)</a:t>
            </a:r>
            <a:r>
              <a:rPr lang="en-US" altLang="ko-KR" sz="900"/>
              <a:t>)</a:t>
            </a:r>
          </a:p>
        </p:txBody>
      </p:sp>
      <p:sp>
        <p:nvSpPr>
          <p:cNvPr id="132" name="TextBox 6"/>
          <p:cNvSpPr txBox="1"/>
          <p:nvPr/>
        </p:nvSpPr>
        <p:spPr>
          <a:xfrm>
            <a:off x="925910" y="954022"/>
            <a:ext cx="8294289" cy="6918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/>
              <a:t>[ 추천 아키텍처 흐름 ]</a:t>
            </a:r>
          </a:p>
          <a:p>
            <a:pPr>
              <a:defRPr/>
            </a:pPr>
            <a:r>
              <a:rPr lang="en-US" altLang="ko-KR" sz="1000"/>
              <a:t>1</a:t>
            </a:r>
            <a:r>
              <a:rPr lang="ko-KR" altLang="en-US" sz="1000"/>
              <a:t>. 백그라운드 서비스(</a:t>
            </a:r>
            <a:r>
              <a:rPr lang="en-US" altLang="ko-KR" sz="1000"/>
              <a:t>ggotAIorder</a:t>
            </a:r>
            <a:r>
              <a:rPr lang="ko-KR" altLang="en-US" sz="1000"/>
              <a:t>) 실행되면 ➔ 윈도우 시계 옆(트레이)에 'ggotAI</a:t>
            </a:r>
            <a:r>
              <a:rPr lang="en-US" altLang="ko-KR" sz="1000"/>
              <a:t>ya</a:t>
            </a:r>
            <a:r>
              <a:rPr lang="ko-KR" altLang="en-US" sz="1000"/>
              <a:t> 아이콘' 상주 (작동 중임을 알리는 용도)</a:t>
            </a:r>
          </a:p>
          <a:p>
            <a:pPr>
              <a:defRPr/>
            </a:pPr>
            <a:r>
              <a:rPr lang="en-US" altLang="ko-KR" sz="1000"/>
              <a:t>2</a:t>
            </a:r>
            <a:r>
              <a:rPr lang="ko-KR" altLang="en-US" sz="1000"/>
              <a:t>. 아이콘을 [더블 클릭] 하면</a:t>
            </a:r>
            <a:r>
              <a:rPr lang="en-US" altLang="ko-KR" sz="1000"/>
              <a:t>, </a:t>
            </a:r>
            <a:r>
              <a:rPr lang="ko-KR" altLang="en-US" sz="1000"/>
              <a:t>백그라운드가 화면을 직접 띄우는 것이 아니라, "관리용 UI 애플리케이션(</a:t>
            </a:r>
            <a:r>
              <a:rPr lang="en-US" altLang="ko-KR" sz="1000"/>
              <a:t>ggotAIya</a:t>
            </a:r>
            <a:r>
              <a:rPr lang="ko-KR" altLang="en-US" sz="1000"/>
              <a:t>)"을 자동으로 가동하면서</a:t>
            </a:r>
          </a:p>
          <a:p>
            <a:pPr>
              <a:defRPr/>
            </a:pPr>
            <a:r>
              <a:rPr lang="en-US" altLang="ko-KR" sz="1000"/>
              <a:t>  </a:t>
            </a:r>
            <a:r>
              <a:rPr lang="ko-KR" altLang="en-US" sz="1000"/>
              <a:t> '상황판 탭'을 바로 열어줌.</a:t>
            </a:r>
          </a:p>
        </p:txBody>
      </p:sp>
      <p:sp>
        <p:nvSpPr>
          <p:cNvPr id="133" name="TextBox 18"/>
          <p:cNvSpPr txBox="1"/>
          <p:nvPr/>
        </p:nvSpPr>
        <p:spPr>
          <a:xfrm>
            <a:off x="925910" y="2052839"/>
            <a:ext cx="2723809" cy="2407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1.</a:t>
            </a:r>
            <a:r>
              <a:rPr lang="ko-KR" altLang="en-US" sz="1000"/>
              <a:t> 화면사이즈</a:t>
            </a:r>
            <a:r>
              <a:rPr lang="en-US" altLang="ko-KR" sz="1000"/>
              <a:t>: 1920 * 1080 </a:t>
            </a:r>
            <a:r>
              <a:rPr lang="ko-KR" altLang="en-US" sz="1000"/>
              <a:t>기준</a:t>
            </a:r>
            <a:r>
              <a:rPr lang="en-US" altLang="ko-KR" sz="1000"/>
              <a:t> </a:t>
            </a:r>
            <a:r>
              <a:rPr lang="ko-KR" altLang="en-US" sz="1000"/>
              <a:t>최적화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15122" y="264367"/>
            <a:ext cx="24718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2.</a:t>
            </a:r>
            <a:r>
              <a:rPr lang="ko-KR" altLang="en-US" b="1"/>
              <a:t> </a:t>
            </a:r>
            <a:r>
              <a:rPr lang="en-US" altLang="ko-KR" b="1"/>
              <a:t>ggotAIya </a:t>
            </a:r>
            <a:r>
              <a:rPr lang="ko-KR" altLang="en-US" b="1"/>
              <a:t>메뉴구성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197772" y="2474887"/>
            <a:ext cx="6594738" cy="1653309"/>
            <a:chOff x="3813592" y="1784422"/>
            <a:chExt cx="6594738" cy="1653309"/>
          </a:xfrm>
        </p:grpSpPr>
        <p:grpSp>
          <p:nvGrpSpPr>
            <p:cNvPr id="26" name="그룹 25"/>
            <p:cNvGrpSpPr/>
            <p:nvPr/>
          </p:nvGrpSpPr>
          <p:grpSpPr>
            <a:xfrm>
              <a:off x="5682259" y="1784422"/>
              <a:ext cx="4726071" cy="852999"/>
              <a:chOff x="5849914" y="1079572"/>
              <a:chExt cx="4726071" cy="852999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849914" y="1079572"/>
                <a:ext cx="1211171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/>
                  <a:t>HOME</a:t>
                </a:r>
                <a:endParaRPr lang="ko-KR" altLang="en-US" sz="120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428548" y="1079572"/>
                <a:ext cx="156880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200"/>
                  <a:t>로그인</a:t>
                </a:r>
                <a:r>
                  <a:rPr lang="en-US" altLang="ko-KR" sz="1200"/>
                  <a:t>/</a:t>
                </a:r>
                <a:r>
                  <a:rPr lang="ko-KR" altLang="en-US" sz="1200"/>
                  <a:t>마이페이지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364814" y="1079572"/>
                <a:ext cx="1211171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200"/>
                  <a:t>회원가입</a:t>
                </a:r>
              </a:p>
            </p:txBody>
          </p:sp>
          <p:cxnSp>
            <p:nvCxnSpPr>
              <p:cNvPr id="13" name="직선 연결선 12"/>
              <p:cNvCxnSpPr>
                <a:stCxn id="6" idx="3"/>
                <a:endCxn id="10" idx="1"/>
              </p:cNvCxnSpPr>
              <p:nvPr/>
            </p:nvCxnSpPr>
            <p:spPr>
              <a:xfrm>
                <a:off x="7061085" y="1218072"/>
                <a:ext cx="3674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>
                <a:stCxn id="10" idx="3"/>
                <a:endCxn id="11" idx="1"/>
              </p:cNvCxnSpPr>
              <p:nvPr/>
            </p:nvCxnSpPr>
            <p:spPr>
              <a:xfrm>
                <a:off x="8997351" y="1218072"/>
                <a:ext cx="3674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/>
              <p:cNvCxnSpPr>
                <a:stCxn id="6" idx="2"/>
              </p:cNvCxnSpPr>
              <p:nvPr/>
            </p:nvCxnSpPr>
            <p:spPr>
              <a:xfrm flipH="1">
                <a:off x="6455499" y="1356571"/>
                <a:ext cx="1" cy="57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그룹 3"/>
            <p:cNvGrpSpPr/>
            <p:nvPr/>
          </p:nvGrpSpPr>
          <p:grpSpPr>
            <a:xfrm>
              <a:off x="3813592" y="2631113"/>
              <a:ext cx="4722069" cy="806618"/>
              <a:chOff x="3813592" y="2631113"/>
              <a:chExt cx="4722069" cy="806618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3813592" y="3160732"/>
                <a:ext cx="1453828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200"/>
                  <a:t>주문접수 상황판</a:t>
                </a:r>
              </a:p>
            </p:txBody>
          </p:sp>
          <p:cxnSp>
            <p:nvCxnSpPr>
              <p:cNvPr id="113" name="직선 연결선 112"/>
              <p:cNvCxnSpPr/>
              <p:nvPr/>
            </p:nvCxnSpPr>
            <p:spPr>
              <a:xfrm flipV="1">
                <a:off x="4540506" y="2633957"/>
                <a:ext cx="0" cy="54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flipH="1" flipV="1">
                <a:off x="7930076" y="2633957"/>
                <a:ext cx="1" cy="54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>
                <a:off x="4540506" y="2631113"/>
                <a:ext cx="339844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18"/>
              <p:cNvSpPr txBox="1"/>
              <p:nvPr/>
            </p:nvSpPr>
            <p:spPr>
              <a:xfrm>
                <a:off x="7324490" y="3160732"/>
                <a:ext cx="1211171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200"/>
                  <a:t>환경설정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560930" y="3160732"/>
                <a:ext cx="1453828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200"/>
                  <a:t>주문접수 조회</a:t>
                </a: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 flipV="1">
                <a:off x="6287844" y="2633957"/>
                <a:ext cx="0" cy="54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543464" y="1155940"/>
            <a:ext cx="8704053" cy="53311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직사각형 56"/>
          <p:cNvSpPr/>
          <p:nvPr/>
        </p:nvSpPr>
        <p:spPr>
          <a:xfrm>
            <a:off x="6807199" y="1428749"/>
            <a:ext cx="22013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600"/>
              <a:t>로그인  회원가입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13735" y="2421281"/>
            <a:ext cx="3154680" cy="596239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ko-KR" altLang="en-US" sz="1600">
                <a:solidFill>
                  <a:schemeClr val="tx1"/>
                </a:solidFill>
              </a:rPr>
              <a:t>24시간 든든한 우리가게 AI 직원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ko-KR" sz="1700" b="1">
                <a:solidFill>
                  <a:schemeClr val="tx1"/>
                </a:solidFill>
              </a:rPr>
              <a:t>ggotAI</a:t>
            </a:r>
            <a:r>
              <a:rPr lang="en-US" altLang="ko-KR" sz="1600" b="1">
                <a:solidFill>
                  <a:schemeClr val="tx1"/>
                </a:solidFill>
              </a:rPr>
              <a:t>(</a:t>
            </a:r>
            <a:r>
              <a:rPr lang="ko-KR" altLang="en-US" sz="1600" b="1">
                <a:solidFill>
                  <a:schemeClr val="tx1"/>
                </a:solidFill>
              </a:rPr>
              <a:t>꽃아이</a:t>
            </a:r>
            <a:r>
              <a:rPr lang="en-US" altLang="ko-KR" sz="1600" b="1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253069" y="1396037"/>
            <a:ext cx="39613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주문접수상황판  주문접수조회  환경설정</a:t>
            </a:r>
            <a:endParaRPr lang="en-US" altLang="ko-KR" sz="1600"/>
          </a:p>
        </p:txBody>
      </p:sp>
      <p:sp>
        <p:nvSpPr>
          <p:cNvPr id="18" name="TextBox 17"/>
          <p:cNvSpPr txBox="1"/>
          <p:nvPr/>
        </p:nvSpPr>
        <p:spPr>
          <a:xfrm>
            <a:off x="315122" y="264367"/>
            <a:ext cx="39577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3.</a:t>
            </a:r>
            <a:r>
              <a:rPr lang="ko-KR" altLang="en-US" b="1"/>
              <a:t> </a:t>
            </a:r>
            <a:r>
              <a:rPr lang="en-US" altLang="ko-KR" b="1"/>
              <a:t>ggotAIya </a:t>
            </a:r>
            <a:r>
              <a:rPr lang="ko-KR" altLang="en-US" b="1"/>
              <a:t>홈 화면</a:t>
            </a:r>
            <a:r>
              <a:rPr lang="en-US" altLang="ko-KR" b="1"/>
              <a:t>-</a:t>
            </a:r>
            <a:r>
              <a:rPr lang="ko-KR" altLang="en-US" b="1"/>
              <a:t>로그인 전 화면</a:t>
            </a:r>
          </a:p>
        </p:txBody>
      </p:sp>
      <p:sp>
        <p:nvSpPr>
          <p:cNvPr id="64" name="TextBox 10"/>
          <p:cNvSpPr txBox="1"/>
          <p:nvPr/>
        </p:nvSpPr>
        <p:spPr>
          <a:xfrm>
            <a:off x="4366260" y="697132"/>
            <a:ext cx="573405" cy="291563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/>
              <a:t>화면</a:t>
            </a:r>
          </a:p>
        </p:txBody>
      </p:sp>
      <p:cxnSp>
        <p:nvCxnSpPr>
          <p:cNvPr id="65" name="직선 연결선 16"/>
          <p:cNvCxnSpPr/>
          <p:nvPr/>
        </p:nvCxnSpPr>
        <p:spPr>
          <a:xfrm>
            <a:off x="0" y="1018501"/>
            <a:ext cx="12191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17"/>
          <p:cNvCxnSpPr/>
          <p:nvPr/>
        </p:nvCxnSpPr>
        <p:spPr>
          <a:xfrm rot="16200000" flipH="1">
            <a:off x="6515770" y="3707060"/>
            <a:ext cx="5770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10"/>
          <p:cNvSpPr txBox="1"/>
          <p:nvPr/>
        </p:nvSpPr>
        <p:spPr>
          <a:xfrm>
            <a:off x="10528935" y="697131"/>
            <a:ext cx="573405" cy="29156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/>
              <a:t>설명</a:t>
            </a: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41984" y="3234337"/>
            <a:ext cx="2654015" cy="2678959"/>
          </a:xfrm>
          <a:prstGeom prst="rect">
            <a:avLst/>
          </a:prstGeom>
        </p:spPr>
      </p:pic>
      <p:sp>
        <p:nvSpPr>
          <p:cNvPr id="69" name="직사각형 68"/>
          <p:cNvSpPr/>
          <p:nvPr/>
        </p:nvSpPr>
        <p:spPr>
          <a:xfrm>
            <a:off x="1266825" y="1352550"/>
            <a:ext cx="4010025" cy="438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6877050" y="1362075"/>
            <a:ext cx="1914525" cy="438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1" name="자유형 70"/>
          <p:cNvSpPr/>
          <p:nvPr/>
        </p:nvSpPr>
        <p:spPr>
          <a:xfrm>
            <a:off x="5232465" y="1800474"/>
            <a:ext cx="4449697" cy="457545"/>
          </a:xfrm>
          <a:custGeom>
            <a:avLst/>
            <a:gdLst>
              <a:gd name="connsiteX0" fmla="*/ -3240 w 4449697"/>
              <a:gd name="connsiteY0" fmla="*/ -249 h 457545"/>
              <a:gd name="connsiteX1" fmla="*/ 777809 w 4449697"/>
              <a:gd name="connsiteY1" fmla="*/ 218825 h 457545"/>
              <a:gd name="connsiteX2" fmla="*/ 2854260 w 4449697"/>
              <a:gd name="connsiteY2" fmla="*/ 437900 h 457545"/>
              <a:gd name="connsiteX3" fmla="*/ 4454459 w 4449697"/>
              <a:gd name="connsiteY3" fmla="*/ 447425 h 4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97" h="457545">
                <a:moveTo>
                  <a:pt x="-3240" y="-249"/>
                </a:moveTo>
                <a:cubicBezTo>
                  <a:pt x="126934" y="36263"/>
                  <a:pt x="301558" y="145800"/>
                  <a:pt x="777809" y="218825"/>
                </a:cubicBezTo>
                <a:cubicBezTo>
                  <a:pt x="1254059" y="291850"/>
                  <a:pt x="2241484" y="399800"/>
                  <a:pt x="2854260" y="437900"/>
                </a:cubicBezTo>
                <a:cubicBezTo>
                  <a:pt x="3467035" y="476000"/>
                  <a:pt x="4187759" y="445838"/>
                  <a:pt x="4454459" y="447425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2" name="자유형 71"/>
          <p:cNvSpPr/>
          <p:nvPr/>
        </p:nvSpPr>
        <p:spPr>
          <a:xfrm>
            <a:off x="7742304" y="1790949"/>
            <a:ext cx="1916047" cy="105120"/>
          </a:xfrm>
          <a:custGeom>
            <a:avLst/>
            <a:gdLst>
              <a:gd name="connsiteX0" fmla="*/ -3240 w 4449697"/>
              <a:gd name="connsiteY0" fmla="*/ -249 h 457545"/>
              <a:gd name="connsiteX1" fmla="*/ 777809 w 4449697"/>
              <a:gd name="connsiteY1" fmla="*/ 218825 h 457545"/>
              <a:gd name="connsiteX2" fmla="*/ 2854260 w 4449697"/>
              <a:gd name="connsiteY2" fmla="*/ 437900 h 457545"/>
              <a:gd name="connsiteX3" fmla="*/ 4454459 w 4449697"/>
              <a:gd name="connsiteY3" fmla="*/ 447425 h 4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97" h="457545">
                <a:moveTo>
                  <a:pt x="-3240" y="-249"/>
                </a:moveTo>
                <a:cubicBezTo>
                  <a:pt x="126934" y="36263"/>
                  <a:pt x="301558" y="145800"/>
                  <a:pt x="777809" y="218825"/>
                </a:cubicBezTo>
                <a:cubicBezTo>
                  <a:pt x="1254059" y="291850"/>
                  <a:pt x="2241484" y="399800"/>
                  <a:pt x="2854260" y="437900"/>
                </a:cubicBezTo>
                <a:cubicBezTo>
                  <a:pt x="3467035" y="476000"/>
                  <a:pt x="4187759" y="445838"/>
                  <a:pt x="4454459" y="447425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3" name="TextBox 14"/>
          <p:cNvSpPr txBox="1"/>
          <p:nvPr/>
        </p:nvSpPr>
        <p:spPr>
          <a:xfrm>
            <a:off x="9695682" y="1732162"/>
            <a:ext cx="1716036" cy="26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dk1"/>
                </a:solidFill>
              </a:rPr>
              <a:t>로그인 메뉴</a:t>
            </a:r>
          </a:p>
        </p:txBody>
      </p:sp>
      <p:sp>
        <p:nvSpPr>
          <p:cNvPr id="74" name="TextBox 14"/>
          <p:cNvSpPr txBox="1"/>
          <p:nvPr/>
        </p:nvSpPr>
        <p:spPr>
          <a:xfrm>
            <a:off x="9695682" y="2103637"/>
            <a:ext cx="1716036" cy="26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dk1"/>
                </a:solidFill>
              </a:rPr>
              <a:t>메인 메뉴</a:t>
            </a:r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6400800" y="2657475"/>
            <a:ext cx="3267075" cy="4762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V="1">
            <a:off x="6096000" y="4200525"/>
            <a:ext cx="3619500" cy="8572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14"/>
          <p:cNvSpPr txBox="1"/>
          <p:nvPr/>
        </p:nvSpPr>
        <p:spPr>
          <a:xfrm>
            <a:off x="9695682" y="2551312"/>
            <a:ext cx="2287536" cy="26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dk1"/>
                </a:solidFill>
              </a:rPr>
              <a:t>ggotAI</a:t>
            </a:r>
            <a:r>
              <a:rPr lang="ko-KR" altLang="en-US" sz="1200">
                <a:solidFill>
                  <a:schemeClr val="dk1"/>
                </a:solidFill>
              </a:rPr>
              <a:t>가 꽃가게에 주는 가치</a:t>
            </a:r>
          </a:p>
        </p:txBody>
      </p:sp>
      <p:sp>
        <p:nvSpPr>
          <p:cNvPr id="78" name="TextBox 14"/>
          <p:cNvSpPr txBox="1"/>
          <p:nvPr/>
        </p:nvSpPr>
        <p:spPr>
          <a:xfrm>
            <a:off x="9695682" y="4027687"/>
            <a:ext cx="1716036" cy="26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dk1"/>
                </a:solidFill>
              </a:rPr>
              <a:t>ggotAI </a:t>
            </a:r>
            <a:r>
              <a:rPr lang="ko-KR" altLang="en-US" sz="1200">
                <a:solidFill>
                  <a:schemeClr val="dk1"/>
                </a:solidFill>
              </a:rPr>
              <a:t>로고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400241" y="1825606"/>
            <a:ext cx="5378258" cy="3584672"/>
            <a:chOff x="842817" y="1585076"/>
            <a:chExt cx="5378258" cy="3584672"/>
          </a:xfrm>
        </p:grpSpPr>
        <p:sp>
          <p:nvSpPr>
            <p:cNvPr id="5" name="직사각형 4"/>
            <p:cNvSpPr/>
            <p:nvPr/>
          </p:nvSpPr>
          <p:spPr>
            <a:xfrm>
              <a:off x="2419929" y="2402878"/>
              <a:ext cx="2463030" cy="4521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419929" y="3019367"/>
              <a:ext cx="2463030" cy="4521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03756" y="2446789"/>
              <a:ext cx="911205" cy="364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/>
                <a:t>아이디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270" y="3061931"/>
              <a:ext cx="1142691" cy="3670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/>
                <a:t>비밀번호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51030" y="4173300"/>
              <a:ext cx="1440180" cy="36437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아이디 찾기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66375" y="4170342"/>
              <a:ext cx="1676862" cy="36437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비밀번호 찾기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42817" y="1585076"/>
              <a:ext cx="5378258" cy="35846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14961" y="3691740"/>
              <a:ext cx="1338829" cy="36933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/>
                <a:t>자동로그인</a:t>
              </a: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3891210" y="3691740"/>
              <a:ext cx="369332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4" name="TextBox 49"/>
          <p:cNvSpPr txBox="1"/>
          <p:nvPr/>
        </p:nvSpPr>
        <p:spPr>
          <a:xfrm>
            <a:off x="315121" y="264367"/>
            <a:ext cx="17098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4.</a:t>
            </a:r>
            <a:r>
              <a:rPr lang="ko-KR" altLang="en-US" b="1"/>
              <a:t> 로그인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4064" y="1846464"/>
            <a:ext cx="51069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/>
              <a:t>1.</a:t>
            </a:r>
            <a:r>
              <a:rPr lang="ko-KR" altLang="en-US" sz="1200" dirty="0"/>
              <a:t> </a:t>
            </a:r>
            <a:r>
              <a:rPr lang="en-US" altLang="ko-KR" sz="1200" dirty="0"/>
              <a:t>TABLE: </a:t>
            </a:r>
            <a:r>
              <a:rPr lang="en-US" altLang="ko-KR" sz="1200" dirty="0" err="1"/>
              <a:t>member_info</a:t>
            </a:r>
            <a:endParaRPr lang="en-US" altLang="ko-KR" sz="1200" dirty="0"/>
          </a:p>
          <a:p>
            <a:pPr lvl="0">
              <a:defRPr/>
            </a:pPr>
            <a:r>
              <a:rPr lang="en-US" altLang="ko-KR" sz="1200" dirty="0"/>
              <a:t>2.</a:t>
            </a:r>
            <a:r>
              <a:rPr lang="ko-KR" altLang="en-US" sz="1200" dirty="0"/>
              <a:t> 로그인 후 </a:t>
            </a:r>
            <a:r>
              <a:rPr lang="en-US" altLang="ko-KR" sz="1200" dirty="0"/>
              <a:t>‘</a:t>
            </a:r>
            <a:r>
              <a:rPr lang="ko-KR" altLang="en-US" sz="1200" dirty="0"/>
              <a:t>자동로그인</a:t>
            </a:r>
            <a:r>
              <a:rPr lang="en-US" altLang="ko-KR" sz="1200" dirty="0"/>
              <a:t>’</a:t>
            </a:r>
            <a:r>
              <a:rPr lang="ko-KR" altLang="en-US" sz="1200" dirty="0"/>
              <a:t>이 체크되면 다음부터는 자동로그인 되게 함</a:t>
            </a:r>
          </a:p>
          <a:p>
            <a:pPr lvl="0">
              <a:defRPr/>
            </a:pPr>
            <a:r>
              <a:rPr lang="en-US" altLang="ko-KR" sz="1200" dirty="0"/>
              <a:t>3.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아이디 찾기</a:t>
            </a:r>
            <a:r>
              <a:rPr lang="en-US" altLang="ko-KR" sz="1200" dirty="0"/>
              <a:t>’</a:t>
            </a:r>
            <a:r>
              <a:rPr lang="ko-KR" altLang="en-US" sz="1200" dirty="0"/>
              <a:t> 버튼 클릭 </a:t>
            </a:r>
            <a:r>
              <a:rPr lang="en-US" altLang="ko-KR" sz="1200" dirty="0"/>
              <a:t>-&gt;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아이디 찾기</a:t>
            </a:r>
            <a:r>
              <a:rPr lang="en-US" altLang="ko-KR" sz="1200" dirty="0"/>
              <a:t>’</a:t>
            </a:r>
            <a:r>
              <a:rPr lang="ko-KR" altLang="en-US" sz="1200" dirty="0"/>
              <a:t> 화면 나옴</a:t>
            </a:r>
          </a:p>
          <a:p>
            <a:pPr lvl="0">
              <a:defRPr/>
            </a:pPr>
            <a:r>
              <a:rPr lang="en-US" altLang="ko-KR" sz="1200" dirty="0"/>
              <a:t>4.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비밀번호 찾기</a:t>
            </a:r>
            <a:r>
              <a:rPr lang="en-US" altLang="ko-KR" sz="1200" dirty="0"/>
              <a:t>’</a:t>
            </a:r>
            <a:r>
              <a:rPr lang="ko-KR" altLang="en-US" sz="1200" dirty="0"/>
              <a:t> 버튼 클릭 </a:t>
            </a:r>
            <a:r>
              <a:rPr lang="en-US" altLang="ko-KR" sz="1200" dirty="0"/>
              <a:t>-&gt;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비밀번호 찾기</a:t>
            </a:r>
            <a:r>
              <a:rPr lang="en-US" altLang="ko-KR" sz="1200" dirty="0"/>
              <a:t>’</a:t>
            </a:r>
            <a:r>
              <a:rPr lang="ko-KR" altLang="en-US" sz="1200" dirty="0"/>
              <a:t> 화면 나옴</a:t>
            </a:r>
          </a:p>
          <a:p>
            <a:pPr lvl="0">
              <a:defRPr/>
            </a:pPr>
            <a:r>
              <a:rPr lang="en-US" altLang="ko-KR" sz="1200" dirty="0"/>
              <a:t>5.</a:t>
            </a:r>
            <a:r>
              <a:rPr lang="ko-KR" altLang="en-US" sz="1200" dirty="0"/>
              <a:t> 각 </a:t>
            </a:r>
            <a:r>
              <a:rPr lang="ko-KR" altLang="en-US" sz="1200" dirty="0" err="1"/>
              <a:t>입력칸은</a:t>
            </a:r>
            <a:r>
              <a:rPr lang="ko-KR" altLang="en-US" sz="1200" dirty="0"/>
              <a:t> 키보드 </a:t>
            </a:r>
            <a:r>
              <a:rPr lang="ko-KR" altLang="en-US" sz="1200" dirty="0" err="1"/>
              <a:t>엔터키를</a:t>
            </a:r>
            <a:r>
              <a:rPr lang="ko-KR" altLang="en-US" sz="1200" dirty="0"/>
              <a:t> 누르면 다음으로 이동할 수 있게 함</a:t>
            </a:r>
            <a:r>
              <a:rPr lang="en-US" altLang="ko-KR" sz="1200" dirty="0"/>
              <a:t>.</a:t>
            </a:r>
          </a:p>
          <a:p>
            <a:pPr lvl="0">
              <a:defRPr/>
            </a:pPr>
            <a:r>
              <a:rPr lang="en-US" altLang="ko-KR" sz="1200" dirty="0"/>
              <a:t>6.</a:t>
            </a:r>
            <a:r>
              <a:rPr lang="ko-KR" altLang="en-US" sz="1200" dirty="0"/>
              <a:t> 로그인 후 </a:t>
            </a:r>
            <a:r>
              <a:rPr lang="en-US" altLang="ko-KR" sz="1200" dirty="0"/>
              <a:t>‘</a:t>
            </a:r>
            <a:r>
              <a:rPr lang="en-US" altLang="ko-KR" sz="1200" dirty="0" err="1"/>
              <a:t>ggotAIorder</a:t>
            </a:r>
            <a:r>
              <a:rPr lang="en-US" altLang="ko-KR" sz="1200" dirty="0"/>
              <a:t>’</a:t>
            </a:r>
            <a:r>
              <a:rPr lang="ko-KR" altLang="en-US" sz="1200" dirty="0"/>
              <a:t> 실행 여부를 파악하여</a:t>
            </a:r>
            <a:r>
              <a:rPr lang="en-US" altLang="ko-KR" sz="1200" dirty="0"/>
              <a:t>,</a:t>
            </a:r>
            <a:r>
              <a:rPr lang="ko-KR" altLang="en-US" sz="1200" dirty="0"/>
              <a:t> 상황판에 </a:t>
            </a:r>
            <a:r>
              <a:rPr lang="ko-KR" altLang="en-US" sz="1200" dirty="0" smtClean="0"/>
              <a:t>보여줌</a:t>
            </a:r>
            <a:endParaRPr lang="en-US" altLang="ko-KR" sz="1200" dirty="0" smtClean="0"/>
          </a:p>
          <a:p>
            <a:pPr>
              <a:defRPr/>
            </a:pPr>
            <a:r>
              <a:rPr lang="en-US" altLang="ko-KR" sz="1200" dirty="0" smtClean="0"/>
              <a:t>(16</a:t>
            </a:r>
            <a:r>
              <a:rPr lang="ko-KR" altLang="en-US" sz="1200" dirty="0" smtClean="0"/>
              <a:t>페이지 </a:t>
            </a:r>
            <a:r>
              <a:rPr lang="en-US" altLang="ko-KR" sz="1200" dirty="0" smtClean="0"/>
              <a:t>‘</a:t>
            </a:r>
            <a:r>
              <a:rPr lang="en-US" altLang="ko-KR" sz="1200" b="1" dirty="0"/>
              <a:t>6. </a:t>
            </a:r>
            <a:r>
              <a:rPr lang="ko-KR" altLang="en-US" sz="1200" b="1" dirty="0"/>
              <a:t>홈</a:t>
            </a:r>
            <a:r>
              <a:rPr lang="en-US" altLang="ko-KR" sz="1200" b="1" dirty="0"/>
              <a:t>(Home) </a:t>
            </a:r>
            <a:r>
              <a:rPr lang="ko-KR" altLang="en-US" sz="1200" b="1" dirty="0"/>
              <a:t>화면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로그인 후</a:t>
            </a:r>
            <a:r>
              <a:rPr lang="en-US" altLang="ko-KR" sz="1200" b="1" dirty="0" smtClean="0"/>
              <a:t>)</a:t>
            </a:r>
            <a:r>
              <a:rPr lang="en-US" altLang="ko-KR" sz="1200" dirty="0" smtClean="0"/>
              <a:t>’ )</a:t>
            </a:r>
            <a:endParaRPr lang="en-US" altLang="ko-KR" sz="1200" b="1" dirty="0"/>
          </a:p>
        </p:txBody>
      </p:sp>
      <p:grpSp>
        <p:nvGrpSpPr>
          <p:cNvPr id="20" name="그룹 19"/>
          <p:cNvGrpSpPr/>
          <p:nvPr/>
        </p:nvGrpSpPr>
        <p:grpSpPr>
          <a:xfrm>
            <a:off x="0" y="821651"/>
            <a:ext cx="12191682" cy="5770818"/>
            <a:chOff x="0" y="821651"/>
            <a:chExt cx="12191682" cy="5770818"/>
          </a:xfrm>
        </p:grpSpPr>
        <p:sp>
          <p:nvSpPr>
            <p:cNvPr id="11" name="TextBox 10"/>
            <p:cNvSpPr txBox="1"/>
            <p:nvPr/>
          </p:nvSpPr>
          <p:spPr>
            <a:xfrm>
              <a:off x="3137535" y="925732"/>
              <a:ext cx="678180" cy="358238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화면</a:t>
              </a:r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0" y="1313776"/>
              <a:ext cx="121916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rot="16200000" flipH="1">
              <a:off x="3210594" y="3707060"/>
              <a:ext cx="5770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0"/>
            <p:cNvSpPr txBox="1"/>
            <p:nvPr/>
          </p:nvSpPr>
          <p:spPr>
            <a:xfrm>
              <a:off x="8223885" y="925732"/>
              <a:ext cx="678180" cy="36747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설명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259762" y="1787660"/>
            <a:ext cx="5555481" cy="3848484"/>
            <a:chOff x="259762" y="1787660"/>
            <a:chExt cx="5555481" cy="3848484"/>
          </a:xfrm>
        </p:grpSpPr>
        <p:sp>
          <p:nvSpPr>
            <p:cNvPr id="5" name="직사각형 4"/>
            <p:cNvSpPr/>
            <p:nvPr/>
          </p:nvSpPr>
          <p:spPr>
            <a:xfrm>
              <a:off x="2198822" y="2605463"/>
              <a:ext cx="2463030" cy="4521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189297" y="3202902"/>
              <a:ext cx="2463030" cy="4521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6402" y="2649374"/>
              <a:ext cx="1440180" cy="3588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/>
                <a:t>꽃가게 이름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82602" y="3235941"/>
              <a:ext cx="13639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/>
                <a:t>핸드폰번호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74300" y="1964786"/>
              <a:ext cx="1440180" cy="36437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아이디 찾기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58220" y="4774373"/>
              <a:ext cx="1107997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아이디는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8475" y="3790989"/>
              <a:ext cx="1420582" cy="36933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아이디 찾기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9762" y="1787660"/>
              <a:ext cx="5555481" cy="3848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236922" y="4765002"/>
              <a:ext cx="2463030" cy="4521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19865" y="4822286"/>
              <a:ext cx="928460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입니다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sp>
        <p:nvSpPr>
          <p:cNvPr id="15" name="TextBox 49"/>
          <p:cNvSpPr txBox="1"/>
          <p:nvPr/>
        </p:nvSpPr>
        <p:spPr>
          <a:xfrm>
            <a:off x="315121" y="264367"/>
            <a:ext cx="24814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4-1.</a:t>
            </a:r>
            <a:r>
              <a:rPr lang="ko-KR" altLang="en-US" b="1"/>
              <a:t> 아이디 찾기 화면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821651"/>
            <a:ext cx="12191682" cy="5770818"/>
            <a:chOff x="0" y="821651"/>
            <a:chExt cx="12191682" cy="5770818"/>
          </a:xfrm>
        </p:grpSpPr>
        <p:sp>
          <p:nvSpPr>
            <p:cNvPr id="17" name="TextBox 10"/>
            <p:cNvSpPr txBox="1"/>
            <p:nvPr/>
          </p:nvSpPr>
          <p:spPr>
            <a:xfrm>
              <a:off x="3137535" y="925732"/>
              <a:ext cx="678180" cy="358238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화면</a:t>
              </a: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0" y="1313776"/>
              <a:ext cx="121916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rot="16200000" flipH="1">
              <a:off x="3210594" y="3707060"/>
              <a:ext cx="5770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0"/>
            <p:cNvSpPr txBox="1"/>
            <p:nvPr/>
          </p:nvSpPr>
          <p:spPr>
            <a:xfrm>
              <a:off x="8223885" y="925732"/>
              <a:ext cx="678180" cy="36747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설명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04064" y="1846464"/>
            <a:ext cx="4258350" cy="63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1.</a:t>
            </a:r>
            <a:r>
              <a:rPr lang="ko-KR" altLang="en-US" sz="1200"/>
              <a:t> </a:t>
            </a:r>
            <a:r>
              <a:rPr lang="en-US" altLang="ko-KR" sz="1200"/>
              <a:t>TABLE: member_info</a:t>
            </a:r>
          </a:p>
          <a:p>
            <a:pPr lvl="0">
              <a:defRPr/>
            </a:pPr>
            <a:r>
              <a:rPr lang="en-US" altLang="ko-KR" sz="1200"/>
              <a:t>2.</a:t>
            </a:r>
            <a:r>
              <a:rPr lang="ko-KR" altLang="en-US" sz="1200"/>
              <a:t> 각 입력칸은 키보드 엔터키를 누르면 다음으로 이동할 수있게 함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747019" y="2495742"/>
            <a:ext cx="2463030" cy="4521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737494" y="3093181"/>
            <a:ext cx="2463030" cy="4521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39486" y="2539653"/>
            <a:ext cx="87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/>
              <a:t>아이디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822" y="312622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/>
              <a:t>핸드폰번호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3319" y="1826202"/>
            <a:ext cx="1651413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비밀번호 찾기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653" y="3667700"/>
            <a:ext cx="1107997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/>
              <a:t>인증번호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743" y="4311264"/>
            <a:ext cx="165141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비밀번호 찾기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7059" y="1677939"/>
            <a:ext cx="5363056" cy="4470497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737494" y="3641395"/>
            <a:ext cx="2463030" cy="4521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389017" y="3687808"/>
            <a:ext cx="64633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376" y="4953204"/>
            <a:ext cx="133882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비밀번호는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737494" y="4943833"/>
            <a:ext cx="2463030" cy="45219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344261" y="4981779"/>
            <a:ext cx="928460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8" name="TextBox 49"/>
          <p:cNvSpPr txBox="1"/>
          <p:nvPr/>
        </p:nvSpPr>
        <p:spPr>
          <a:xfrm>
            <a:off x="315121" y="264367"/>
            <a:ext cx="27100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4-2.</a:t>
            </a:r>
            <a:r>
              <a:rPr lang="ko-KR" altLang="en-US" b="1"/>
              <a:t> 비밀번호 찾기 화면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0" y="821651"/>
            <a:ext cx="12191682" cy="5770818"/>
            <a:chOff x="0" y="821651"/>
            <a:chExt cx="12191682" cy="5770818"/>
          </a:xfrm>
        </p:grpSpPr>
        <p:sp>
          <p:nvSpPr>
            <p:cNvPr id="21" name="TextBox 10"/>
            <p:cNvSpPr txBox="1"/>
            <p:nvPr/>
          </p:nvSpPr>
          <p:spPr>
            <a:xfrm>
              <a:off x="3137535" y="925732"/>
              <a:ext cx="678180" cy="358238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화면</a:t>
              </a: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0" y="1313776"/>
              <a:ext cx="121916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rot="16200000" flipH="1">
              <a:off x="3210594" y="3707060"/>
              <a:ext cx="5770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10"/>
            <p:cNvSpPr txBox="1"/>
            <p:nvPr/>
          </p:nvSpPr>
          <p:spPr>
            <a:xfrm>
              <a:off x="8223885" y="925732"/>
              <a:ext cx="678180" cy="36747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/>
                <a:t>설명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704064" y="1846464"/>
            <a:ext cx="4258350" cy="99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1.</a:t>
            </a:r>
            <a:r>
              <a:rPr lang="ko-KR" altLang="en-US" sz="1200"/>
              <a:t> </a:t>
            </a:r>
            <a:r>
              <a:rPr lang="en-US" altLang="ko-KR" sz="1200"/>
              <a:t>TABLE: member_info</a:t>
            </a:r>
          </a:p>
          <a:p>
            <a:pPr lvl="0">
              <a:defRPr/>
            </a:pPr>
            <a:r>
              <a:rPr lang="en-US" altLang="ko-KR" sz="1200"/>
              <a:t>2.</a:t>
            </a:r>
            <a:r>
              <a:rPr lang="ko-KR" altLang="en-US" sz="1200"/>
              <a:t> 핸드폰으로 인증을 진행한 후 비밀번호를 찾을 수 있음</a:t>
            </a:r>
          </a:p>
          <a:p>
            <a:pPr lvl="0">
              <a:defRPr/>
            </a:pPr>
            <a:r>
              <a:rPr lang="ko-KR" altLang="en-US" sz="1200"/>
              <a:t>즉 핸드폰 인증을 하지 않으면 비밀번호를 찾을 수 없음</a:t>
            </a:r>
          </a:p>
          <a:p>
            <a:pPr lvl="0">
              <a:defRPr/>
            </a:pPr>
            <a:r>
              <a:rPr lang="en-US" altLang="ko-KR" sz="1200"/>
              <a:t>3.</a:t>
            </a:r>
            <a:r>
              <a:rPr lang="ko-KR" altLang="en-US" sz="1200"/>
              <a:t> 각 입력칸은 키보드 엔터키를 누르면 다음으로 이동할 수있게 함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98621" y="3165263"/>
            <a:ext cx="671215" cy="263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꽃집명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553730" y="3123950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824527" y="3177949"/>
            <a:ext cx="671215" cy="265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대표자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4479637" y="3137406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47547" y="3666633"/>
            <a:ext cx="10718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전화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78364" y="3631951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824527" y="3662339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핸드폰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479637" y="3621796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74075" y="4174225"/>
            <a:ext cx="10718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이메일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553730" y="4156884"/>
            <a:ext cx="457604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58595" y="4722360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주소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513704" y="4681817"/>
            <a:ext cx="4582295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138812" y="4722360"/>
            <a:ext cx="868382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주소찾기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507837" y="5139017"/>
            <a:ext cx="2971800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77369" y="5162627"/>
            <a:ext cx="8524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상세주소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00782" y="1552021"/>
            <a:ext cx="6562414" cy="48956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762926" y="5732500"/>
            <a:ext cx="1013977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회원가입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9773" y="3647023"/>
            <a:ext cx="522910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인증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701" y="1790740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아이디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529810" y="1749427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90753" y="2324850"/>
            <a:ext cx="12581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비밀번호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507837" y="2284163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3271790" y="2338261"/>
            <a:ext cx="12581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비밀번호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8874" y="2297574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278665" y="1796967"/>
            <a:ext cx="1013977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중복확인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615464" y="2897937"/>
            <a:ext cx="5939624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49"/>
          <p:cNvSpPr txBox="1"/>
          <p:nvPr/>
        </p:nvSpPr>
        <p:spPr>
          <a:xfrm>
            <a:off x="315121" y="264367"/>
            <a:ext cx="19384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5.</a:t>
            </a:r>
            <a:r>
              <a:rPr lang="ko-KR" altLang="en-US" b="1"/>
              <a:t> 회원가입 화면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0" y="1341197"/>
            <a:ext cx="12118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rot="16200000" flipH="1">
            <a:off x="4397848" y="3732072"/>
            <a:ext cx="59940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0"/>
          <p:cNvSpPr txBox="1"/>
          <p:nvPr/>
        </p:nvSpPr>
        <p:spPr>
          <a:xfrm>
            <a:off x="3137535" y="925732"/>
            <a:ext cx="678180" cy="35823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화면</a:t>
            </a:r>
          </a:p>
        </p:txBody>
      </p:sp>
      <p:sp>
        <p:nvSpPr>
          <p:cNvPr id="41" name="TextBox 10"/>
          <p:cNvSpPr txBox="1"/>
          <p:nvPr/>
        </p:nvSpPr>
        <p:spPr>
          <a:xfrm>
            <a:off x="9128760" y="925732"/>
            <a:ext cx="678180" cy="36747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설명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6184" y="1673282"/>
            <a:ext cx="4258350" cy="1915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1.</a:t>
            </a:r>
            <a:r>
              <a:rPr lang="ko-KR" altLang="en-US" sz="1200"/>
              <a:t> </a:t>
            </a:r>
            <a:r>
              <a:rPr lang="en-US" altLang="ko-KR" sz="1200"/>
              <a:t>TABLE: member_info</a:t>
            </a:r>
          </a:p>
          <a:p>
            <a:pPr lvl="0">
              <a:defRPr/>
            </a:pPr>
            <a:r>
              <a:rPr lang="en-US" altLang="ko-KR" sz="1200"/>
              <a:t>2.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아이디</a:t>
            </a:r>
            <a:r>
              <a:rPr lang="en-US" altLang="ko-KR" sz="1200"/>
              <a:t>’</a:t>
            </a:r>
            <a:r>
              <a:rPr lang="ko-KR" altLang="en-US" sz="1200"/>
              <a:t>는 중복확인 하여 기존 등록된 아이디가 있으면</a:t>
            </a:r>
            <a:r>
              <a:rPr lang="en-US" altLang="ko-KR" sz="1200"/>
              <a:t>,</a:t>
            </a:r>
            <a:r>
              <a:rPr lang="ko-KR" altLang="en-US" sz="1200"/>
              <a:t> 아이디 중복이라 하고</a:t>
            </a:r>
            <a:r>
              <a:rPr lang="en-US" altLang="ko-KR" sz="1200"/>
              <a:t>,</a:t>
            </a:r>
            <a:r>
              <a:rPr lang="ko-KR" altLang="en-US" sz="1200"/>
              <a:t> 다른 아이디 입력 요청</a:t>
            </a:r>
          </a:p>
          <a:p>
            <a:pPr lvl="0">
              <a:defRPr/>
            </a:pPr>
            <a:r>
              <a:rPr lang="en-US" altLang="ko-KR" sz="1200"/>
              <a:t>3.</a:t>
            </a:r>
            <a:r>
              <a:rPr lang="ko-KR" altLang="en-US" sz="1200"/>
              <a:t>각 입력칸은 키보드 엔터키를 누르면 다음으로 이동할 수있게 함</a:t>
            </a:r>
            <a:r>
              <a:rPr lang="en-US" altLang="ko-KR" sz="1200"/>
              <a:t>.</a:t>
            </a:r>
          </a:p>
          <a:p>
            <a:pPr lvl="0">
              <a:defRPr/>
            </a:pPr>
            <a:r>
              <a:rPr lang="en-US" altLang="ko-KR" sz="1200"/>
              <a:t>4.</a:t>
            </a:r>
            <a:r>
              <a:rPr lang="ko-KR" altLang="en-US" sz="1200"/>
              <a:t>핸드폰 </a:t>
            </a:r>
            <a:r>
              <a:rPr lang="en-US" altLang="ko-KR" sz="1200"/>
              <a:t>‘</a:t>
            </a:r>
            <a:r>
              <a:rPr lang="ko-KR" altLang="en-US" sz="1200"/>
              <a:t>인증</a:t>
            </a:r>
            <a:r>
              <a:rPr lang="en-US" altLang="ko-KR" sz="1200"/>
              <a:t>’</a:t>
            </a:r>
            <a:r>
              <a:rPr lang="ko-KR" altLang="en-US" sz="1200"/>
              <a:t>도 진행해야 함</a:t>
            </a:r>
          </a:p>
          <a:p>
            <a:pPr lvl="0">
              <a:defRPr/>
            </a:pPr>
            <a:r>
              <a:rPr lang="en-US" altLang="ko-KR" sz="1200"/>
              <a:t>5.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주소찾기</a:t>
            </a:r>
            <a:r>
              <a:rPr lang="en-US" altLang="ko-KR" sz="1200"/>
              <a:t>’</a:t>
            </a:r>
            <a:r>
              <a:rPr lang="ko-KR" altLang="en-US" sz="1200"/>
              <a:t> 버튼을 누르면 주소 찾는 화면이 나옴</a:t>
            </a:r>
          </a:p>
          <a:p>
            <a:pPr lvl="0">
              <a:defRPr/>
            </a:pPr>
            <a:r>
              <a:rPr lang="en-US" altLang="ko-KR" sz="1200"/>
              <a:t>6.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회원가입</a:t>
            </a:r>
            <a:r>
              <a:rPr lang="en-US" altLang="ko-KR" sz="1200"/>
              <a:t>’</a:t>
            </a:r>
            <a:r>
              <a:rPr lang="ko-KR" altLang="en-US" sz="1200"/>
              <a:t>버튼을 눌러 정상적으로 </a:t>
            </a:r>
            <a:r>
              <a:rPr lang="en-US" altLang="ko-KR" sz="1200"/>
              <a:t>Table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저장이 되면</a:t>
            </a:r>
          </a:p>
          <a:p>
            <a:pPr lvl="0">
              <a:defRPr/>
            </a:pPr>
            <a:r>
              <a:rPr lang="en-US" altLang="ko-KR" sz="1200"/>
              <a:t>‘</a:t>
            </a:r>
            <a:r>
              <a:rPr lang="ko-KR" altLang="en-US" sz="1200"/>
              <a:t>회원가입완료</a:t>
            </a:r>
            <a:r>
              <a:rPr lang="en-US" altLang="ko-KR" sz="1200"/>
              <a:t>’</a:t>
            </a:r>
            <a:r>
              <a:rPr lang="ko-KR" altLang="en-US" sz="1200"/>
              <a:t> 메세지 보여줌</a:t>
            </a:r>
            <a:r>
              <a:rPr lang="en-US" altLang="ko-KR" sz="1200"/>
              <a:t>.</a:t>
            </a:r>
          </a:p>
          <a:p>
            <a:pPr lvl="0">
              <a:defRPr/>
            </a:pPr>
            <a:endParaRPr lang="en-US" altLang="ko-KR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98621" y="3165263"/>
            <a:ext cx="671215" cy="263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꽃집명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553730" y="3123950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824527" y="3177949"/>
            <a:ext cx="671215" cy="265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대표자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4479637" y="3137406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47547" y="3666633"/>
            <a:ext cx="10718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전화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78364" y="3631951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824527" y="3662339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핸드폰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479637" y="3621796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74075" y="4174225"/>
            <a:ext cx="10718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이메일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553730" y="4156884"/>
            <a:ext cx="457604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58595" y="4722360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주소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513704" y="4681817"/>
            <a:ext cx="4582295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138812" y="4722360"/>
            <a:ext cx="868382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주소찾기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507837" y="5139017"/>
            <a:ext cx="2971800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77369" y="5162627"/>
            <a:ext cx="8524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상세주소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00782" y="1552021"/>
            <a:ext cx="6562414" cy="48956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762926" y="5732500"/>
            <a:ext cx="1013977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수정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9773" y="3647023"/>
            <a:ext cx="522910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인증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701" y="1790740"/>
            <a:ext cx="671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아이디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529810" y="1749427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90753" y="2324850"/>
            <a:ext cx="12581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비밀번호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507837" y="2284163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3271790" y="2338261"/>
            <a:ext cx="12581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200"/>
              <a:t>비밀번호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8874" y="2297574"/>
            <a:ext cx="1616363" cy="34636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615464" y="2897937"/>
            <a:ext cx="5939624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49"/>
          <p:cNvSpPr txBox="1"/>
          <p:nvPr/>
        </p:nvSpPr>
        <p:spPr>
          <a:xfrm>
            <a:off x="315121" y="264367"/>
            <a:ext cx="23956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5-1.</a:t>
            </a:r>
            <a:r>
              <a:rPr lang="ko-KR" altLang="en-US" b="1"/>
              <a:t> 마이페이지 화면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0" y="1341197"/>
            <a:ext cx="12118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rot="16200000" flipH="1">
            <a:off x="4397848" y="3732072"/>
            <a:ext cx="59940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0"/>
          <p:cNvSpPr txBox="1"/>
          <p:nvPr/>
        </p:nvSpPr>
        <p:spPr>
          <a:xfrm>
            <a:off x="3137535" y="925732"/>
            <a:ext cx="678180" cy="35823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화면</a:t>
            </a:r>
          </a:p>
        </p:txBody>
      </p:sp>
      <p:sp>
        <p:nvSpPr>
          <p:cNvPr id="41" name="TextBox 10"/>
          <p:cNvSpPr txBox="1"/>
          <p:nvPr/>
        </p:nvSpPr>
        <p:spPr>
          <a:xfrm>
            <a:off x="9128760" y="925732"/>
            <a:ext cx="678180" cy="36747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설명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6184" y="1673282"/>
            <a:ext cx="42583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1.</a:t>
            </a:r>
            <a:r>
              <a:rPr lang="ko-KR" altLang="en-US" sz="1200"/>
              <a:t> </a:t>
            </a:r>
            <a:r>
              <a:rPr lang="en-US" altLang="ko-KR" sz="1200"/>
              <a:t>TABLE: member_info</a:t>
            </a:r>
          </a:p>
          <a:p>
            <a:pPr lvl="0">
              <a:defRPr/>
            </a:pPr>
            <a:r>
              <a:rPr lang="en-US" altLang="ko-KR" sz="1200"/>
              <a:t>2.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아이디</a:t>
            </a:r>
            <a:r>
              <a:rPr lang="en-US" altLang="ko-KR" sz="1200"/>
              <a:t>’</a:t>
            </a:r>
            <a:r>
              <a:rPr lang="ko-KR" altLang="en-US" sz="1200"/>
              <a:t>는 수정불가</a:t>
            </a:r>
          </a:p>
          <a:p>
            <a:pPr lvl="0">
              <a:defRPr/>
            </a:pPr>
            <a:r>
              <a:rPr lang="en-US" altLang="ko-KR" sz="1200"/>
              <a:t>3.</a:t>
            </a:r>
            <a:r>
              <a:rPr lang="ko-KR" altLang="en-US" sz="1200"/>
              <a:t>각 입력칸은 키보드 엔터키를 누르면 다음으로 이동할 수있게 함</a:t>
            </a:r>
            <a:r>
              <a:rPr lang="en-US" altLang="ko-KR" sz="1200"/>
              <a:t>.</a:t>
            </a:r>
          </a:p>
          <a:p>
            <a:pPr lvl="0">
              <a:defRPr/>
            </a:pPr>
            <a:r>
              <a:rPr lang="en-US" altLang="ko-KR" sz="1200"/>
              <a:t>4.</a:t>
            </a:r>
            <a:r>
              <a:rPr lang="ko-KR" altLang="en-US" sz="1200"/>
              <a:t>핸드폰 </a:t>
            </a:r>
            <a:r>
              <a:rPr lang="en-US" altLang="ko-KR" sz="1200"/>
              <a:t>‘</a:t>
            </a:r>
            <a:r>
              <a:rPr lang="ko-KR" altLang="en-US" sz="1200"/>
              <a:t>인증</a:t>
            </a:r>
            <a:r>
              <a:rPr lang="en-US" altLang="ko-KR" sz="1200"/>
              <a:t>’</a:t>
            </a:r>
            <a:r>
              <a:rPr lang="ko-KR" altLang="en-US" sz="1200"/>
              <a:t> 진행해야 수정가능함</a:t>
            </a:r>
          </a:p>
          <a:p>
            <a:pPr lvl="0">
              <a:defRPr/>
            </a:pPr>
            <a:r>
              <a:rPr lang="en-US" altLang="ko-KR" sz="1200"/>
              <a:t>5.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주소찾기</a:t>
            </a:r>
            <a:r>
              <a:rPr lang="en-US" altLang="ko-KR" sz="1200"/>
              <a:t>’</a:t>
            </a:r>
            <a:r>
              <a:rPr lang="ko-KR" altLang="en-US" sz="1200"/>
              <a:t> 버튼을 누르면 주소 찾는 화면이 나옴</a:t>
            </a:r>
          </a:p>
          <a:p>
            <a:pPr lvl="0">
              <a:defRPr/>
            </a:pPr>
            <a:r>
              <a:rPr lang="en-US" altLang="ko-KR" sz="1200"/>
              <a:t>6.</a:t>
            </a:r>
            <a:r>
              <a:rPr lang="ko-KR" altLang="en-US" sz="1200"/>
              <a:t> </a:t>
            </a:r>
            <a:r>
              <a:rPr lang="en-US" altLang="ko-KR" sz="1200"/>
              <a:t>‘</a:t>
            </a:r>
            <a:r>
              <a:rPr lang="ko-KR" altLang="en-US" sz="1200"/>
              <a:t>수정</a:t>
            </a:r>
            <a:r>
              <a:rPr lang="en-US" altLang="ko-KR" sz="1200"/>
              <a:t>’</a:t>
            </a:r>
            <a:r>
              <a:rPr lang="ko-KR" altLang="en-US" sz="1200"/>
              <a:t>버튼을 눌러 정상적으로 </a:t>
            </a:r>
            <a:r>
              <a:rPr lang="en-US" altLang="ko-KR" sz="1200"/>
              <a:t>Table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저장이 되면</a:t>
            </a:r>
          </a:p>
          <a:p>
            <a:pPr lvl="0">
              <a:defRPr/>
            </a:pPr>
            <a:r>
              <a:rPr lang="en-US" altLang="ko-KR" sz="1200"/>
              <a:t>‘</a:t>
            </a:r>
            <a:r>
              <a:rPr lang="ko-KR" altLang="en-US" sz="1200"/>
              <a:t>수정완료</a:t>
            </a:r>
            <a:r>
              <a:rPr lang="en-US" altLang="ko-KR" sz="1200"/>
              <a:t>’</a:t>
            </a:r>
            <a:r>
              <a:rPr lang="ko-KR" altLang="en-US" sz="1200"/>
              <a:t> 메세지 보여줌</a:t>
            </a:r>
            <a:r>
              <a:rPr lang="en-US" altLang="ko-KR" sz="1200"/>
              <a:t>.</a:t>
            </a:r>
          </a:p>
          <a:p>
            <a:pPr lvl="0">
              <a:defRPr/>
            </a:pPr>
            <a:endParaRPr lang="en-US" altLang="ko-KR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8"/>
          <p:cNvSpPr txBox="1"/>
          <p:nvPr/>
        </p:nvSpPr>
        <p:spPr>
          <a:xfrm>
            <a:off x="704971" y="3064751"/>
            <a:ext cx="5985728" cy="19371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t" anchorCtr="0">
            <a:noAutofit/>
          </a:bodyPr>
          <a:lstStyle/>
          <a:p>
            <a:pPr algn="ctr">
              <a:defRPr/>
            </a:pPr>
            <a:r>
              <a:rPr lang="ko-KR" altLang="en-US"/>
              <a:t>주문접수</a:t>
            </a:r>
            <a:r>
              <a:rPr lang="en-US" altLang="ko-KR"/>
              <a:t> </a:t>
            </a:r>
            <a:r>
              <a:rPr lang="ko-KR" altLang="en-US"/>
              <a:t>상황판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ko-KR" altLang="en-US" sz="1400" b="1">
                <a:solidFill>
                  <a:srgbClr val="289B6E"/>
                </a:solidFill>
              </a:rPr>
              <a:t>주문수집중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71135" y="3116580"/>
            <a:ext cx="1202246" cy="272415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주문수집 중지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772901" y="3530283"/>
          <a:ext cx="5824221" cy="129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51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2</a:t>
                      </a: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가게음성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쇼핑몰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인터라넷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작동</a:t>
                      </a:r>
                      <a:endParaRPr lang="en-US" altLang="ko-KR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현재작업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50"/>
                        <a:t>STT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주문정보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분석중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전화기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꺼져있음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화원관리입력중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대기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FF0000"/>
                          </a:solidFill>
                        </a:rPr>
                        <a:t>미사용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오늘작업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5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357198" y="1367606"/>
            <a:ext cx="6757706" cy="51289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95959" y="1590770"/>
            <a:ext cx="30187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주문접수상황판  주문접수조회  환경설정</a:t>
            </a:r>
            <a:endParaRPr lang="en-US" altLang="ko-KR" sz="1200" b="1"/>
          </a:p>
        </p:txBody>
      </p:sp>
      <p:grpSp>
        <p:nvGrpSpPr>
          <p:cNvPr id="61" name="그룹 60"/>
          <p:cNvGrpSpPr/>
          <p:nvPr/>
        </p:nvGrpSpPr>
        <p:grpSpPr>
          <a:xfrm>
            <a:off x="1877968" y="3812376"/>
            <a:ext cx="4401849" cy="248949"/>
            <a:chOff x="2009750" y="2650072"/>
            <a:chExt cx="4401849" cy="248949"/>
          </a:xfrm>
        </p:grpSpPr>
        <p:sp>
          <p:nvSpPr>
            <p:cNvPr id="22" name="타원 21"/>
            <p:cNvSpPr/>
            <p:nvPr/>
          </p:nvSpPr>
          <p:spPr>
            <a:xfrm>
              <a:off x="200975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3" name="타원 22"/>
            <p:cNvSpPr/>
            <p:nvPr/>
          </p:nvSpPr>
          <p:spPr>
            <a:xfrm>
              <a:off x="2857476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4" name="타원 23"/>
            <p:cNvSpPr/>
            <p:nvPr/>
          </p:nvSpPr>
          <p:spPr>
            <a:xfrm>
              <a:off x="370520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5" name="타원 24"/>
            <p:cNvSpPr/>
            <p:nvPr/>
          </p:nvSpPr>
          <p:spPr>
            <a:xfrm>
              <a:off x="4524350" y="2650072"/>
              <a:ext cx="248949" cy="248949"/>
            </a:xfrm>
            <a:prstGeom prst="ellipse">
              <a:avLst/>
            </a:prstGeom>
            <a:solidFill>
              <a:srgbClr val="289B6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9" name="타원 23"/>
            <p:cNvSpPr/>
            <p:nvPr/>
          </p:nvSpPr>
          <p:spPr>
            <a:xfrm>
              <a:off x="534350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0" name="타원 23"/>
            <p:cNvSpPr/>
            <p:nvPr/>
          </p:nvSpPr>
          <p:spPr>
            <a:xfrm>
              <a:off x="61626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16" name="직사각형 56"/>
          <p:cNvSpPr/>
          <p:nvPr/>
        </p:nvSpPr>
        <p:spPr>
          <a:xfrm>
            <a:off x="3358162" y="1615015"/>
            <a:ext cx="25375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서울꽃집   마이페이지   로그아웃</a:t>
            </a:r>
          </a:p>
        </p:txBody>
      </p:sp>
      <p:sp>
        <p:nvSpPr>
          <p:cNvPr id="17" name="TextBox 49"/>
          <p:cNvSpPr txBox="1"/>
          <p:nvPr/>
        </p:nvSpPr>
        <p:spPr>
          <a:xfrm>
            <a:off x="315121" y="264367"/>
            <a:ext cx="32338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 dirty="0"/>
              <a:t>6. </a:t>
            </a:r>
            <a:r>
              <a:rPr lang="ko-KR" altLang="en-US" b="1" dirty="0"/>
              <a:t>홈</a:t>
            </a:r>
            <a:r>
              <a:rPr lang="en-US" altLang="ko-KR" b="1" dirty="0"/>
              <a:t>(Home) </a:t>
            </a:r>
            <a:r>
              <a:rPr lang="ko-KR" altLang="en-US" b="1" dirty="0"/>
              <a:t>화면</a:t>
            </a:r>
            <a:r>
              <a:rPr lang="en-US" altLang="ko-KR" b="1" dirty="0"/>
              <a:t>(</a:t>
            </a:r>
            <a:r>
              <a:rPr lang="ko-KR" altLang="en-US" b="1" dirty="0"/>
              <a:t>로그인 후</a:t>
            </a:r>
            <a:r>
              <a:rPr lang="en-US" altLang="ko-KR" b="1" dirty="0"/>
              <a:t>)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92021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27166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0"/>
          <p:cNvSpPr txBox="1"/>
          <p:nvPr/>
        </p:nvSpPr>
        <p:spPr>
          <a:xfrm>
            <a:off x="3179107" y="585855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 dirty="0"/>
              <a:t>화면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10145692" y="585855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72" y="1594905"/>
            <a:ext cx="4504332" cy="338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1. TABLE: member_info, setting_info</a:t>
            </a:r>
          </a:p>
          <a:p>
            <a:pPr>
              <a:defRPr/>
            </a:pPr>
            <a:endParaRPr lang="en-US" altLang="ko-KR" sz="900"/>
          </a:p>
          <a:p>
            <a:pPr>
              <a:defRPr/>
            </a:pPr>
            <a:r>
              <a:rPr lang="en-US" altLang="ko-KR" sz="900"/>
              <a:t>     ‘member_info’ table</a:t>
            </a:r>
            <a:r>
              <a:rPr lang="ko-KR" altLang="en-US" sz="900"/>
              <a:t>의 </a:t>
            </a:r>
            <a:r>
              <a:rPr lang="en-US" altLang="ko-KR" sz="900"/>
              <a:t>‘shop_name’ </a:t>
            </a:r>
            <a:r>
              <a:rPr lang="ko-KR" altLang="en-US" sz="900"/>
              <a:t>필드 값 </a:t>
            </a:r>
            <a:r>
              <a:rPr lang="en-US" altLang="ko-KR" sz="900"/>
              <a:t>.  </a:t>
            </a:r>
            <a:r>
              <a:rPr lang="ko-KR" altLang="en-US" sz="900"/>
              <a:t>꽃집명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/>
              <a:t>     ‘member_info’ table</a:t>
            </a:r>
            <a:r>
              <a:rPr lang="ko-KR" altLang="en-US" sz="900"/>
              <a:t>의 정보를 보여줌</a:t>
            </a:r>
            <a:r>
              <a:rPr lang="en-US" altLang="ko-KR" sz="900"/>
              <a:t>. </a:t>
            </a:r>
            <a:r>
              <a:rPr lang="ko-KR" altLang="en-US" sz="900"/>
              <a:t>내 정보 수정가능</a:t>
            </a:r>
            <a:r>
              <a:rPr lang="en-US" altLang="ko-KR" sz="900"/>
              <a:t>.</a:t>
            </a:r>
          </a:p>
          <a:p>
            <a:pPr>
              <a:defRPr/>
            </a:pPr>
            <a:r>
              <a:rPr lang="en-US" altLang="ko-KR" sz="900"/>
              <a:t>    </a:t>
            </a:r>
            <a:r>
              <a:rPr lang="ko-KR" altLang="en-US" sz="900"/>
              <a:t> </a:t>
            </a:r>
            <a:r>
              <a:rPr lang="en-US" altLang="ko-KR" sz="900"/>
              <a:t>(</a:t>
            </a:r>
            <a:r>
              <a:rPr lang="en-US" altLang="ko-KR" sz="900" b="1"/>
              <a:t>4-1.</a:t>
            </a:r>
            <a:r>
              <a:rPr lang="ko-KR" altLang="en-US" sz="900" b="1"/>
              <a:t> 마이페이지 화면 </a:t>
            </a:r>
            <a:r>
              <a:rPr lang="en-US" altLang="ko-KR" sz="900" b="1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/>
              <a:t>    ‘</a:t>
            </a:r>
            <a:r>
              <a:rPr lang="ko-KR" altLang="en-US" sz="900"/>
              <a:t>로그아웃</a:t>
            </a:r>
            <a:r>
              <a:rPr lang="en-US" altLang="ko-KR" sz="900"/>
              <a:t>’</a:t>
            </a:r>
            <a:r>
              <a:rPr lang="ko-KR" altLang="en-US" sz="900"/>
              <a:t> 클릭하면</a:t>
            </a:r>
            <a:r>
              <a:rPr lang="en-US" altLang="ko-KR" sz="900"/>
              <a:t>, </a:t>
            </a:r>
            <a:r>
              <a:rPr lang="ko-KR" altLang="en-US" sz="900"/>
              <a:t>로그아웃하고</a:t>
            </a:r>
            <a:r>
              <a:rPr lang="en-US" altLang="ko-KR" sz="900" b="1">
                <a:solidFill>
                  <a:srgbClr val="FF0000"/>
                </a:solidFill>
              </a:rPr>
              <a:t>, </a:t>
            </a:r>
            <a:r>
              <a:rPr lang="ko-KR" altLang="en-US" sz="900"/>
              <a:t>"ggotAIya 홈 화면-로그인 전 화면"이 나타남</a:t>
            </a:r>
          </a:p>
          <a:p>
            <a:pPr lvl="0">
              <a:defRPr/>
            </a:pPr>
            <a:endParaRPr lang="en-US" altLang="ko-KR" sz="900"/>
          </a:p>
          <a:p>
            <a:pPr lvl="0">
              <a:defRPr/>
            </a:pPr>
            <a:r>
              <a:rPr lang="en-US" altLang="ko-KR" sz="900"/>
              <a:t>2. ‘</a:t>
            </a:r>
            <a:r>
              <a:rPr lang="ko-KR" altLang="en-US" sz="900"/>
              <a:t>작동</a:t>
            </a:r>
            <a:r>
              <a:rPr lang="en-US" altLang="ko-KR" sz="900"/>
              <a:t>’</a:t>
            </a:r>
          </a:p>
          <a:p>
            <a:pPr lvl="0">
              <a:defRPr/>
            </a:pPr>
            <a:r>
              <a:rPr lang="en-US" altLang="ko-KR" sz="900"/>
              <a:t>(1)</a:t>
            </a:r>
            <a:r>
              <a:rPr lang="ko-KR" altLang="en-US" sz="900"/>
              <a:t>주문수집 채널</a:t>
            </a:r>
            <a:r>
              <a:rPr lang="en-US" altLang="ko-KR" sz="900"/>
              <a:t>('</a:t>
            </a:r>
            <a:r>
              <a:rPr lang="ko-KR" altLang="en-US" sz="900"/>
              <a:t>가게전화</a:t>
            </a:r>
            <a:r>
              <a:rPr lang="en-US" altLang="ko-KR" sz="900"/>
              <a:t>', '</a:t>
            </a:r>
            <a:r>
              <a:rPr lang="ko-KR" altLang="en-US" sz="900"/>
              <a:t>핸드폰</a:t>
            </a:r>
            <a:r>
              <a:rPr lang="en-US" altLang="ko-KR" sz="900"/>
              <a:t>', '</a:t>
            </a:r>
            <a:r>
              <a:rPr lang="ko-KR" altLang="en-US" sz="900"/>
              <a:t>쇼핑몰</a:t>
            </a:r>
            <a:r>
              <a:rPr lang="en-US" altLang="ko-KR" sz="900"/>
              <a:t>', '</a:t>
            </a:r>
            <a:r>
              <a:rPr lang="ko-KR" altLang="en-US" sz="900"/>
              <a:t>인터라넷</a:t>
            </a:r>
            <a:r>
              <a:rPr lang="en-US" altLang="ko-KR" sz="900"/>
              <a:t>', '</a:t>
            </a:r>
            <a:r>
              <a:rPr lang="ko-KR" altLang="en-US" sz="900"/>
              <a:t>가게음성</a:t>
            </a:r>
            <a:r>
              <a:rPr lang="en-US" altLang="ko-KR" sz="900"/>
              <a:t>')</a:t>
            </a:r>
            <a:r>
              <a:rPr lang="ko-KR" altLang="en-US" sz="900"/>
              <a:t>의 동작여부를 표시함</a:t>
            </a:r>
            <a:r>
              <a:rPr lang="en-US" altLang="ko-KR" sz="900"/>
              <a:t>. </a:t>
            </a:r>
            <a:r>
              <a:rPr lang="ko-KR" altLang="en-US" sz="900"/>
              <a:t>즉 </a:t>
            </a:r>
            <a:r>
              <a:rPr lang="en-US" altLang="ko-KR" sz="900"/>
              <a:t>ggotAIorder</a:t>
            </a:r>
            <a:r>
              <a:rPr lang="ko-KR" altLang="en-US" sz="900"/>
              <a:t>가 각각의 주문수집 채널로 부터 주문수집이 가능한 상태인지를 표시함</a:t>
            </a:r>
            <a:r>
              <a:rPr lang="en-US" altLang="ko-KR" sz="900"/>
              <a:t>.</a:t>
            </a:r>
          </a:p>
          <a:p>
            <a:pPr lvl="0">
              <a:defRPr/>
            </a:pPr>
            <a:r>
              <a:rPr lang="en-US" altLang="ko-KR" sz="900"/>
              <a:t>(2)</a:t>
            </a:r>
            <a:r>
              <a:rPr lang="ko-KR" altLang="en-US" sz="900"/>
              <a:t>주문수집이 가능한 상태</a:t>
            </a:r>
            <a:r>
              <a:rPr lang="en-US" altLang="ko-KR" sz="900"/>
              <a:t>: '</a:t>
            </a:r>
            <a:r>
              <a:rPr lang="ko-KR" altLang="en-US" sz="900"/>
              <a:t>녹색원</a:t>
            </a:r>
            <a:r>
              <a:rPr lang="en-US" altLang="ko-KR" sz="900"/>
              <a:t>' </a:t>
            </a:r>
            <a:r>
              <a:rPr lang="ko-KR" altLang="en-US" sz="900"/>
              <a:t>표시</a:t>
            </a:r>
            <a:r>
              <a:rPr lang="en-US" altLang="ko-KR" sz="900"/>
              <a:t>, </a:t>
            </a:r>
            <a:r>
              <a:rPr lang="ko-KR" altLang="en-US" sz="900"/>
              <a:t>주문수집이 불가능한 상태</a:t>
            </a:r>
            <a:r>
              <a:rPr lang="en-US" altLang="ko-KR" sz="900"/>
              <a:t>: '</a:t>
            </a:r>
            <a:r>
              <a:rPr lang="ko-KR" altLang="en-US" sz="900"/>
              <a:t>빨간원</a:t>
            </a:r>
            <a:r>
              <a:rPr lang="en-US" altLang="ko-KR" sz="900"/>
              <a:t>' </a:t>
            </a:r>
            <a:r>
              <a:rPr lang="ko-KR" altLang="en-US" sz="900"/>
              <a:t>표시</a:t>
            </a:r>
            <a:r>
              <a:rPr lang="en-US" altLang="ko-KR" sz="900"/>
              <a:t>.</a:t>
            </a:r>
          </a:p>
          <a:p>
            <a:pPr lvl="0">
              <a:defRPr/>
            </a:pPr>
            <a:r>
              <a:rPr lang="en-US" altLang="ko-KR" sz="900"/>
              <a:t>(3)</a:t>
            </a:r>
            <a:r>
              <a:rPr lang="ko-KR" altLang="en-US" sz="900"/>
              <a:t>주문수집이 불가능한 상태</a:t>
            </a:r>
            <a:r>
              <a:rPr lang="en-US" altLang="ko-KR" sz="900"/>
              <a:t>:</a:t>
            </a:r>
          </a:p>
          <a:p>
            <a:pPr lvl="0">
              <a:defRPr/>
            </a:pPr>
            <a:r>
              <a:rPr lang="en-US" altLang="ko-KR" sz="900">
                <a:latin typeface="맑은 고딕"/>
                <a:ea typeface="맑은 고딕"/>
              </a:rPr>
              <a:t>①</a:t>
            </a:r>
            <a:r>
              <a:rPr lang="en-US" altLang="ko-KR" sz="900"/>
              <a:t>TABLE setting_info</a:t>
            </a:r>
            <a:r>
              <a:rPr lang="ko-KR" altLang="en-US" sz="900"/>
              <a:t>의 </a:t>
            </a:r>
            <a:r>
              <a:rPr lang="en-US" altLang="ko-KR" sz="900"/>
              <a:t>'order_hp_1', 'order_landline_1', 'shopping_mall_url','intranet_url' </a:t>
            </a:r>
            <a:r>
              <a:rPr lang="ko-KR" altLang="en-US" sz="900"/>
              <a:t>필드값이 </a:t>
            </a:r>
            <a:r>
              <a:rPr lang="en-US" altLang="ko-KR" sz="900"/>
              <a:t>NULL</a:t>
            </a:r>
            <a:r>
              <a:rPr lang="ko-KR" altLang="en-US" sz="900"/>
              <a:t>인 경우</a:t>
            </a:r>
            <a:r>
              <a:rPr lang="en-US" altLang="ko-KR" sz="900"/>
              <a:t>:</a:t>
            </a:r>
            <a:r>
              <a:rPr lang="ko-KR" altLang="en-US" sz="900"/>
              <a:t>이 경우에는 </a:t>
            </a:r>
            <a:r>
              <a:rPr lang="en-US" altLang="ko-KR" sz="900"/>
              <a:t>'</a:t>
            </a:r>
            <a:r>
              <a:rPr lang="ko-KR" altLang="en-US" sz="900"/>
              <a:t>작동</a:t>
            </a:r>
            <a:r>
              <a:rPr lang="en-US" altLang="ko-KR" sz="900"/>
              <a:t>'</a:t>
            </a:r>
            <a:r>
              <a:rPr lang="ko-KR" altLang="en-US" sz="900"/>
              <a:t>에는 빨간원</a:t>
            </a:r>
            <a:r>
              <a:rPr lang="en-US" altLang="ko-KR" sz="900"/>
              <a:t>, '</a:t>
            </a:r>
            <a:r>
              <a:rPr lang="ko-KR" altLang="en-US" sz="900"/>
              <a:t>현재작업</a:t>
            </a:r>
            <a:r>
              <a:rPr lang="en-US" altLang="ko-KR" sz="900"/>
              <a:t>'</a:t>
            </a:r>
            <a:r>
              <a:rPr lang="ko-KR" altLang="en-US" sz="900"/>
              <a:t>에는 빨간글씨로 </a:t>
            </a:r>
            <a:r>
              <a:rPr lang="en-US" altLang="ko-KR" sz="900"/>
              <a:t>'</a:t>
            </a:r>
            <a:r>
              <a:rPr lang="ko-KR" altLang="en-US" sz="900"/>
              <a:t>미사용</a:t>
            </a:r>
            <a:r>
              <a:rPr lang="en-US" altLang="ko-KR" sz="900"/>
              <a:t>'</a:t>
            </a:r>
            <a:r>
              <a:rPr lang="ko-KR" altLang="en-US" sz="900"/>
              <a:t>으로 표시함</a:t>
            </a:r>
            <a:r>
              <a:rPr lang="en-US" altLang="ko-KR" sz="900"/>
              <a:t>.</a:t>
            </a:r>
          </a:p>
          <a:p>
            <a:pPr lvl="0">
              <a:defRPr/>
            </a:pPr>
            <a:r>
              <a:rPr lang="en-US" altLang="ko-KR" sz="900">
                <a:latin typeface="맑은 고딕"/>
              </a:rPr>
              <a:t>②</a:t>
            </a:r>
            <a:r>
              <a:rPr lang="en-US" altLang="ko-KR" sz="900"/>
              <a:t>Database</a:t>
            </a:r>
            <a:r>
              <a:rPr lang="ko-KR" altLang="en-US" sz="900"/>
              <a:t>에러로 주문 수집이 불가한 경우</a:t>
            </a:r>
            <a:r>
              <a:rPr lang="en-US" altLang="ko-KR" sz="900"/>
              <a:t>: '</a:t>
            </a:r>
            <a:r>
              <a:rPr lang="ko-KR" altLang="en-US" sz="900"/>
              <a:t>작동</a:t>
            </a:r>
            <a:r>
              <a:rPr lang="en-US" altLang="ko-KR" sz="900"/>
              <a:t>'</a:t>
            </a:r>
            <a:r>
              <a:rPr lang="ko-KR" altLang="en-US" sz="900"/>
              <a:t>에는 빨간원</a:t>
            </a:r>
            <a:r>
              <a:rPr lang="en-US" altLang="ko-KR" sz="900"/>
              <a:t>, '</a:t>
            </a:r>
            <a:r>
              <a:rPr lang="ko-KR" altLang="en-US" sz="900"/>
              <a:t>현재작업</a:t>
            </a:r>
            <a:r>
              <a:rPr lang="en-US" altLang="ko-KR" sz="900"/>
              <a:t>'</a:t>
            </a:r>
            <a:r>
              <a:rPr lang="ko-KR" altLang="en-US" sz="900"/>
              <a:t>에는 빨간글씨로 </a:t>
            </a:r>
            <a:r>
              <a:rPr lang="en-US" altLang="ko-KR" sz="900"/>
              <a:t>'</a:t>
            </a:r>
            <a:r>
              <a:rPr lang="ko-KR" altLang="en-US" sz="900"/>
              <a:t>미사용</a:t>
            </a:r>
            <a:r>
              <a:rPr lang="en-US" altLang="ko-KR" sz="900"/>
              <a:t>'</a:t>
            </a:r>
            <a:r>
              <a:rPr lang="ko-KR" altLang="en-US" sz="900"/>
              <a:t>으로 표시함</a:t>
            </a:r>
            <a:r>
              <a:rPr lang="en-US" altLang="ko-KR" sz="900"/>
              <a:t>.</a:t>
            </a:r>
          </a:p>
          <a:p>
            <a:pPr lvl="0">
              <a:defRPr/>
            </a:pPr>
            <a:r>
              <a:rPr lang="en-US" altLang="ko-KR" sz="900">
                <a:latin typeface="맑은 고딕"/>
              </a:rPr>
              <a:t>③</a:t>
            </a:r>
            <a:r>
              <a:rPr lang="ko-KR" altLang="en-US" sz="900"/>
              <a:t>전화기 사용이 안되는 경우</a:t>
            </a:r>
            <a:r>
              <a:rPr lang="en-US" altLang="ko-KR" sz="900"/>
              <a:t>: </a:t>
            </a:r>
          </a:p>
          <a:p>
            <a:pPr lvl="0">
              <a:defRPr/>
            </a:pPr>
            <a:r>
              <a:rPr lang="en-US" altLang="ko-KR" sz="900">
                <a:latin typeface="맑은 고딕"/>
              </a:rPr>
              <a:t>④ </a:t>
            </a:r>
            <a:r>
              <a:rPr lang="ko-KR" altLang="en-US" sz="900"/>
              <a:t>쇼핑몰</a:t>
            </a:r>
            <a:r>
              <a:rPr lang="en-US" altLang="ko-KR" sz="900"/>
              <a:t>, </a:t>
            </a:r>
            <a:r>
              <a:rPr lang="ko-KR" altLang="en-US" sz="900"/>
              <a:t>인터라넷 접속에러 등 각각의 주문수집 불가사유를 </a:t>
            </a:r>
            <a:r>
              <a:rPr lang="en-US" altLang="ko-KR" sz="900"/>
              <a:t>'</a:t>
            </a:r>
            <a:r>
              <a:rPr lang="ko-KR" altLang="en-US" sz="900"/>
              <a:t>현재작업</a:t>
            </a:r>
            <a:r>
              <a:rPr lang="en-US" altLang="ko-KR" sz="900"/>
              <a:t>'</a:t>
            </a:r>
            <a:r>
              <a:rPr lang="ko-KR" altLang="en-US" sz="900"/>
              <a:t>에 빨간글씨로 작성함</a:t>
            </a:r>
            <a:r>
              <a:rPr lang="en-US" altLang="ko-KR" sz="900"/>
              <a:t>.</a:t>
            </a:r>
          </a:p>
          <a:p>
            <a:pPr lvl="0">
              <a:defRPr/>
            </a:pPr>
            <a:r>
              <a:rPr lang="en-US" altLang="ko-KR" sz="900"/>
              <a:t>(4) </a:t>
            </a:r>
            <a:r>
              <a:rPr lang="ko-KR" altLang="en-US" sz="900"/>
              <a:t>주문 가능</a:t>
            </a:r>
            <a:r>
              <a:rPr lang="en-US" altLang="ko-KR" sz="900"/>
              <a:t>/</a:t>
            </a:r>
            <a:r>
              <a:rPr lang="ko-KR" altLang="en-US" sz="900"/>
              <a:t>불가능 상태 테스트 방법은</a:t>
            </a:r>
            <a:r>
              <a:rPr lang="en-US" altLang="ko-KR" sz="900"/>
              <a:t>?</a:t>
            </a:r>
          </a:p>
          <a:p>
            <a:pPr lvl="0">
              <a:defRPr/>
            </a:pPr>
            <a:endParaRPr lang="en-US" altLang="ko-KR" sz="900"/>
          </a:p>
        </p:txBody>
      </p:sp>
      <p:sp>
        <p:nvSpPr>
          <p:cNvPr id="8" name="자유형 7"/>
          <p:cNvSpPr/>
          <p:nvPr/>
        </p:nvSpPr>
        <p:spPr>
          <a:xfrm>
            <a:off x="4148667" y="1803400"/>
            <a:ext cx="3649133" cy="228600"/>
          </a:xfrm>
          <a:custGeom>
            <a:avLst/>
            <a:gdLst>
              <a:gd name="connsiteX0" fmla="*/ 0 w 3649133"/>
              <a:gd name="connsiteY0" fmla="*/ 0 h 196614"/>
              <a:gd name="connsiteX1" fmla="*/ 101600 w 3649133"/>
              <a:gd name="connsiteY1" fmla="*/ 169333 h 196614"/>
              <a:gd name="connsiteX2" fmla="*/ 296333 w 3649133"/>
              <a:gd name="connsiteY2" fmla="*/ 194733 h 196614"/>
              <a:gd name="connsiteX3" fmla="*/ 1481666 w 3649133"/>
              <a:gd name="connsiteY3" fmla="*/ 194733 h 196614"/>
              <a:gd name="connsiteX4" fmla="*/ 3649133 w 3649133"/>
              <a:gd name="connsiteY4" fmla="*/ 169333 h 19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9133" h="196614">
                <a:moveTo>
                  <a:pt x="0" y="0"/>
                </a:moveTo>
                <a:cubicBezTo>
                  <a:pt x="26105" y="68439"/>
                  <a:pt x="52211" y="136878"/>
                  <a:pt x="101600" y="169333"/>
                </a:cubicBezTo>
                <a:cubicBezTo>
                  <a:pt x="150989" y="201789"/>
                  <a:pt x="66322" y="190500"/>
                  <a:pt x="296333" y="194733"/>
                </a:cubicBezTo>
                <a:cubicBezTo>
                  <a:pt x="526344" y="198966"/>
                  <a:pt x="1481666" y="194733"/>
                  <a:pt x="1481666" y="194733"/>
                </a:cubicBezTo>
                <a:lnTo>
                  <a:pt x="3649133" y="169333"/>
                </a:lnTo>
              </a:path>
            </a:pathLst>
          </a:custGeom>
          <a:noFill/>
          <a:ln w="1270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4639733" y="1803400"/>
            <a:ext cx="3132667" cy="414869"/>
          </a:xfrm>
          <a:custGeom>
            <a:avLst/>
            <a:gdLst>
              <a:gd name="connsiteX0" fmla="*/ 0 w 3132667"/>
              <a:gd name="connsiteY0" fmla="*/ 0 h 414869"/>
              <a:gd name="connsiteX1" fmla="*/ 262467 w 3132667"/>
              <a:gd name="connsiteY1" fmla="*/ 347133 h 414869"/>
              <a:gd name="connsiteX2" fmla="*/ 939800 w 3132667"/>
              <a:gd name="connsiteY2" fmla="*/ 414867 h 414869"/>
              <a:gd name="connsiteX3" fmla="*/ 3132667 w 3132667"/>
              <a:gd name="connsiteY3" fmla="*/ 389467 h 414869"/>
              <a:gd name="connsiteX4" fmla="*/ 3132667 w 3132667"/>
              <a:gd name="connsiteY4" fmla="*/ 389467 h 414869"/>
              <a:gd name="connsiteX5" fmla="*/ 3132667 w 3132667"/>
              <a:gd name="connsiteY5" fmla="*/ 389467 h 41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2667" h="414869">
                <a:moveTo>
                  <a:pt x="0" y="0"/>
                </a:moveTo>
                <a:cubicBezTo>
                  <a:pt x="52917" y="138994"/>
                  <a:pt x="105834" y="277988"/>
                  <a:pt x="262467" y="347133"/>
                </a:cubicBezTo>
                <a:cubicBezTo>
                  <a:pt x="419100" y="416278"/>
                  <a:pt x="939800" y="414867"/>
                  <a:pt x="939800" y="414867"/>
                </a:cubicBezTo>
                <a:lnTo>
                  <a:pt x="3132667" y="389467"/>
                </a:lnTo>
                <a:lnTo>
                  <a:pt x="3132667" y="389467"/>
                </a:lnTo>
                <a:lnTo>
                  <a:pt x="3132667" y="389467"/>
                </a:lnTo>
              </a:path>
            </a:pathLst>
          </a:custGeom>
          <a:noFill/>
          <a:ln>
            <a:solidFill>
              <a:srgbClr val="00B0F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5282170" y="1811867"/>
            <a:ext cx="2481763" cy="696774"/>
          </a:xfrm>
          <a:custGeom>
            <a:avLst/>
            <a:gdLst>
              <a:gd name="connsiteX0" fmla="*/ 1030 w 2481763"/>
              <a:gd name="connsiteY0" fmla="*/ 0 h 696774"/>
              <a:gd name="connsiteX1" fmla="*/ 77230 w 2481763"/>
              <a:gd name="connsiteY1" fmla="*/ 152400 h 696774"/>
              <a:gd name="connsiteX2" fmla="*/ 492097 w 2481763"/>
              <a:gd name="connsiteY2" fmla="*/ 626533 h 696774"/>
              <a:gd name="connsiteX3" fmla="*/ 1423430 w 2481763"/>
              <a:gd name="connsiteY3" fmla="*/ 694266 h 696774"/>
              <a:gd name="connsiteX4" fmla="*/ 2481763 w 2481763"/>
              <a:gd name="connsiteY4" fmla="*/ 677333 h 696774"/>
              <a:gd name="connsiteX5" fmla="*/ 2481763 w 2481763"/>
              <a:gd name="connsiteY5" fmla="*/ 677333 h 696774"/>
              <a:gd name="connsiteX6" fmla="*/ 2481763 w 2481763"/>
              <a:gd name="connsiteY6" fmla="*/ 677333 h 696774"/>
              <a:gd name="connsiteX7" fmla="*/ 2473297 w 2481763"/>
              <a:gd name="connsiteY7" fmla="*/ 677333 h 69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81763" h="696774">
                <a:moveTo>
                  <a:pt x="1030" y="0"/>
                </a:moveTo>
                <a:cubicBezTo>
                  <a:pt x="-1792" y="23989"/>
                  <a:pt x="-4614" y="47978"/>
                  <a:pt x="77230" y="152400"/>
                </a:cubicBezTo>
                <a:cubicBezTo>
                  <a:pt x="159074" y="256822"/>
                  <a:pt x="267730" y="536222"/>
                  <a:pt x="492097" y="626533"/>
                </a:cubicBezTo>
                <a:cubicBezTo>
                  <a:pt x="716464" y="716844"/>
                  <a:pt x="1423430" y="694266"/>
                  <a:pt x="1423430" y="694266"/>
                </a:cubicBezTo>
                <a:lnTo>
                  <a:pt x="2481763" y="677333"/>
                </a:lnTo>
                <a:lnTo>
                  <a:pt x="2481763" y="677333"/>
                </a:lnTo>
                <a:lnTo>
                  <a:pt x="2481763" y="677333"/>
                </a:lnTo>
                <a:lnTo>
                  <a:pt x="2473297" y="677333"/>
                </a:lnTo>
              </a:path>
            </a:pathLst>
          </a:custGeom>
          <a:noFill/>
          <a:ln>
            <a:solidFill>
              <a:srgbClr val="7030A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1337733" y="2773486"/>
            <a:ext cx="6265334" cy="1104247"/>
          </a:xfrm>
          <a:custGeom>
            <a:avLst/>
            <a:gdLst>
              <a:gd name="connsiteX0" fmla="*/ 0 w 6265334"/>
              <a:gd name="connsiteY0" fmla="*/ 1104247 h 1104247"/>
              <a:gd name="connsiteX1" fmla="*/ 1016000 w 6265334"/>
              <a:gd name="connsiteY1" fmla="*/ 147514 h 1104247"/>
              <a:gd name="connsiteX2" fmla="*/ 2844800 w 6265334"/>
              <a:gd name="connsiteY2" fmla="*/ 3581 h 1104247"/>
              <a:gd name="connsiteX3" fmla="*/ 6265334 w 6265334"/>
              <a:gd name="connsiteY3" fmla="*/ 45914 h 1104247"/>
              <a:gd name="connsiteX4" fmla="*/ 6265334 w 6265334"/>
              <a:gd name="connsiteY4" fmla="*/ 45914 h 1104247"/>
              <a:gd name="connsiteX5" fmla="*/ 6265334 w 6265334"/>
              <a:gd name="connsiteY5" fmla="*/ 45914 h 1104247"/>
              <a:gd name="connsiteX6" fmla="*/ 6265334 w 6265334"/>
              <a:gd name="connsiteY6" fmla="*/ 45914 h 1104247"/>
              <a:gd name="connsiteX7" fmla="*/ 6265334 w 6265334"/>
              <a:gd name="connsiteY7" fmla="*/ 45914 h 1104247"/>
              <a:gd name="connsiteX8" fmla="*/ 6265334 w 6265334"/>
              <a:gd name="connsiteY8" fmla="*/ 45914 h 110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65334" h="1104247">
                <a:moveTo>
                  <a:pt x="0" y="1104247"/>
                </a:moveTo>
                <a:cubicBezTo>
                  <a:pt x="270933" y="717602"/>
                  <a:pt x="541867" y="330958"/>
                  <a:pt x="1016000" y="147514"/>
                </a:cubicBezTo>
                <a:cubicBezTo>
                  <a:pt x="1490133" y="-35930"/>
                  <a:pt x="2844800" y="3581"/>
                  <a:pt x="2844800" y="3581"/>
                </a:cubicBezTo>
                <a:lnTo>
                  <a:pt x="6265334" y="45914"/>
                </a:lnTo>
                <a:lnTo>
                  <a:pt x="6265334" y="45914"/>
                </a:lnTo>
                <a:lnTo>
                  <a:pt x="6265334" y="45914"/>
                </a:lnTo>
                <a:lnTo>
                  <a:pt x="6265334" y="45914"/>
                </a:lnTo>
                <a:lnTo>
                  <a:pt x="6265334" y="45914"/>
                </a:lnTo>
                <a:lnTo>
                  <a:pt x="6265334" y="45914"/>
                </a:lnTo>
              </a:path>
            </a:pathLst>
          </a:custGeom>
          <a:noFill/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7535198" y="1053657"/>
            <a:ext cx="4572136" cy="3657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"</a:t>
            </a:r>
            <a:r>
              <a:rPr lang="ko-KR" altLang="en-US" sz="900"/>
              <a:t>이벤트 발생 시</a:t>
            </a:r>
            <a:r>
              <a:rPr lang="en-US" altLang="ko-KR" sz="900"/>
              <a:t>(Supabase Realtime </a:t>
            </a:r>
            <a:r>
              <a:rPr lang="ko-KR" altLang="en-US" sz="900"/>
              <a:t>웹소켓 신호 수신 시</a:t>
            </a:r>
            <a:r>
              <a:rPr lang="en-US" altLang="ko-KR" sz="900"/>
              <a:t>) </a:t>
            </a:r>
            <a:r>
              <a:rPr lang="ko-KR" altLang="en-US" sz="900"/>
              <a:t>상황판의 해당 채널 불빛과 숫자가 즉시 변경되도록 실시간 구독 구조</a:t>
            </a:r>
            <a:r>
              <a:rPr lang="en-US" altLang="ko-KR" sz="900"/>
              <a:t>"</a:t>
            </a:r>
            <a:r>
              <a:rPr lang="ko-KR" altLang="en-US" sz="900"/>
              <a:t>로 코딩</a:t>
            </a:r>
            <a:r>
              <a:rPr lang="en-US" altLang="ko-KR" sz="900"/>
              <a:t>”</a:t>
            </a:r>
            <a:endParaRPr lang="ko-KR" alt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8"/>
          <p:cNvSpPr txBox="1"/>
          <p:nvPr/>
        </p:nvSpPr>
        <p:spPr>
          <a:xfrm>
            <a:off x="704971" y="3064751"/>
            <a:ext cx="5985728" cy="19371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t" anchorCtr="0">
            <a:noAutofit/>
          </a:bodyPr>
          <a:lstStyle/>
          <a:p>
            <a:pPr algn="ctr">
              <a:defRPr/>
            </a:pPr>
            <a:r>
              <a:rPr lang="ko-KR" altLang="en-US"/>
              <a:t>주문접수</a:t>
            </a:r>
            <a:r>
              <a:rPr lang="en-US" altLang="ko-KR"/>
              <a:t> </a:t>
            </a:r>
            <a:r>
              <a:rPr lang="ko-KR" altLang="en-US"/>
              <a:t>상황판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ko-KR" altLang="en-US" sz="1400" b="1">
                <a:solidFill>
                  <a:srgbClr val="289B6E"/>
                </a:solidFill>
              </a:rPr>
              <a:t>주문수집중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71135" y="3116580"/>
            <a:ext cx="1202246" cy="272415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주문수집 중지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772901" y="3530283"/>
          <a:ext cx="5824221" cy="129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51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2</a:t>
                      </a: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가게음성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쇼핑몰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인터라넷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작동</a:t>
                      </a:r>
                      <a:endParaRPr lang="en-US" altLang="ko-KR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현재작업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50"/>
                        <a:t>STT</a:t>
                      </a:r>
                      <a:r>
                        <a:rPr lang="ko-KR" altLang="en-US" sz="1050"/>
                        <a:t>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분석중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주문정보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분석중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전화기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꺼져있음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화원관리입력완료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대기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FF0000"/>
                          </a:solidFill>
                        </a:rPr>
                        <a:t>미사용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오늘작업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5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357198" y="1367606"/>
            <a:ext cx="6757706" cy="51289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95959" y="1590770"/>
            <a:ext cx="30187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주문접수상황판  주문접수조회  환경설정</a:t>
            </a:r>
            <a:endParaRPr lang="en-US" altLang="ko-KR" sz="1200" b="1"/>
          </a:p>
        </p:txBody>
      </p:sp>
      <p:grpSp>
        <p:nvGrpSpPr>
          <p:cNvPr id="61" name="그룹 60"/>
          <p:cNvGrpSpPr/>
          <p:nvPr/>
        </p:nvGrpSpPr>
        <p:grpSpPr>
          <a:xfrm>
            <a:off x="1877968" y="3812376"/>
            <a:ext cx="4401849" cy="248949"/>
            <a:chOff x="2009750" y="2650072"/>
            <a:chExt cx="4401849" cy="248949"/>
          </a:xfrm>
        </p:grpSpPr>
        <p:sp>
          <p:nvSpPr>
            <p:cNvPr id="22" name="타원 21"/>
            <p:cNvSpPr/>
            <p:nvPr/>
          </p:nvSpPr>
          <p:spPr>
            <a:xfrm>
              <a:off x="200975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3" name="타원 22"/>
            <p:cNvSpPr/>
            <p:nvPr/>
          </p:nvSpPr>
          <p:spPr>
            <a:xfrm>
              <a:off x="2857476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4" name="타원 23"/>
            <p:cNvSpPr/>
            <p:nvPr/>
          </p:nvSpPr>
          <p:spPr>
            <a:xfrm>
              <a:off x="370520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5" name="타원 24"/>
            <p:cNvSpPr/>
            <p:nvPr/>
          </p:nvSpPr>
          <p:spPr>
            <a:xfrm>
              <a:off x="4524350" y="2650072"/>
              <a:ext cx="248949" cy="248949"/>
            </a:xfrm>
            <a:prstGeom prst="ellipse">
              <a:avLst/>
            </a:prstGeom>
            <a:solidFill>
              <a:srgbClr val="289B6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9" name="타원 23"/>
            <p:cNvSpPr/>
            <p:nvPr/>
          </p:nvSpPr>
          <p:spPr>
            <a:xfrm>
              <a:off x="534350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0" name="타원 23"/>
            <p:cNvSpPr/>
            <p:nvPr/>
          </p:nvSpPr>
          <p:spPr>
            <a:xfrm>
              <a:off x="61626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16" name="직사각형 56"/>
          <p:cNvSpPr/>
          <p:nvPr/>
        </p:nvSpPr>
        <p:spPr>
          <a:xfrm>
            <a:off x="3358162" y="1615015"/>
            <a:ext cx="25375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서울꽃집   마이페이지   로그아웃</a:t>
            </a:r>
          </a:p>
        </p:txBody>
      </p:sp>
      <p:sp>
        <p:nvSpPr>
          <p:cNvPr id="17" name="TextBox 49"/>
          <p:cNvSpPr txBox="1"/>
          <p:nvPr/>
        </p:nvSpPr>
        <p:spPr>
          <a:xfrm>
            <a:off x="315121" y="264367"/>
            <a:ext cx="32338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6. </a:t>
            </a:r>
            <a:r>
              <a:rPr lang="ko-KR" altLang="en-US" b="1"/>
              <a:t>홈</a:t>
            </a:r>
            <a:r>
              <a:rPr lang="en-US" altLang="ko-KR" b="1"/>
              <a:t>(Home) </a:t>
            </a:r>
            <a:r>
              <a:rPr lang="ko-KR" altLang="en-US" b="1"/>
              <a:t>화면</a:t>
            </a:r>
            <a:r>
              <a:rPr lang="en-US" altLang="ko-KR" b="1"/>
              <a:t>(</a:t>
            </a:r>
            <a:r>
              <a:rPr lang="ko-KR" altLang="en-US" b="1"/>
              <a:t>로그인 후</a:t>
            </a:r>
            <a:r>
              <a:rPr lang="en-US" altLang="ko-KR" b="1"/>
              <a:t>)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121654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27166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0"/>
          <p:cNvSpPr txBox="1"/>
          <p:nvPr/>
        </p:nvSpPr>
        <p:spPr>
          <a:xfrm>
            <a:off x="3179107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화면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10145692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2388" y="4308086"/>
            <a:ext cx="4504332" cy="2416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3. ‘</a:t>
            </a:r>
            <a:r>
              <a:rPr lang="ko-KR" altLang="en-US" sz="900"/>
              <a:t>현재작업</a:t>
            </a:r>
            <a:r>
              <a:rPr lang="en-US" altLang="ko-KR" sz="900"/>
              <a:t>’ : ‘ggotAIorder’</a:t>
            </a:r>
            <a:r>
              <a:rPr lang="ko-KR" altLang="en-US" sz="900"/>
              <a:t>의 현재의 작업 상태를 보여줌</a:t>
            </a:r>
          </a:p>
          <a:p>
            <a:pPr lvl="0">
              <a:defRPr/>
            </a:pPr>
            <a:r>
              <a:rPr lang="en-US" altLang="ko-KR" sz="900"/>
              <a:t>(1)</a:t>
            </a:r>
            <a:r>
              <a:rPr lang="ko-KR" altLang="en-US" sz="900"/>
              <a:t>작업불가능상태</a:t>
            </a:r>
            <a:r>
              <a:rPr lang="en-US" altLang="ko-KR" sz="900"/>
              <a:t>: </a:t>
            </a:r>
            <a:r>
              <a:rPr lang="ko-KR" altLang="en-US" sz="900"/>
              <a:t>미사용</a:t>
            </a:r>
            <a:r>
              <a:rPr lang="en-US" altLang="ko-KR" sz="900"/>
              <a:t>, DB</a:t>
            </a:r>
            <a:r>
              <a:rPr lang="ko-KR" altLang="en-US" sz="900"/>
              <a:t>에러</a:t>
            </a:r>
            <a:r>
              <a:rPr lang="en-US" altLang="ko-KR" sz="900"/>
              <a:t>, </a:t>
            </a:r>
            <a:r>
              <a:rPr lang="ko-KR" altLang="en-US" sz="900"/>
              <a:t>전화기꺼짐 등 주문 수집이 불가한 경우</a:t>
            </a:r>
            <a:r>
              <a:rPr lang="en-US" altLang="ko-KR" sz="900"/>
              <a:t> </a:t>
            </a:r>
          </a:p>
          <a:p>
            <a:pPr lvl="0">
              <a:defRPr/>
            </a:pPr>
            <a:r>
              <a:rPr lang="en-US" altLang="ko-KR" sz="900"/>
              <a:t>(2) </a:t>
            </a:r>
            <a:r>
              <a:rPr lang="ko-KR" altLang="en-US" sz="900"/>
              <a:t>작업중인 경우 다음에 표시된 단계를 표시함</a:t>
            </a:r>
          </a:p>
          <a:p>
            <a:pPr lvl="0">
              <a:defRPr/>
            </a:pPr>
            <a:r>
              <a:rPr lang="ko-KR" altLang="en-US" sz="900"/>
              <a:t>핸드폰의 작업 </a:t>
            </a:r>
            <a:r>
              <a:rPr lang="en-US" altLang="ko-KR" sz="900"/>
              <a:t>Process : </a:t>
            </a:r>
            <a:r>
              <a:rPr lang="ko-KR" altLang="en-US" sz="900"/>
              <a:t>서버입력</a:t>
            </a:r>
            <a:r>
              <a:rPr lang="en-US" altLang="ko-KR" sz="900"/>
              <a:t>-&gt;STT-&gt;Gemini(</a:t>
            </a:r>
            <a:r>
              <a:rPr lang="ko-KR" altLang="en-US" sz="900"/>
              <a:t>주문정보분석중</a:t>
            </a:r>
            <a:r>
              <a:rPr lang="en-US" altLang="ko-KR" sz="900"/>
              <a:t>)-&gt;RPA(</a:t>
            </a:r>
            <a:r>
              <a:rPr lang="ko-KR" altLang="en-US" sz="900"/>
              <a:t>화원관리입력중</a:t>
            </a:r>
            <a:r>
              <a:rPr lang="en-US" altLang="ko-KR" sz="900"/>
              <a:t>)</a:t>
            </a:r>
          </a:p>
          <a:p>
            <a:pPr lvl="0">
              <a:defRPr/>
            </a:pPr>
            <a:r>
              <a:rPr lang="ko-KR" altLang="en-US" sz="900"/>
              <a:t>음성주문</a:t>
            </a:r>
            <a:r>
              <a:rPr lang="en-US" altLang="ko-KR" sz="900"/>
              <a:t>: </a:t>
            </a:r>
            <a:r>
              <a:rPr lang="ko-KR" altLang="en-US" sz="900"/>
              <a:t>서버입력</a:t>
            </a:r>
            <a:r>
              <a:rPr lang="en-US" altLang="ko-KR" sz="900"/>
              <a:t>-&gt;STT-&gt; Gemini(</a:t>
            </a:r>
            <a:r>
              <a:rPr lang="ko-KR" altLang="en-US" sz="900"/>
              <a:t>주문정보분석중</a:t>
            </a:r>
            <a:r>
              <a:rPr lang="en-US" altLang="ko-KR" sz="900"/>
              <a:t>)-&gt;RPA(</a:t>
            </a:r>
            <a:r>
              <a:rPr lang="ko-KR" altLang="en-US" sz="900"/>
              <a:t>화원관리입력중</a:t>
            </a:r>
            <a:r>
              <a:rPr lang="en-US" altLang="ko-KR" sz="900"/>
              <a:t>) </a:t>
            </a:r>
          </a:p>
          <a:p>
            <a:pPr lvl="0">
              <a:defRPr/>
            </a:pPr>
            <a:r>
              <a:rPr lang="ko-KR" altLang="en-US" sz="900"/>
              <a:t>가게전화</a:t>
            </a:r>
            <a:r>
              <a:rPr lang="en-US" altLang="ko-KR" sz="900"/>
              <a:t>: STT-&gt; Gemini(</a:t>
            </a:r>
            <a:r>
              <a:rPr lang="ko-KR" altLang="en-US" sz="900"/>
              <a:t>주문정보분석중</a:t>
            </a:r>
            <a:r>
              <a:rPr lang="en-US" altLang="ko-KR" sz="900"/>
              <a:t>)-&gt;RPA(</a:t>
            </a:r>
            <a:r>
              <a:rPr lang="ko-KR" altLang="en-US" sz="900"/>
              <a:t>화원관리입력중</a:t>
            </a:r>
            <a:r>
              <a:rPr lang="en-US" altLang="ko-KR" sz="900"/>
              <a:t>) </a:t>
            </a:r>
          </a:p>
          <a:p>
            <a:pPr lvl="0">
              <a:defRPr/>
            </a:pPr>
            <a:r>
              <a:rPr lang="ko-KR" altLang="en-US" sz="900"/>
              <a:t>쇼핑몰</a:t>
            </a:r>
            <a:r>
              <a:rPr lang="en-US" altLang="ko-KR" sz="900"/>
              <a:t>: DatatBase</a:t>
            </a:r>
            <a:r>
              <a:rPr lang="ko-KR" altLang="en-US" sz="900"/>
              <a:t>입력</a:t>
            </a:r>
            <a:r>
              <a:rPr lang="en-US" altLang="ko-KR" sz="900"/>
              <a:t>(</a:t>
            </a:r>
            <a:r>
              <a:rPr lang="ko-KR" altLang="en-US" sz="900"/>
              <a:t>서버입력중</a:t>
            </a:r>
            <a:r>
              <a:rPr lang="en-US" altLang="ko-KR" sz="900"/>
              <a:t>)-&gt;RPA (</a:t>
            </a:r>
            <a:r>
              <a:rPr lang="ko-KR" altLang="en-US" sz="900"/>
              <a:t>화원관리입력중</a:t>
            </a:r>
            <a:r>
              <a:rPr lang="en-US" altLang="ko-KR" sz="900"/>
              <a:t>)</a:t>
            </a:r>
          </a:p>
          <a:p>
            <a:pPr lvl="0">
              <a:defRPr/>
            </a:pPr>
            <a:r>
              <a:rPr lang="ko-KR" altLang="en-US" sz="900"/>
              <a:t>인터라넷</a:t>
            </a:r>
            <a:r>
              <a:rPr lang="en-US" altLang="ko-KR" sz="900"/>
              <a:t>: DatatBase</a:t>
            </a:r>
            <a:r>
              <a:rPr lang="ko-KR" altLang="en-US" sz="900"/>
              <a:t>입력</a:t>
            </a:r>
            <a:r>
              <a:rPr lang="en-US" altLang="ko-KR" sz="900"/>
              <a:t>(</a:t>
            </a:r>
            <a:r>
              <a:rPr lang="ko-KR" altLang="en-US" sz="900"/>
              <a:t>서버입력중</a:t>
            </a:r>
            <a:r>
              <a:rPr lang="en-US" altLang="ko-KR" sz="900"/>
              <a:t>)-&gt;RPA (</a:t>
            </a:r>
            <a:r>
              <a:rPr lang="ko-KR" altLang="en-US" sz="900"/>
              <a:t>화원관리입력중</a:t>
            </a:r>
            <a:r>
              <a:rPr lang="en-US" altLang="ko-KR" sz="900"/>
              <a:t>)</a:t>
            </a:r>
          </a:p>
          <a:p>
            <a:pPr lvl="0">
              <a:defRPr/>
            </a:pPr>
            <a:endParaRPr lang="en-US" altLang="ko-KR" sz="900"/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"/>
                <a:ea typeface="Google Sans Text"/>
              </a:rPr>
              <a:t>"상황판의 '현재작업' 텍스트는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server_call_history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테이블의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is_order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필드와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order_details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테이블의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rpa_status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필드 상태를 결합하여 실시간 정의한다." 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"/>
                <a:ea typeface="Google Sans Text"/>
              </a:rPr>
              <a:t>STT 가동 중 ➔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'STT 분석중'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"/>
                <a:ea typeface="Google Sans Text"/>
              </a:rPr>
              <a:t>- Gemini 처리 중 ➔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'주문정보 분석중'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"/>
                <a:ea typeface="Google Sans Text"/>
              </a:rPr>
              <a:t>- rpa_status = 'ready' ➔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</a:t>
            </a:r>
            <a:r>
              <a:rPr kumimoji="0" lang="ko-KR" altLang="en-US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대기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ea typeface="Google Sans Text"/>
              </a:rPr>
              <a:t>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"/>
                <a:ea typeface="Google Sans Text"/>
              </a:rPr>
              <a:t>- rpa_status = 'success' ➔ 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</a:t>
            </a:r>
            <a:r>
              <a:rPr kumimoji="0" lang="ko-KR" altLang="en-US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화원관리 입력완료</a:t>
            </a:r>
            <a:r>
              <a:rPr kumimoji="0" lang="ko-KR" altLang="ko-KR" sz="900" b="0" i="0" u="none" strike="noStrike" cap="none" normalizeH="0" baseline="0">
                <a:solidFill>
                  <a:srgbClr val="FF0000"/>
                </a:solidFill>
                <a:effectLst/>
                <a:latin typeface="Arial Unicode MS"/>
                <a:ea typeface="Google Sans Text"/>
              </a:rPr>
              <a:t>'</a:t>
            </a:r>
            <a:endParaRPr kumimoji="0" lang="ko-KR" altLang="ko-KR" sz="900" b="0" i="0" u="none" strike="noStrike" cap="none" normalizeH="0" baseline="0">
              <a:solidFill>
                <a:srgbClr val="FF0000"/>
              </a:solidFill>
              <a:latin typeface="Arial Unicode MS"/>
              <a:ea typeface="Google Sans Text"/>
            </a:endParaRPr>
          </a:p>
          <a:p>
            <a:pPr lvl="0">
              <a:defRPr/>
            </a:pPr>
            <a:endParaRPr lang="en-US" altLang="ko-KR" sz="900"/>
          </a:p>
          <a:p>
            <a:pPr lvl="0">
              <a:defRPr/>
            </a:pPr>
            <a:r>
              <a:rPr lang="en-US" altLang="ko-KR" sz="900"/>
              <a:t>4.</a:t>
            </a:r>
            <a:r>
              <a:rPr lang="ko-KR" altLang="en-US" sz="900"/>
              <a:t>오늘작업</a:t>
            </a:r>
            <a:r>
              <a:rPr lang="en-US" altLang="ko-KR" sz="900"/>
              <a:t>: </a:t>
            </a:r>
            <a:r>
              <a:rPr lang="ko-KR" altLang="en-US" sz="900"/>
              <a:t>오늘 현재까지 </a:t>
            </a:r>
            <a:r>
              <a:rPr lang="en-US" altLang="ko-KR" sz="900"/>
              <a:t>RPA</a:t>
            </a:r>
            <a:r>
              <a:rPr lang="ko-KR" altLang="en-US" sz="900"/>
              <a:t>까지 완료된 작업건수를 표시함</a:t>
            </a:r>
          </a:p>
          <a:p>
            <a:pPr lvl="0">
              <a:defRPr/>
            </a:pPr>
            <a:r>
              <a:rPr lang="en-US" altLang="ko-KR" sz="900"/>
              <a:t>TABLE order_details</a:t>
            </a:r>
            <a:r>
              <a:rPr lang="ko-KR" altLang="en-US" sz="900"/>
              <a:t>에 입력된 자료를 기준으로 보여줌</a:t>
            </a:r>
            <a:endParaRPr lang="en-US" altLang="ko-KR" sz="900"/>
          </a:p>
        </p:txBody>
      </p:sp>
      <p:sp>
        <p:nvSpPr>
          <p:cNvPr id="36" name="자유형 35"/>
          <p:cNvSpPr/>
          <p:nvPr/>
        </p:nvSpPr>
        <p:spPr>
          <a:xfrm>
            <a:off x="1185333" y="4749800"/>
            <a:ext cx="6426200" cy="1744133"/>
          </a:xfrm>
          <a:custGeom>
            <a:avLst/>
            <a:gdLst>
              <a:gd name="connsiteX0" fmla="*/ 0 w 6426200"/>
              <a:gd name="connsiteY0" fmla="*/ 0 h 1744133"/>
              <a:gd name="connsiteX1" fmla="*/ 296334 w 6426200"/>
              <a:gd name="connsiteY1" fmla="*/ 347133 h 1744133"/>
              <a:gd name="connsiteX2" fmla="*/ 973667 w 6426200"/>
              <a:gd name="connsiteY2" fmla="*/ 601133 h 1744133"/>
              <a:gd name="connsiteX3" fmla="*/ 4275667 w 6426200"/>
              <a:gd name="connsiteY3" fmla="*/ 1236133 h 1744133"/>
              <a:gd name="connsiteX4" fmla="*/ 6426200 w 6426200"/>
              <a:gd name="connsiteY4" fmla="*/ 1744133 h 1744133"/>
              <a:gd name="connsiteX5" fmla="*/ 6426200 w 6426200"/>
              <a:gd name="connsiteY5" fmla="*/ 1744133 h 174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26200" h="1744133">
                <a:moveTo>
                  <a:pt x="0" y="0"/>
                </a:moveTo>
                <a:cubicBezTo>
                  <a:pt x="67028" y="123472"/>
                  <a:pt x="134056" y="246944"/>
                  <a:pt x="296334" y="347133"/>
                </a:cubicBezTo>
                <a:cubicBezTo>
                  <a:pt x="458612" y="447322"/>
                  <a:pt x="310445" y="452966"/>
                  <a:pt x="973667" y="601133"/>
                </a:cubicBezTo>
                <a:cubicBezTo>
                  <a:pt x="1636889" y="749300"/>
                  <a:pt x="3366911" y="1045633"/>
                  <a:pt x="4275667" y="1236133"/>
                </a:cubicBezTo>
                <a:cubicBezTo>
                  <a:pt x="5184423" y="1426633"/>
                  <a:pt x="6426200" y="1744133"/>
                  <a:pt x="6426200" y="1744133"/>
                </a:cubicBezTo>
                <a:lnTo>
                  <a:pt x="6426200" y="1744133"/>
                </a:lnTo>
              </a:path>
            </a:pathLst>
          </a:custGeom>
          <a:noFill/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7390660" y="1548572"/>
            <a:ext cx="4552892" cy="364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"</a:t>
            </a:r>
            <a:r>
              <a:rPr lang="ko-KR" altLang="en-US" sz="900"/>
              <a:t>이벤트 발생 시</a:t>
            </a:r>
            <a:r>
              <a:rPr lang="en-US" altLang="ko-KR" sz="900"/>
              <a:t>(Supabase Realtime </a:t>
            </a:r>
            <a:r>
              <a:rPr lang="ko-KR" altLang="en-US" sz="900"/>
              <a:t>웹소켓 신호 수신 시</a:t>
            </a:r>
            <a:r>
              <a:rPr lang="en-US" altLang="ko-KR" sz="900"/>
              <a:t>) </a:t>
            </a:r>
            <a:r>
              <a:rPr lang="ko-KR" altLang="en-US" sz="900"/>
              <a:t>상황판의 해당 채널 불빛과 숫자가 즉시 변경되도록 실시간 구독 구조</a:t>
            </a:r>
            <a:r>
              <a:rPr lang="en-US" altLang="ko-KR" sz="900"/>
              <a:t>"</a:t>
            </a:r>
            <a:r>
              <a:rPr lang="ko-KR" altLang="en-US" sz="900"/>
              <a:t>로 코딩</a:t>
            </a:r>
            <a:r>
              <a:rPr lang="en-US" altLang="ko-KR" sz="900"/>
              <a:t>”</a:t>
            </a:r>
            <a:endParaRPr lang="ko-KR" altLang="en-US" sz="900"/>
          </a:p>
        </p:txBody>
      </p:sp>
      <p:sp>
        <p:nvSpPr>
          <p:cNvPr id="65" name="자유형 64"/>
          <p:cNvSpPr/>
          <p:nvPr/>
        </p:nvSpPr>
        <p:spPr>
          <a:xfrm>
            <a:off x="1459732" y="4355334"/>
            <a:ext cx="6135770" cy="867937"/>
          </a:xfrm>
          <a:custGeom>
            <a:avLst/>
            <a:gdLst>
              <a:gd name="connsiteX0" fmla="*/ -1157 w 6135770"/>
              <a:gd name="connsiteY0" fmla="*/ -2698 h 867937"/>
              <a:gd name="connsiteX1" fmla="*/ 451039 w 6135770"/>
              <a:gd name="connsiteY1" fmla="*/ 718893 h 867937"/>
              <a:gd name="connsiteX2" fmla="*/ 1365054 w 6135770"/>
              <a:gd name="connsiteY2" fmla="*/ 824726 h 867937"/>
              <a:gd name="connsiteX3" fmla="*/ 4568918 w 6135770"/>
              <a:gd name="connsiteY3" fmla="*/ 853590 h 867937"/>
              <a:gd name="connsiteX4" fmla="*/ 5482933 w 6135770"/>
              <a:gd name="connsiteY4" fmla="*/ 603438 h 867937"/>
              <a:gd name="connsiteX5" fmla="*/ 6137176 w 6135770"/>
              <a:gd name="connsiteY5" fmla="*/ 122377 h 86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5770" h="867937">
                <a:moveTo>
                  <a:pt x="-1157" y="-2698"/>
                </a:moveTo>
                <a:cubicBezTo>
                  <a:pt x="74209" y="117567"/>
                  <a:pt x="223337" y="580988"/>
                  <a:pt x="451039" y="718893"/>
                </a:cubicBezTo>
                <a:cubicBezTo>
                  <a:pt x="678741" y="856797"/>
                  <a:pt x="678741" y="802276"/>
                  <a:pt x="1365054" y="824726"/>
                </a:cubicBezTo>
                <a:cubicBezTo>
                  <a:pt x="2051367" y="847175"/>
                  <a:pt x="3882605" y="890471"/>
                  <a:pt x="4568918" y="853590"/>
                </a:cubicBezTo>
                <a:cubicBezTo>
                  <a:pt x="5255231" y="816708"/>
                  <a:pt x="5221557" y="725307"/>
                  <a:pt x="5482933" y="603438"/>
                </a:cubicBezTo>
                <a:cubicBezTo>
                  <a:pt x="5744309" y="481569"/>
                  <a:pt x="6028135" y="202554"/>
                  <a:pt x="6137176" y="122377"/>
                </a:cubicBezTo>
              </a:path>
            </a:pathLst>
          </a:custGeom>
          <a:noFill/>
          <a:ln>
            <a:solidFill>
              <a:schemeClr val="dk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91561" y="2149677"/>
            <a:ext cx="5985728" cy="19371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t" anchorCtr="0">
            <a:noAutofit/>
          </a:bodyPr>
          <a:lstStyle/>
          <a:p>
            <a:pPr algn="ctr">
              <a:defRPr/>
            </a:pPr>
            <a:r>
              <a:rPr lang="ko-KR" altLang="en-US"/>
              <a:t>주문접수</a:t>
            </a:r>
            <a:r>
              <a:rPr lang="en-US" altLang="ko-KR"/>
              <a:t> </a:t>
            </a:r>
            <a:r>
              <a:rPr lang="ko-KR" altLang="en-US"/>
              <a:t>상황판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ko-KR" altLang="en-US" sz="1400" b="1">
                <a:solidFill>
                  <a:srgbClr val="289B6E"/>
                </a:solidFill>
              </a:rPr>
              <a:t>주문수집중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859491" y="2615209"/>
          <a:ext cx="5824221" cy="129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51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2</a:t>
                      </a: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가게음성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쇼핑몰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인터라넷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작동</a:t>
                      </a:r>
                      <a:endParaRPr lang="en-US" altLang="ko-KR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현재작업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50"/>
                        <a:t>STT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주문정보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분석중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전화기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</a:rPr>
                        <a:t>꺼져있음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화원관리입력중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/>
                        <a:t>대기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FF0000"/>
                          </a:solidFill>
                        </a:rPr>
                        <a:t>미사용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오늘작업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5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357198" y="1367606"/>
            <a:ext cx="6757706" cy="53887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95959" y="1590770"/>
            <a:ext cx="30187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주문접수상황판  주문접수조회  환경설정</a:t>
            </a:r>
            <a:endParaRPr lang="en-US" altLang="ko-KR" sz="1200" b="1"/>
          </a:p>
        </p:txBody>
      </p:sp>
      <p:grpSp>
        <p:nvGrpSpPr>
          <p:cNvPr id="61" name="그룹 60"/>
          <p:cNvGrpSpPr/>
          <p:nvPr/>
        </p:nvGrpSpPr>
        <p:grpSpPr>
          <a:xfrm>
            <a:off x="1964558" y="2897302"/>
            <a:ext cx="4401849" cy="248949"/>
            <a:chOff x="2009750" y="2650072"/>
            <a:chExt cx="4401849" cy="248949"/>
          </a:xfrm>
        </p:grpSpPr>
        <p:sp>
          <p:nvSpPr>
            <p:cNvPr id="22" name="타원 21"/>
            <p:cNvSpPr/>
            <p:nvPr/>
          </p:nvSpPr>
          <p:spPr>
            <a:xfrm>
              <a:off x="200975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3" name="타원 22"/>
            <p:cNvSpPr/>
            <p:nvPr/>
          </p:nvSpPr>
          <p:spPr>
            <a:xfrm>
              <a:off x="2857476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4" name="타원 23"/>
            <p:cNvSpPr/>
            <p:nvPr/>
          </p:nvSpPr>
          <p:spPr>
            <a:xfrm>
              <a:off x="370520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5" name="타원 24"/>
            <p:cNvSpPr/>
            <p:nvPr/>
          </p:nvSpPr>
          <p:spPr>
            <a:xfrm>
              <a:off x="4524350" y="2650072"/>
              <a:ext cx="248949" cy="248949"/>
            </a:xfrm>
            <a:prstGeom prst="ellipse">
              <a:avLst/>
            </a:prstGeom>
            <a:solidFill>
              <a:srgbClr val="289B6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9" name="타원 23"/>
            <p:cNvSpPr/>
            <p:nvPr/>
          </p:nvSpPr>
          <p:spPr>
            <a:xfrm>
              <a:off x="5343500" y="2650072"/>
              <a:ext cx="248949" cy="2489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0" name="타원 23"/>
            <p:cNvSpPr/>
            <p:nvPr/>
          </p:nvSpPr>
          <p:spPr>
            <a:xfrm>
              <a:off x="61626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16" name="직사각형 56"/>
          <p:cNvSpPr/>
          <p:nvPr/>
        </p:nvSpPr>
        <p:spPr>
          <a:xfrm>
            <a:off x="3358162" y="1615015"/>
            <a:ext cx="25375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서울꽃집   마이페이지   로그아웃</a:t>
            </a:r>
          </a:p>
        </p:txBody>
      </p:sp>
      <p:sp>
        <p:nvSpPr>
          <p:cNvPr id="17" name="TextBox 49"/>
          <p:cNvSpPr txBox="1"/>
          <p:nvPr/>
        </p:nvSpPr>
        <p:spPr>
          <a:xfrm>
            <a:off x="315121" y="264367"/>
            <a:ext cx="75391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6-1. </a:t>
            </a:r>
            <a:r>
              <a:rPr lang="ko-KR" altLang="en-US" b="1"/>
              <a:t>홈</a:t>
            </a:r>
            <a:r>
              <a:rPr lang="en-US" altLang="ko-KR" b="1"/>
              <a:t>(Home) </a:t>
            </a:r>
            <a:r>
              <a:rPr lang="ko-KR" altLang="en-US" b="1"/>
              <a:t>화면</a:t>
            </a:r>
            <a:r>
              <a:rPr lang="en-US" altLang="ko-KR" b="1"/>
              <a:t>(</a:t>
            </a:r>
            <a:r>
              <a:rPr lang="ko-KR" altLang="en-US" b="1"/>
              <a:t>로그인 후</a:t>
            </a:r>
            <a:r>
              <a:rPr lang="en-US" altLang="ko-KR" b="1"/>
              <a:t>)</a:t>
            </a:r>
            <a:r>
              <a:rPr lang="ko-KR" altLang="en-US" b="1"/>
              <a:t> </a:t>
            </a:r>
            <a:r>
              <a:rPr lang="en-US" altLang="ko-KR" b="1"/>
              <a:t>-</a:t>
            </a:r>
            <a:r>
              <a:rPr lang="ko-KR" altLang="en-US" b="1"/>
              <a:t> </a:t>
            </a:r>
            <a:r>
              <a:rPr lang="en-US" altLang="ko-KR" b="1"/>
              <a:t>‘</a:t>
            </a:r>
            <a:r>
              <a:rPr lang="ko-KR" altLang="en-US" b="1"/>
              <a:t>주문수집중</a:t>
            </a:r>
            <a:r>
              <a:rPr lang="en-US" altLang="ko-KR" b="1"/>
              <a:t>/</a:t>
            </a:r>
            <a:r>
              <a:rPr lang="ko-KR" altLang="en-US" b="1"/>
              <a:t>주문수집중지</a:t>
            </a:r>
            <a:r>
              <a:rPr lang="en-US" altLang="ko-KR" b="1"/>
              <a:t>’</a:t>
            </a:r>
            <a:r>
              <a:rPr lang="ko-KR" altLang="en-US" b="1"/>
              <a:t> 부분 설명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121654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27166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0"/>
          <p:cNvSpPr txBox="1"/>
          <p:nvPr/>
        </p:nvSpPr>
        <p:spPr>
          <a:xfrm>
            <a:off x="3179107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화면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10145692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설명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57726" y="2201506"/>
            <a:ext cx="1202246" cy="272415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주문수집 중지</a:t>
            </a:r>
          </a:p>
        </p:txBody>
      </p:sp>
      <p:sp>
        <p:nvSpPr>
          <p:cNvPr id="64" name="자유형 63"/>
          <p:cNvSpPr/>
          <p:nvPr/>
        </p:nvSpPr>
        <p:spPr>
          <a:xfrm>
            <a:off x="4770389" y="1635140"/>
            <a:ext cx="2793662" cy="590338"/>
          </a:xfrm>
          <a:custGeom>
            <a:avLst/>
            <a:gdLst>
              <a:gd name="connsiteX0" fmla="*/ -2116 w 3082298"/>
              <a:gd name="connsiteY0" fmla="*/ 1149238 h 1148369"/>
              <a:gd name="connsiteX1" fmla="*/ 1229399 w 3082298"/>
              <a:gd name="connsiteY1" fmla="*/ 110147 h 1148369"/>
              <a:gd name="connsiteX2" fmla="*/ 2268490 w 3082298"/>
              <a:gd name="connsiteY2" fmla="*/ 23556 h 1148369"/>
              <a:gd name="connsiteX3" fmla="*/ 3086292 w 3082298"/>
              <a:gd name="connsiteY3" fmla="*/ 52420 h 114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298" h="1148369">
                <a:moveTo>
                  <a:pt x="-2116" y="1149238"/>
                </a:moveTo>
                <a:cubicBezTo>
                  <a:pt x="203136" y="976056"/>
                  <a:pt x="850964" y="297761"/>
                  <a:pt x="1229399" y="110147"/>
                </a:cubicBezTo>
                <a:cubicBezTo>
                  <a:pt x="1607833" y="-77466"/>
                  <a:pt x="1959007" y="33178"/>
                  <a:pt x="2268490" y="23556"/>
                </a:cubicBezTo>
                <a:cubicBezTo>
                  <a:pt x="2577971" y="13935"/>
                  <a:pt x="2949992" y="47609"/>
                  <a:pt x="3086292" y="52420"/>
                </a:cubicBezTo>
              </a:path>
            </a:pathLst>
          </a:custGeom>
          <a:noFill/>
          <a:ln>
            <a:solidFill>
              <a:schemeClr val="dk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TextBox 41"/>
          <p:cNvSpPr txBox="1"/>
          <p:nvPr/>
        </p:nvSpPr>
        <p:spPr>
          <a:xfrm>
            <a:off x="7579786" y="1442276"/>
            <a:ext cx="4333392" cy="391738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‘B. </a:t>
            </a:r>
            <a:r>
              <a:rPr lang="ko-KR" altLang="en-US" sz="1000"/>
              <a:t>실시간 주문 수집 및 입력</a:t>
            </a: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r>
              <a:rPr lang="en-US" altLang="ko-KR" sz="1000"/>
              <a:t>ggotAIorder’</a:t>
            </a:r>
            <a:r>
              <a:rPr lang="ko-KR" altLang="en-US" sz="1000"/>
              <a:t>가</a:t>
            </a:r>
          </a:p>
          <a:p>
            <a:pPr lvl="0">
              <a:defRPr/>
            </a:pPr>
            <a:r>
              <a:rPr lang="ko-KR" altLang="en-US" sz="1000"/>
              <a:t>작동하여 주문을 수집하고 있는 상태임</a:t>
            </a:r>
          </a:p>
        </p:txBody>
      </p:sp>
      <p:sp>
        <p:nvSpPr>
          <p:cNvPr id="66" name="TextBox 18"/>
          <p:cNvSpPr txBox="1"/>
          <p:nvPr/>
        </p:nvSpPr>
        <p:spPr>
          <a:xfrm>
            <a:off x="800798" y="4484842"/>
            <a:ext cx="5985728" cy="19371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t" anchorCtr="0">
            <a:noAutofit/>
          </a:bodyPr>
          <a:lstStyle/>
          <a:p>
            <a:pPr algn="ctr">
              <a:defRPr/>
            </a:pPr>
            <a:r>
              <a:rPr lang="ko-KR" altLang="en-US"/>
              <a:t>주문접수</a:t>
            </a:r>
            <a:r>
              <a:rPr lang="en-US" altLang="ko-KR"/>
              <a:t> </a:t>
            </a:r>
            <a:r>
              <a:rPr lang="ko-KR" altLang="en-US"/>
              <a:t>상황판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ko-KR" altLang="en-US" sz="1400" b="1">
                <a:solidFill>
                  <a:srgbClr val="FF0000"/>
                </a:solidFill>
              </a:rPr>
              <a:t>주문수집 중지</a:t>
            </a:r>
          </a:p>
        </p:txBody>
      </p:sp>
      <p:graphicFrame>
        <p:nvGraphicFramePr>
          <p:cNvPr id="67" name="표 19"/>
          <p:cNvGraphicFramePr>
            <a:graphicFrameLocks noGrp="1"/>
          </p:cNvGraphicFramePr>
          <p:nvPr/>
        </p:nvGraphicFramePr>
        <p:xfrm>
          <a:off x="868728" y="4950374"/>
          <a:ext cx="5818505" cy="1234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51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핸드폰</a:t>
                      </a:r>
                      <a:r>
                        <a:rPr lang="en-US" altLang="ko-KR" sz="1050"/>
                        <a:t>2</a:t>
                      </a:r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가게음성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쇼핑몰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인터라넷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작동</a:t>
                      </a:r>
                      <a:endParaRPr lang="en-US" altLang="ko-KR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현재작업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/>
                        <a:t>중지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/>
                        <a:t>오늘작업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0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3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5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8" name="그룹 60"/>
          <p:cNvGrpSpPr/>
          <p:nvPr/>
        </p:nvGrpSpPr>
        <p:grpSpPr>
          <a:xfrm>
            <a:off x="1973795" y="5232467"/>
            <a:ext cx="4401849" cy="248949"/>
            <a:chOff x="2009750" y="2650072"/>
            <a:chExt cx="4401849" cy="248949"/>
          </a:xfrm>
        </p:grpSpPr>
        <p:sp>
          <p:nvSpPr>
            <p:cNvPr id="69" name="타원 21"/>
            <p:cNvSpPr/>
            <p:nvPr/>
          </p:nvSpPr>
          <p:spPr>
            <a:xfrm>
              <a:off x="20097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0" name="타원 22"/>
            <p:cNvSpPr/>
            <p:nvPr/>
          </p:nvSpPr>
          <p:spPr>
            <a:xfrm>
              <a:off x="2857476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1" name="타원 23"/>
            <p:cNvSpPr/>
            <p:nvPr/>
          </p:nvSpPr>
          <p:spPr>
            <a:xfrm>
              <a:off x="370520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2" name="타원 24"/>
            <p:cNvSpPr/>
            <p:nvPr/>
          </p:nvSpPr>
          <p:spPr>
            <a:xfrm>
              <a:off x="45243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3" name="타원 23"/>
            <p:cNvSpPr/>
            <p:nvPr/>
          </p:nvSpPr>
          <p:spPr>
            <a:xfrm>
              <a:off x="534350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4" name="타원 23"/>
            <p:cNvSpPr/>
            <p:nvPr/>
          </p:nvSpPr>
          <p:spPr>
            <a:xfrm>
              <a:off x="6162650" y="2650072"/>
              <a:ext cx="248949" cy="2489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5366962" y="4536671"/>
            <a:ext cx="1202246" cy="271549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주문수집 시작</a:t>
            </a:r>
          </a:p>
        </p:txBody>
      </p:sp>
      <p:cxnSp>
        <p:nvCxnSpPr>
          <p:cNvPr id="76" name="직선 화살표 연결선 75"/>
          <p:cNvCxnSpPr>
            <a:stCxn id="62" idx="3"/>
          </p:cNvCxnSpPr>
          <p:nvPr/>
        </p:nvCxnSpPr>
        <p:spPr>
          <a:xfrm>
            <a:off x="6559972" y="2337714"/>
            <a:ext cx="999421" cy="0"/>
          </a:xfrm>
          <a:prstGeom prst="straightConnector1">
            <a:avLst/>
          </a:prstGeom>
          <a:ln w="12700">
            <a:solidFill>
              <a:schemeClr val="dk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41"/>
          <p:cNvSpPr txBox="1"/>
          <p:nvPr/>
        </p:nvSpPr>
        <p:spPr>
          <a:xfrm>
            <a:off x="7599027" y="2087186"/>
            <a:ext cx="4333392" cy="539809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‘</a:t>
            </a:r>
            <a:r>
              <a:rPr lang="ko-KR" altLang="en-US" sz="1000"/>
              <a:t>주문수집 중지</a:t>
            </a:r>
            <a:r>
              <a:rPr lang="en-US" altLang="ko-KR" sz="1000"/>
              <a:t>’</a:t>
            </a:r>
            <a:r>
              <a:rPr lang="ko-KR" altLang="en-US" sz="1000"/>
              <a:t> 버튼을 클릭하면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‘B. </a:t>
            </a:r>
            <a:r>
              <a:rPr lang="ko-KR" altLang="en-US" sz="1000"/>
              <a:t>실시간 주문 수집 및 입력</a:t>
            </a: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r>
              <a:rPr lang="en-US" altLang="ko-KR" sz="1000"/>
              <a:t>ggotAIorder’</a:t>
            </a:r>
            <a:r>
              <a:rPr lang="ko-KR" altLang="en-US" sz="1000"/>
              <a:t> 실행을 중지시키고</a:t>
            </a:r>
            <a:r>
              <a:rPr lang="en-US" altLang="ko-KR" sz="1000"/>
              <a:t>,</a:t>
            </a:r>
            <a:r>
              <a:rPr lang="ko-KR" altLang="en-US" sz="1000"/>
              <a:t> 아래의 </a:t>
            </a:r>
            <a:r>
              <a:rPr lang="en-US" altLang="ko-KR" sz="1000"/>
              <a:t>&lt;</a:t>
            </a:r>
            <a:r>
              <a:rPr lang="ko-KR" altLang="en-US" sz="1000"/>
              <a:t>주문수집 중지 상태</a:t>
            </a:r>
            <a:r>
              <a:rPr lang="en-US" altLang="ko-KR" sz="1000"/>
              <a:t>&gt;</a:t>
            </a:r>
            <a:r>
              <a:rPr lang="ko-KR" altLang="en-US" sz="1000"/>
              <a:t>로 바뀜</a:t>
            </a:r>
          </a:p>
        </p:txBody>
      </p:sp>
      <p:sp>
        <p:nvSpPr>
          <p:cNvPr id="78" name="TextBox 10"/>
          <p:cNvSpPr txBox="1"/>
          <p:nvPr/>
        </p:nvSpPr>
        <p:spPr>
          <a:xfrm>
            <a:off x="2899410" y="4066615"/>
            <a:ext cx="1602105" cy="26535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200"/>
              <a:t>&lt;</a:t>
            </a:r>
            <a:r>
              <a:rPr lang="ko-KR" altLang="en-US" sz="1200"/>
              <a:t>주문수집 중 상태</a:t>
            </a:r>
            <a:r>
              <a:rPr lang="en-US" altLang="ko-KR" sz="1200"/>
              <a:t>&gt;</a:t>
            </a:r>
          </a:p>
        </p:txBody>
      </p:sp>
      <p:sp>
        <p:nvSpPr>
          <p:cNvPr id="79" name="TextBox 10"/>
          <p:cNvSpPr txBox="1"/>
          <p:nvPr/>
        </p:nvSpPr>
        <p:spPr>
          <a:xfrm>
            <a:off x="2899410" y="6443151"/>
            <a:ext cx="1784908" cy="2700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/>
              <a:t>&lt;</a:t>
            </a:r>
            <a:r>
              <a:rPr lang="ko-KR" altLang="en-US" sz="1200"/>
              <a:t>주문수집 중지 상태</a:t>
            </a:r>
            <a:r>
              <a:rPr lang="en-US" altLang="ko-KR" sz="1200"/>
              <a:t>&gt;</a:t>
            </a:r>
          </a:p>
        </p:txBody>
      </p:sp>
      <p:sp>
        <p:nvSpPr>
          <p:cNvPr id="80" name="자유형 79"/>
          <p:cNvSpPr/>
          <p:nvPr/>
        </p:nvSpPr>
        <p:spPr>
          <a:xfrm>
            <a:off x="4576552" y="4291607"/>
            <a:ext cx="2996477" cy="298936"/>
          </a:xfrm>
          <a:custGeom>
            <a:avLst/>
            <a:gdLst>
              <a:gd name="connsiteX0" fmla="*/ -703 w 2871402"/>
              <a:gd name="connsiteY0" fmla="*/ 301559 h 298936"/>
              <a:gd name="connsiteX1" fmla="*/ 201341 w 2871402"/>
              <a:gd name="connsiteY1" fmla="*/ 51407 h 298936"/>
              <a:gd name="connsiteX2" fmla="*/ 1346265 w 2871402"/>
              <a:gd name="connsiteY2" fmla="*/ 3301 h 298936"/>
              <a:gd name="connsiteX3" fmla="*/ 2876038 w 2871402"/>
              <a:gd name="connsiteY3" fmla="*/ 3301 h 29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402" h="298936">
                <a:moveTo>
                  <a:pt x="-703" y="301559"/>
                </a:moveTo>
                <a:cubicBezTo>
                  <a:pt x="32970" y="259867"/>
                  <a:pt x="-23153" y="101117"/>
                  <a:pt x="201341" y="51407"/>
                </a:cubicBezTo>
                <a:cubicBezTo>
                  <a:pt x="425835" y="1698"/>
                  <a:pt x="900482" y="11319"/>
                  <a:pt x="1346265" y="3301"/>
                </a:cubicBezTo>
                <a:cubicBezTo>
                  <a:pt x="1792048" y="-4716"/>
                  <a:pt x="2621076" y="3301"/>
                  <a:pt x="2876038" y="3301"/>
                </a:cubicBezTo>
              </a:path>
            </a:pathLst>
          </a:custGeom>
          <a:noFill/>
          <a:ln>
            <a:solidFill>
              <a:schemeClr val="dk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1" name="TextBox 41"/>
          <p:cNvSpPr txBox="1"/>
          <p:nvPr/>
        </p:nvSpPr>
        <p:spPr>
          <a:xfrm>
            <a:off x="7579786" y="4097346"/>
            <a:ext cx="4333392" cy="391738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‘B. </a:t>
            </a:r>
            <a:r>
              <a:rPr lang="ko-KR" altLang="en-US" sz="1000"/>
              <a:t>실시간 주문 수집 및 입력</a:t>
            </a: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r>
              <a:rPr lang="en-US" altLang="ko-KR" sz="1000"/>
              <a:t>ggotAIorder’</a:t>
            </a:r>
            <a:r>
              <a:rPr lang="ko-KR" altLang="en-US" sz="1000"/>
              <a:t>가</a:t>
            </a:r>
          </a:p>
          <a:p>
            <a:pPr lvl="0">
              <a:defRPr/>
            </a:pPr>
            <a:r>
              <a:rPr lang="ko-KR" altLang="en-US" sz="1000"/>
              <a:t>실행이 중지되어 있는 상태임</a:t>
            </a:r>
          </a:p>
        </p:txBody>
      </p:sp>
      <p:cxnSp>
        <p:nvCxnSpPr>
          <p:cNvPr id="82" name="직선 화살표 연결선 81"/>
          <p:cNvCxnSpPr>
            <a:stCxn id="75" idx="3"/>
          </p:cNvCxnSpPr>
          <p:nvPr/>
        </p:nvCxnSpPr>
        <p:spPr>
          <a:xfrm>
            <a:off x="6569208" y="4672445"/>
            <a:ext cx="989215" cy="103524"/>
          </a:xfrm>
          <a:prstGeom prst="straightConnector1">
            <a:avLst/>
          </a:prstGeom>
          <a:ln w="12700">
            <a:solidFill>
              <a:schemeClr val="dk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41"/>
          <p:cNvSpPr txBox="1"/>
          <p:nvPr/>
        </p:nvSpPr>
        <p:spPr>
          <a:xfrm>
            <a:off x="7579786" y="4617565"/>
            <a:ext cx="4333392" cy="543080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‘</a:t>
            </a:r>
            <a:r>
              <a:rPr lang="ko-KR" altLang="en-US" sz="1000"/>
              <a:t>주문수집 시작</a:t>
            </a:r>
            <a:r>
              <a:rPr lang="en-US" altLang="ko-KR" sz="1000"/>
              <a:t>’</a:t>
            </a:r>
            <a:r>
              <a:rPr lang="ko-KR" altLang="en-US" sz="1000"/>
              <a:t> 버튼을 클릭하면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‘B. </a:t>
            </a:r>
            <a:r>
              <a:rPr lang="ko-KR" altLang="en-US" sz="1000"/>
              <a:t>실시간 주문 수집 및 입력</a:t>
            </a: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r>
              <a:rPr lang="en-US" altLang="ko-KR" sz="1000"/>
              <a:t>ggotAIorder’</a:t>
            </a:r>
            <a:r>
              <a:rPr lang="ko-KR" altLang="en-US" sz="1000"/>
              <a:t> 를 실행시키고</a:t>
            </a:r>
            <a:r>
              <a:rPr lang="en-US" altLang="ko-KR" sz="1000"/>
              <a:t>,</a:t>
            </a:r>
            <a:r>
              <a:rPr lang="ko-KR" altLang="en-US" sz="1000"/>
              <a:t> 위의 </a:t>
            </a:r>
            <a:r>
              <a:rPr lang="en-US" altLang="ko-KR" sz="1000"/>
              <a:t>&lt;</a:t>
            </a:r>
            <a:r>
              <a:rPr lang="ko-KR" altLang="en-US" sz="1000"/>
              <a:t>주문수집 중 상태</a:t>
            </a:r>
            <a:r>
              <a:rPr lang="en-US" altLang="ko-KR" sz="1000"/>
              <a:t>&gt;</a:t>
            </a:r>
            <a:r>
              <a:rPr lang="ko-KR" altLang="en-US" sz="1000"/>
              <a:t>로 바뀜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274944" y="2707086"/>
          <a:ext cx="7172746" cy="2810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37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58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751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No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주문일자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주문시간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고객명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상품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배달장소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채널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1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2026.02.25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10.35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꽃다발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50,000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경기도 수원시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핸드폰</a:t>
                      </a:r>
                      <a:r>
                        <a:rPr lang="en-US" altLang="ko-KR" sz="1000">
                          <a:latin typeface="+mj-lt"/>
                        </a:rPr>
                        <a:t>1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성공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2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2026.02.25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10.30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㈜삼성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서양란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100,000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서울시 종로구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전화</a:t>
                      </a:r>
                      <a:r>
                        <a:rPr lang="en-US" altLang="ko-KR" sz="1000">
                          <a:latin typeface="+mj-lt"/>
                        </a:rPr>
                        <a:t>(</a:t>
                      </a:r>
                      <a:r>
                        <a:rPr lang="ko-KR" altLang="en-US" sz="1000">
                          <a:latin typeface="+mj-lt"/>
                        </a:rPr>
                        <a:t>가게</a:t>
                      </a:r>
                      <a:r>
                        <a:rPr lang="en-US" altLang="ko-KR" sz="1000">
                          <a:latin typeface="+mj-lt"/>
                        </a:rPr>
                        <a:t>)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대기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3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2026.02.25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10.10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가게손님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꽃바구니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60,000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직접수령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음성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실패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4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2026.02.24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10.30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LG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행복나무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100,000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경남 함안군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쇼핑몰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성공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5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2026.02.24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10.10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카톡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/>
                        <a:t>서양란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/>
                        <a:t>100,000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부산시청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핸드폰</a:t>
                      </a:r>
                      <a:r>
                        <a:rPr lang="en-US" altLang="ko-KR" sz="1000">
                          <a:latin typeface="+mj-lt"/>
                        </a:rPr>
                        <a:t>2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6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2026.02.23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제주꽃집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꽃바구니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80,000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남양주시청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+mj-lt"/>
                        </a:rPr>
                        <a:t>인터라넷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6</a:t>
                      </a:r>
                      <a:r>
                        <a:rPr lang="ko-KR" altLang="en-US" sz="1000">
                          <a:latin typeface="+mj-lt"/>
                        </a:rPr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+mj-lt"/>
                        </a:rPr>
                        <a:t>490,000</a:t>
                      </a: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301107" y="2323325"/>
            <a:ext cx="7220890" cy="281630"/>
            <a:chOff x="2265374" y="2213260"/>
            <a:chExt cx="7220890" cy="281630"/>
          </a:xfrm>
        </p:grpSpPr>
        <p:sp>
          <p:nvSpPr>
            <p:cNvPr id="2" name="TextBox 1"/>
            <p:cNvSpPr txBox="1"/>
            <p:nvPr/>
          </p:nvSpPr>
          <p:spPr>
            <a:xfrm>
              <a:off x="7650904" y="2227145"/>
              <a:ext cx="806631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1000"/>
                <a:t>2026.02.01</a:t>
              </a:r>
              <a:endParaRPr lang="ko-KR" altLang="en-US" sz="1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32294" y="2227145"/>
              <a:ext cx="806631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1000"/>
                <a:t>2026.02.30</a:t>
              </a:r>
              <a:endParaRPr lang="ko-KR" altLang="en-US" sz="1000"/>
            </a:p>
          </p:txBody>
        </p:sp>
        <p:grpSp>
          <p:nvGrpSpPr>
            <p:cNvPr id="25" name="그룹 24"/>
            <p:cNvGrpSpPr/>
            <p:nvPr/>
          </p:nvGrpSpPr>
          <p:grpSpPr>
            <a:xfrm>
              <a:off x="2265374" y="2222304"/>
              <a:ext cx="713414" cy="272269"/>
              <a:chOff x="1084274" y="1765104"/>
              <a:chExt cx="713414" cy="27226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356542" y="1765104"/>
                <a:ext cx="441146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전체</a:t>
                </a:r>
              </a:p>
            </p:txBody>
          </p:sp>
          <p:grpSp>
            <p:nvGrpSpPr>
              <p:cNvPr id="24" name="그룹 23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22" name="타원 21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grpSp>
          <p:nvGrpSpPr>
            <p:cNvPr id="26" name="그룹 25"/>
            <p:cNvGrpSpPr/>
            <p:nvPr/>
          </p:nvGrpSpPr>
          <p:grpSpPr>
            <a:xfrm>
              <a:off x="2979749" y="2217574"/>
              <a:ext cx="841655" cy="272269"/>
              <a:chOff x="1084274" y="1765104"/>
              <a:chExt cx="841655" cy="272269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356542" y="1765104"/>
                <a:ext cx="56938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핸드폰</a:t>
                </a:r>
              </a:p>
            </p:txBody>
          </p:sp>
          <p:grpSp>
            <p:nvGrpSpPr>
              <p:cNvPr id="28" name="그룹 27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29" name="타원 28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30" name="타원 29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grpSp>
          <p:nvGrpSpPr>
            <p:cNvPr id="31" name="그룹 30"/>
            <p:cNvGrpSpPr/>
            <p:nvPr/>
          </p:nvGrpSpPr>
          <p:grpSpPr>
            <a:xfrm>
              <a:off x="3891394" y="2217574"/>
              <a:ext cx="969895" cy="272269"/>
              <a:chOff x="1084274" y="1765104"/>
              <a:chExt cx="969895" cy="272269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1356542" y="1765104"/>
                <a:ext cx="6976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가게전화</a:t>
                </a:r>
              </a:p>
            </p:txBody>
          </p:sp>
          <p:grpSp>
            <p:nvGrpSpPr>
              <p:cNvPr id="33" name="그룹 32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34" name="타원 33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grpSp>
          <p:nvGrpSpPr>
            <p:cNvPr id="36" name="그룹 35"/>
            <p:cNvGrpSpPr/>
            <p:nvPr/>
          </p:nvGrpSpPr>
          <p:grpSpPr>
            <a:xfrm>
              <a:off x="4843247" y="2222621"/>
              <a:ext cx="969895" cy="272269"/>
              <a:chOff x="1084274" y="1765104"/>
              <a:chExt cx="969895" cy="272269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1356542" y="1765104"/>
                <a:ext cx="6976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가게주문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39" name="타원 38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40" name="타원 39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grpSp>
          <p:nvGrpSpPr>
            <p:cNvPr id="41" name="그룹 40"/>
            <p:cNvGrpSpPr/>
            <p:nvPr/>
          </p:nvGrpSpPr>
          <p:grpSpPr>
            <a:xfrm>
              <a:off x="5829973" y="2213260"/>
              <a:ext cx="841655" cy="272269"/>
              <a:chOff x="1084274" y="1765104"/>
              <a:chExt cx="841655" cy="272269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356542" y="1765104"/>
                <a:ext cx="56938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쇼핑몰</a:t>
                </a:r>
              </a:p>
            </p:txBody>
          </p:sp>
          <p:grpSp>
            <p:nvGrpSpPr>
              <p:cNvPr id="43" name="그룹 42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44" name="타원 43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45" name="타원 44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grpSp>
          <p:nvGrpSpPr>
            <p:cNvPr id="46" name="그룹 45"/>
            <p:cNvGrpSpPr/>
            <p:nvPr/>
          </p:nvGrpSpPr>
          <p:grpSpPr>
            <a:xfrm>
              <a:off x="6677172" y="2222304"/>
              <a:ext cx="969895" cy="272269"/>
              <a:chOff x="1084274" y="1765104"/>
              <a:chExt cx="969895" cy="27226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1356542" y="1765104"/>
                <a:ext cx="6976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ko-KR" altLang="en-US" sz="1000"/>
                  <a:t>인터라넷</a:t>
                </a:r>
              </a:p>
            </p:txBody>
          </p:sp>
          <p:grpSp>
            <p:nvGrpSpPr>
              <p:cNvPr id="48" name="그룹 47"/>
              <p:cNvGrpSpPr/>
              <p:nvPr/>
            </p:nvGrpSpPr>
            <p:grpSpPr>
              <a:xfrm>
                <a:off x="1084274" y="1765104"/>
                <a:ext cx="272269" cy="272269"/>
                <a:chOff x="1084274" y="1765104"/>
                <a:chExt cx="272269" cy="272269"/>
              </a:xfrm>
            </p:grpSpPr>
            <p:sp>
              <p:nvSpPr>
                <p:cNvPr id="49" name="타원 48"/>
                <p:cNvSpPr/>
                <p:nvPr/>
              </p:nvSpPr>
              <p:spPr>
                <a:xfrm>
                  <a:off x="1144208" y="1825038"/>
                  <a:ext cx="152400" cy="152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50" name="타원 49"/>
                <p:cNvSpPr/>
                <p:nvPr/>
              </p:nvSpPr>
              <p:spPr>
                <a:xfrm>
                  <a:off x="1084274" y="1765104"/>
                  <a:ext cx="272269" cy="27226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</p:grpSp>
        </p:grpSp>
        <p:sp>
          <p:nvSpPr>
            <p:cNvPr id="51" name="TextBox 50"/>
            <p:cNvSpPr txBox="1"/>
            <p:nvPr/>
          </p:nvSpPr>
          <p:spPr>
            <a:xfrm>
              <a:off x="8294093" y="2235094"/>
              <a:ext cx="274434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1000"/>
                <a:t>~</a:t>
              </a:r>
              <a:endParaRPr lang="ko-KR" altLang="en-US" sz="1000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9266826" y="2273194"/>
              <a:ext cx="219438" cy="214213"/>
            </a:xfrm>
            <a:prstGeom prst="rect">
              <a:avLst/>
            </a:prstGeom>
          </p:spPr>
        </p:pic>
      </p:grpSp>
      <p:sp>
        <p:nvSpPr>
          <p:cNvPr id="54" name="직사각형 53"/>
          <p:cNvSpPr/>
          <p:nvPr/>
        </p:nvSpPr>
        <p:spPr>
          <a:xfrm>
            <a:off x="153175" y="1363134"/>
            <a:ext cx="7517625" cy="4851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857067" y="5850467"/>
            <a:ext cx="368081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50" dirty="0">
                <a:solidFill>
                  <a:srgbClr val="FF0000"/>
                </a:solidFill>
              </a:rPr>
              <a:t>한 페이지에 몇 개의 데이터를 </a:t>
            </a:r>
            <a:r>
              <a:rPr lang="ko-KR" altLang="en-US" sz="1050" dirty="0" err="1">
                <a:solidFill>
                  <a:srgbClr val="FF0000"/>
                </a:solidFill>
              </a:rPr>
              <a:t>보여줄것인가</a:t>
            </a:r>
            <a:r>
              <a:rPr lang="en-US" altLang="ko-KR" sz="1050" dirty="0">
                <a:solidFill>
                  <a:srgbClr val="FF0000"/>
                </a:solidFill>
              </a:rPr>
              <a:t>? </a:t>
            </a:r>
            <a:r>
              <a:rPr lang="ko-KR" altLang="en-US" sz="1050" dirty="0">
                <a:solidFill>
                  <a:srgbClr val="FF0000"/>
                </a:solidFill>
              </a:rPr>
              <a:t>결정해야 함</a:t>
            </a:r>
          </a:p>
        </p:txBody>
      </p:sp>
      <p:sp>
        <p:nvSpPr>
          <p:cNvPr id="52" name="TextBox 49"/>
          <p:cNvSpPr txBox="1"/>
          <p:nvPr/>
        </p:nvSpPr>
        <p:spPr>
          <a:xfrm>
            <a:off x="315121" y="264367"/>
            <a:ext cx="46340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7. </a:t>
            </a:r>
            <a:r>
              <a:rPr lang="ko-KR" altLang="en-US" b="1"/>
              <a:t>주문접수 조회</a:t>
            </a:r>
            <a:r>
              <a:rPr lang="en-US" altLang="ko-KR" b="1"/>
              <a:t> </a:t>
            </a:r>
            <a:r>
              <a:rPr lang="ko-KR" altLang="en-US" b="1"/>
              <a:t>화면</a:t>
            </a:r>
            <a:r>
              <a:rPr lang="en-US" altLang="ko-KR" b="1"/>
              <a:t>(</a:t>
            </a:r>
            <a:r>
              <a:rPr lang="ko-KR" altLang="en-US" b="1"/>
              <a:t>로그인 후 사용가능</a:t>
            </a:r>
            <a:r>
              <a:rPr lang="en-US" altLang="ko-KR" b="1"/>
              <a:t>)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16559" y="1412971"/>
            <a:ext cx="30187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주문접수상황판  주문접수조회  환경설정</a:t>
            </a:r>
            <a:endParaRPr lang="en-US" altLang="ko-KR" sz="1200" b="1"/>
          </a:p>
        </p:txBody>
      </p:sp>
      <p:sp>
        <p:nvSpPr>
          <p:cNvPr id="57" name="직사각형 56"/>
          <p:cNvSpPr/>
          <p:nvPr/>
        </p:nvSpPr>
        <p:spPr>
          <a:xfrm>
            <a:off x="3078762" y="1437216"/>
            <a:ext cx="25375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서울꽃집   마이페이지   로그아웃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3356348" y="1963304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/>
              <a:t>주문접수조회</a:t>
            </a:r>
            <a:endParaRPr lang="en-US" altLang="ko-KR" sz="1200" b="1"/>
          </a:p>
        </p:txBody>
      </p:sp>
      <p:cxnSp>
        <p:nvCxnSpPr>
          <p:cNvPr id="59" name="직선 연결선 58"/>
          <p:cNvCxnSpPr/>
          <p:nvPr/>
        </p:nvCxnSpPr>
        <p:spPr>
          <a:xfrm>
            <a:off x="0" y="121654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775426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10"/>
          <p:cNvSpPr txBox="1"/>
          <p:nvPr/>
        </p:nvSpPr>
        <p:spPr>
          <a:xfrm>
            <a:off x="3179107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화면</a:t>
            </a:r>
          </a:p>
        </p:txBody>
      </p:sp>
      <p:sp>
        <p:nvSpPr>
          <p:cNvPr id="62" name="TextBox 10"/>
          <p:cNvSpPr txBox="1"/>
          <p:nvPr/>
        </p:nvSpPr>
        <p:spPr>
          <a:xfrm>
            <a:off x="10145692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설명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33650" y="2418350"/>
            <a:ext cx="1811483" cy="2462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1. TABLE: order_details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20133" y="2260600"/>
            <a:ext cx="5461000" cy="397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5740402" y="2260600"/>
            <a:ext cx="1481666" cy="397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7264402" y="2260600"/>
            <a:ext cx="321731" cy="397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5173133" y="1404141"/>
            <a:ext cx="2743200" cy="847992"/>
          </a:xfrm>
          <a:custGeom>
            <a:avLst/>
            <a:gdLst>
              <a:gd name="connsiteX0" fmla="*/ 0 w 2743200"/>
              <a:gd name="connsiteY0" fmla="*/ 847992 h 847992"/>
              <a:gd name="connsiteX1" fmla="*/ 1337734 w 2743200"/>
              <a:gd name="connsiteY1" fmla="*/ 119859 h 847992"/>
              <a:gd name="connsiteX2" fmla="*/ 2743200 w 2743200"/>
              <a:gd name="connsiteY2" fmla="*/ 1326 h 847992"/>
              <a:gd name="connsiteX3" fmla="*/ 2743200 w 2743200"/>
              <a:gd name="connsiteY3" fmla="*/ 1326 h 84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847992">
                <a:moveTo>
                  <a:pt x="0" y="847992"/>
                </a:moveTo>
                <a:cubicBezTo>
                  <a:pt x="440267" y="554481"/>
                  <a:pt x="880534" y="260970"/>
                  <a:pt x="1337734" y="119859"/>
                </a:cubicBezTo>
                <a:cubicBezTo>
                  <a:pt x="1794934" y="-21252"/>
                  <a:pt x="2743200" y="1326"/>
                  <a:pt x="2743200" y="1326"/>
                </a:cubicBezTo>
                <a:lnTo>
                  <a:pt x="2743200" y="1326"/>
                </a:lnTo>
              </a:path>
            </a:pathLst>
          </a:custGeom>
          <a:noFill/>
          <a:ln>
            <a:solidFill>
              <a:srgbClr val="00B0F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6" name="자유형 65"/>
          <p:cNvSpPr/>
          <p:nvPr/>
        </p:nvSpPr>
        <p:spPr>
          <a:xfrm>
            <a:off x="6485466" y="1718733"/>
            <a:ext cx="1430867" cy="550334"/>
          </a:xfrm>
          <a:custGeom>
            <a:avLst/>
            <a:gdLst>
              <a:gd name="connsiteX0" fmla="*/ 0 w 2743200"/>
              <a:gd name="connsiteY0" fmla="*/ 847992 h 847992"/>
              <a:gd name="connsiteX1" fmla="*/ 1337734 w 2743200"/>
              <a:gd name="connsiteY1" fmla="*/ 119859 h 847992"/>
              <a:gd name="connsiteX2" fmla="*/ 2743200 w 2743200"/>
              <a:gd name="connsiteY2" fmla="*/ 1326 h 847992"/>
              <a:gd name="connsiteX3" fmla="*/ 2743200 w 2743200"/>
              <a:gd name="connsiteY3" fmla="*/ 1326 h 84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847992">
                <a:moveTo>
                  <a:pt x="0" y="847992"/>
                </a:moveTo>
                <a:cubicBezTo>
                  <a:pt x="440267" y="554481"/>
                  <a:pt x="880534" y="260970"/>
                  <a:pt x="1337734" y="119859"/>
                </a:cubicBezTo>
                <a:cubicBezTo>
                  <a:pt x="1794934" y="-21252"/>
                  <a:pt x="2743200" y="1326"/>
                  <a:pt x="2743200" y="1326"/>
                </a:cubicBezTo>
                <a:lnTo>
                  <a:pt x="2743200" y="1326"/>
                </a:lnTo>
              </a:path>
            </a:pathLst>
          </a:custGeom>
          <a:noFill/>
          <a:ln>
            <a:solidFill>
              <a:srgbClr val="00B0F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7" name="자유형 66"/>
          <p:cNvSpPr/>
          <p:nvPr/>
        </p:nvSpPr>
        <p:spPr>
          <a:xfrm>
            <a:off x="7374466" y="2006600"/>
            <a:ext cx="533401" cy="245533"/>
          </a:xfrm>
          <a:custGeom>
            <a:avLst/>
            <a:gdLst>
              <a:gd name="connsiteX0" fmla="*/ 0 w 2743200"/>
              <a:gd name="connsiteY0" fmla="*/ 847992 h 847992"/>
              <a:gd name="connsiteX1" fmla="*/ 1337734 w 2743200"/>
              <a:gd name="connsiteY1" fmla="*/ 119859 h 847992"/>
              <a:gd name="connsiteX2" fmla="*/ 2743200 w 2743200"/>
              <a:gd name="connsiteY2" fmla="*/ 1326 h 847992"/>
              <a:gd name="connsiteX3" fmla="*/ 2743200 w 2743200"/>
              <a:gd name="connsiteY3" fmla="*/ 1326 h 84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847992">
                <a:moveTo>
                  <a:pt x="0" y="847992"/>
                </a:moveTo>
                <a:cubicBezTo>
                  <a:pt x="440267" y="554481"/>
                  <a:pt x="880534" y="260970"/>
                  <a:pt x="1337734" y="119859"/>
                </a:cubicBezTo>
                <a:cubicBezTo>
                  <a:pt x="1794934" y="-21252"/>
                  <a:pt x="2743200" y="1326"/>
                  <a:pt x="2743200" y="1326"/>
                </a:cubicBezTo>
                <a:lnTo>
                  <a:pt x="2743200" y="1326"/>
                </a:lnTo>
              </a:path>
            </a:pathLst>
          </a:custGeom>
          <a:noFill/>
          <a:ln>
            <a:solidFill>
              <a:srgbClr val="00B0F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933650" y="1190686"/>
            <a:ext cx="4258350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-</a:t>
            </a:r>
            <a:r>
              <a:rPr lang="ko-KR" altLang="en-US" sz="900"/>
              <a:t>주문 수집 채널</a:t>
            </a:r>
            <a:r>
              <a:rPr lang="en-US" altLang="ko-KR" sz="900"/>
              <a:t>: ‘</a:t>
            </a:r>
            <a:r>
              <a:rPr lang="ko-KR" altLang="en-US" sz="900"/>
              <a:t>전체</a:t>
            </a:r>
            <a:r>
              <a:rPr lang="en-US" altLang="ko-KR" sz="900"/>
              <a:t>’, ‘</a:t>
            </a:r>
            <a:r>
              <a:rPr lang="ko-KR" altLang="en-US" sz="900"/>
              <a:t>핸드폰</a:t>
            </a:r>
            <a:r>
              <a:rPr lang="en-US" altLang="ko-KR" sz="900"/>
              <a:t>’, ‘</a:t>
            </a:r>
            <a:r>
              <a:rPr lang="ko-KR" altLang="en-US" sz="900"/>
              <a:t>가게전화</a:t>
            </a:r>
            <a:r>
              <a:rPr lang="en-US" altLang="ko-KR" sz="900"/>
              <a:t>’, ‘</a:t>
            </a:r>
            <a:r>
              <a:rPr lang="ko-KR" altLang="en-US" sz="900"/>
              <a:t>쇼핑몰</a:t>
            </a:r>
            <a:r>
              <a:rPr lang="en-US" altLang="ko-KR" sz="900"/>
              <a:t>’, ‘</a:t>
            </a:r>
            <a:r>
              <a:rPr lang="ko-KR" altLang="en-US" sz="900"/>
              <a:t>인터라넷</a:t>
            </a:r>
            <a:r>
              <a:rPr lang="en-US" altLang="ko-KR" sz="900"/>
              <a:t>’, ‘</a:t>
            </a:r>
            <a:r>
              <a:rPr lang="ko-KR" altLang="en-US" sz="900"/>
              <a:t>가게음성</a:t>
            </a:r>
            <a:r>
              <a:rPr lang="en-US" altLang="ko-KR" sz="900"/>
              <a:t>‘</a:t>
            </a:r>
          </a:p>
          <a:p>
            <a:pPr lvl="0">
              <a:defRPr/>
            </a:pPr>
            <a:r>
              <a:rPr lang="en-US" altLang="ko-KR" sz="900"/>
              <a:t>-</a:t>
            </a:r>
            <a:r>
              <a:rPr lang="ko-KR" altLang="en-US" sz="900"/>
              <a:t>주문 수집 채널별 조회가 가능함</a:t>
            </a:r>
            <a:endParaRPr lang="en-US" altLang="ko-KR" sz="900"/>
          </a:p>
        </p:txBody>
      </p:sp>
      <p:sp>
        <p:nvSpPr>
          <p:cNvPr id="69" name="TextBox 68"/>
          <p:cNvSpPr txBox="1"/>
          <p:nvPr/>
        </p:nvSpPr>
        <p:spPr>
          <a:xfrm>
            <a:off x="7933650" y="1605553"/>
            <a:ext cx="1557483" cy="2308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조회기간 설정</a:t>
            </a:r>
            <a:endParaRPr lang="en-US" altLang="ko-KR" sz="900"/>
          </a:p>
        </p:txBody>
      </p:sp>
      <p:sp>
        <p:nvSpPr>
          <p:cNvPr id="70" name="TextBox 69"/>
          <p:cNvSpPr txBox="1"/>
          <p:nvPr/>
        </p:nvSpPr>
        <p:spPr>
          <a:xfrm>
            <a:off x="7933650" y="1884953"/>
            <a:ext cx="1565950" cy="2308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조회 버턴</a:t>
            </a:r>
            <a:endParaRPr lang="en-US" altLang="ko-KR" sz="900"/>
          </a:p>
        </p:txBody>
      </p:sp>
      <p:sp>
        <p:nvSpPr>
          <p:cNvPr id="8" name="직사각형 7"/>
          <p:cNvSpPr/>
          <p:nvPr/>
        </p:nvSpPr>
        <p:spPr>
          <a:xfrm>
            <a:off x="7918813" y="2964935"/>
            <a:ext cx="2401619" cy="40011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 dirty="0"/>
              <a:t>RPA </a:t>
            </a:r>
            <a:r>
              <a:rPr lang="en-US" altLang="ko-KR" sz="1000" dirty="0" err="1"/>
              <a:t>처리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상태</a:t>
            </a:r>
            <a:r>
              <a:rPr lang="en-US" altLang="ko-KR" sz="1000" dirty="0"/>
              <a:t> ('ready', 'success', 'fail</a:t>
            </a:r>
            <a:r>
              <a:rPr lang="en-US" altLang="ko-KR" sz="1000" dirty="0" smtClean="0"/>
              <a:t>')</a:t>
            </a:r>
          </a:p>
          <a:p>
            <a:pPr lvl="0">
              <a:defRPr/>
            </a:pPr>
            <a:r>
              <a:rPr lang="en-US" altLang="ko-KR" sz="1000" dirty="0" smtClean="0"/>
              <a:t>-&gt;’</a:t>
            </a:r>
            <a:r>
              <a:rPr lang="ko-KR" altLang="en-US" sz="1000" dirty="0" smtClean="0"/>
              <a:t>대기</a:t>
            </a:r>
            <a:r>
              <a:rPr lang="en-US" altLang="ko-KR" sz="1000" dirty="0" smtClean="0"/>
              <a:t>’, ’</a:t>
            </a:r>
            <a:r>
              <a:rPr lang="ko-KR" altLang="en-US" sz="1000" dirty="0" smtClean="0"/>
              <a:t>성공</a:t>
            </a:r>
            <a:r>
              <a:rPr lang="en-US" altLang="ko-KR" sz="1000" dirty="0" smtClean="0"/>
              <a:t>’, ‘</a:t>
            </a:r>
            <a:r>
              <a:rPr lang="ko-KR" altLang="en-US" sz="1000" dirty="0" smtClean="0"/>
              <a:t>실패</a:t>
            </a:r>
            <a:r>
              <a:rPr lang="en-US" altLang="ko-KR" sz="1000" dirty="0" smtClean="0"/>
              <a:t>’</a:t>
            </a:r>
            <a:endParaRPr lang="en-US" altLang="ko-KR" sz="1000" dirty="0"/>
          </a:p>
        </p:txBody>
      </p:sp>
      <p:cxnSp>
        <p:nvCxnSpPr>
          <p:cNvPr id="10" name="직선 화살표 연결선 9"/>
          <p:cNvCxnSpPr>
            <a:endCxn id="8" idx="1"/>
          </p:cNvCxnSpPr>
          <p:nvPr/>
        </p:nvCxnSpPr>
        <p:spPr>
          <a:xfrm>
            <a:off x="7476067" y="3098800"/>
            <a:ext cx="442746" cy="661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663267" y="2717800"/>
            <a:ext cx="812800" cy="2192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 rot="0">
            <a:off x="83831" y="4254596"/>
            <a:ext cx="6402560" cy="261610"/>
            <a:chOff x="1454507" y="2007794"/>
            <a:chExt cx="6402560" cy="261610"/>
          </a:xfrm>
        </p:grpSpPr>
        <p:sp>
          <p:nvSpPr>
            <p:cNvPr id="25" name="TextBox 24"/>
            <p:cNvSpPr txBox="1"/>
            <p:nvPr/>
          </p:nvSpPr>
          <p:spPr>
            <a:xfrm>
              <a:off x="1454507" y="2007794"/>
              <a:ext cx="174438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쇼핑몰 관리자 모드 주소</a:t>
              </a:r>
              <a:endParaRPr lang="ko-KR" altLang="en-US" sz="11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15706" y="2007794"/>
              <a:ext cx="4641361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100"/>
            </a:p>
          </p:txBody>
        </p:sp>
      </p:grpSp>
      <p:grpSp>
        <p:nvGrpSpPr>
          <p:cNvPr id="29" name="그룹 28"/>
          <p:cNvGrpSpPr/>
          <p:nvPr/>
        </p:nvGrpSpPr>
        <p:grpSpPr>
          <a:xfrm rot="0">
            <a:off x="1031206" y="4627125"/>
            <a:ext cx="5455186" cy="261610"/>
            <a:chOff x="2401882" y="2007794"/>
            <a:chExt cx="5455186" cy="261610"/>
          </a:xfrm>
        </p:grpSpPr>
        <p:sp>
          <p:nvSpPr>
            <p:cNvPr id="30" name="TextBox 29"/>
            <p:cNvSpPr txBox="1"/>
            <p:nvPr/>
          </p:nvSpPr>
          <p:spPr>
            <a:xfrm>
              <a:off x="2401882" y="2007794"/>
              <a:ext cx="79701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쇼핑몰 </a:t>
              </a:r>
              <a:r>
                <a:rPr lang="en-US" altLang="ko-KR" sz="1100"/>
                <a:t>ID</a:t>
              </a:r>
              <a:endParaRPr lang="ko-KR" altLang="en-US" sz="11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15706" y="2007794"/>
              <a:ext cx="1466361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1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526943" y="2007794"/>
              <a:ext cx="87235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쇼핑몰 </a:t>
              </a:r>
              <a:r>
                <a:rPr lang="en-US" altLang="ko-KR" sz="1100"/>
                <a:t>PW</a:t>
              </a:r>
              <a:endParaRPr lang="ko-KR" altLang="en-US" sz="11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65308" y="2007794"/>
              <a:ext cx="1491760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endParaRPr lang="en-US" altLang="ko-KR" sz="1100"/>
            </a:p>
          </p:txBody>
        </p:sp>
      </p:grpSp>
      <p:grpSp>
        <p:nvGrpSpPr>
          <p:cNvPr id="34" name="그룹 33"/>
          <p:cNvGrpSpPr/>
          <p:nvPr/>
        </p:nvGrpSpPr>
        <p:grpSpPr>
          <a:xfrm rot="0">
            <a:off x="747315" y="4979380"/>
            <a:ext cx="5738917" cy="261610"/>
            <a:chOff x="2118150" y="2007794"/>
            <a:chExt cx="5738917" cy="261610"/>
          </a:xfrm>
        </p:grpSpPr>
        <p:sp>
          <p:nvSpPr>
            <p:cNvPr id="35" name="TextBox 34"/>
            <p:cNvSpPr txBox="1"/>
            <p:nvPr/>
          </p:nvSpPr>
          <p:spPr>
            <a:xfrm>
              <a:off x="2118150" y="2007794"/>
              <a:ext cx="108074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인터라넷 주소</a:t>
              </a:r>
              <a:endParaRPr lang="ko-KR" altLang="en-US" sz="11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15706" y="2007794"/>
              <a:ext cx="4641361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100"/>
            </a:p>
          </p:txBody>
        </p:sp>
      </p:grpSp>
      <p:grpSp>
        <p:nvGrpSpPr>
          <p:cNvPr id="37" name="그룹 36"/>
          <p:cNvGrpSpPr/>
          <p:nvPr/>
        </p:nvGrpSpPr>
        <p:grpSpPr>
          <a:xfrm rot="0">
            <a:off x="889983" y="5351909"/>
            <a:ext cx="5596250" cy="261610"/>
            <a:chOff x="2260818" y="2007794"/>
            <a:chExt cx="5596250" cy="261610"/>
          </a:xfrm>
        </p:grpSpPr>
        <p:sp>
          <p:nvSpPr>
            <p:cNvPr id="38" name="TextBox 37"/>
            <p:cNvSpPr txBox="1"/>
            <p:nvPr/>
          </p:nvSpPr>
          <p:spPr>
            <a:xfrm>
              <a:off x="2260818" y="2007794"/>
              <a:ext cx="93807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인터라넷 </a:t>
              </a:r>
              <a:r>
                <a:rPr lang="en-US" altLang="ko-KR" sz="1100"/>
                <a:t>ID</a:t>
              </a:r>
              <a:endParaRPr lang="ko-KR" altLang="en-US" sz="11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15706" y="2007794"/>
              <a:ext cx="1466361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1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85879" y="2007794"/>
              <a:ext cx="101341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/>
                <a:t>인터라넷 </a:t>
              </a:r>
              <a:r>
                <a:rPr lang="en-US" altLang="ko-KR" sz="1100"/>
                <a:t>PW</a:t>
              </a:r>
              <a:endParaRPr lang="ko-KR" altLang="en-US" sz="11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65308" y="2007794"/>
              <a:ext cx="1491760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endParaRPr lang="en-US" altLang="ko-KR" sz="1100"/>
            </a:p>
          </p:txBody>
        </p:sp>
      </p:grpSp>
      <p:grpSp>
        <p:nvGrpSpPr>
          <p:cNvPr id="42" name="그룹 41"/>
          <p:cNvGrpSpPr/>
          <p:nvPr/>
        </p:nvGrpSpPr>
        <p:grpSpPr>
          <a:xfrm rot="0">
            <a:off x="197385" y="5914056"/>
            <a:ext cx="6593319" cy="261610"/>
            <a:chOff x="1263749" y="2007794"/>
            <a:chExt cx="6593319" cy="261610"/>
          </a:xfrm>
        </p:grpSpPr>
        <p:sp>
          <p:nvSpPr>
            <p:cNvPr id="43" name="TextBox 42"/>
            <p:cNvSpPr txBox="1"/>
            <p:nvPr/>
          </p:nvSpPr>
          <p:spPr>
            <a:xfrm>
              <a:off x="1263749" y="2007794"/>
              <a:ext cx="193514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>
                  <a:solidFill>
                    <a:srgbClr val="ff0000"/>
                  </a:solidFill>
                </a:rPr>
                <a:t>쇼핑몰 주문 확인 시간 간격</a:t>
              </a:r>
              <a:endParaRPr lang="ko-KR" altLang="en-US" sz="1100">
                <a:solidFill>
                  <a:srgbClr val="ff0000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15706" y="2007794"/>
              <a:ext cx="1466361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100">
                  <a:solidFill>
                    <a:srgbClr val="ff0000"/>
                  </a:solidFill>
                </a:rPr>
                <a:t>30</a:t>
              </a:r>
              <a:r>
                <a:rPr lang="ko-KR" altLang="en-US" sz="1100">
                  <a:solidFill>
                    <a:srgbClr val="ff0000"/>
                  </a:solidFill>
                </a:rPr>
                <a:t>분</a:t>
              </a:r>
              <a:endParaRPr lang="en-US" altLang="ko-KR" sz="1100">
                <a:solidFill>
                  <a:srgbClr val="ff000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986731" y="2007794"/>
              <a:ext cx="141256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1100">
                  <a:solidFill>
                    <a:srgbClr val="ff0000"/>
                  </a:solidFill>
                </a:rPr>
                <a:t>인터라넷 시간 간격</a:t>
              </a:r>
              <a:endParaRPr lang="ko-KR" altLang="en-US" sz="1100">
                <a:solidFill>
                  <a:srgbClr val="ff000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65308" y="2007794"/>
              <a:ext cx="1491760" cy="2616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solidFill>
                    <a:srgbClr val="ff0000"/>
                  </a:solidFill>
                </a:rPr>
                <a:t>30</a:t>
              </a:r>
              <a:r>
                <a:rPr lang="ko-KR" altLang="en-US" sz="1100">
                  <a:solidFill>
                    <a:srgbClr val="ff0000"/>
                  </a:solidFill>
                </a:rPr>
                <a:t>분</a:t>
              </a:r>
              <a:endParaRPr lang="en-US" altLang="ko-KR" sz="1100">
                <a:solidFill>
                  <a:srgbClr val="ff0000"/>
                </a:solidFill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568724" y="1735917"/>
            <a:ext cx="12715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접수 메세지 전송</a:t>
            </a:r>
            <a:endParaRPr lang="ko-KR" altLang="en-US" sz="1100"/>
          </a:p>
        </p:txBody>
      </p:sp>
      <p:sp>
        <p:nvSpPr>
          <p:cNvPr id="66" name="TextBox 65"/>
          <p:cNvSpPr txBox="1"/>
          <p:nvPr/>
        </p:nvSpPr>
        <p:spPr>
          <a:xfrm>
            <a:off x="2132099" y="173841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카카오톡</a:t>
            </a:r>
            <a:endParaRPr lang="ko-KR" altLang="en-US" sz="1100"/>
          </a:p>
        </p:txBody>
      </p:sp>
      <p:sp>
        <p:nvSpPr>
          <p:cNvPr id="5" name="직사각형 4"/>
          <p:cNvSpPr/>
          <p:nvPr/>
        </p:nvSpPr>
        <p:spPr>
          <a:xfrm>
            <a:off x="2881022" y="1777449"/>
            <a:ext cx="192493" cy="1924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67" name="TextBox 66"/>
          <p:cNvSpPr txBox="1"/>
          <p:nvPr/>
        </p:nvSpPr>
        <p:spPr>
          <a:xfrm>
            <a:off x="4801445" y="1766205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문자</a:t>
            </a:r>
            <a:endParaRPr lang="ko-KR" altLang="en-US" sz="1100"/>
          </a:p>
        </p:txBody>
      </p:sp>
      <p:sp>
        <p:nvSpPr>
          <p:cNvPr id="68" name="직사각형 67"/>
          <p:cNvSpPr/>
          <p:nvPr/>
        </p:nvSpPr>
        <p:spPr>
          <a:xfrm>
            <a:off x="5268238" y="1805243"/>
            <a:ext cx="192493" cy="1924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69" name="TextBox 68"/>
          <p:cNvSpPr txBox="1"/>
          <p:nvPr/>
        </p:nvSpPr>
        <p:spPr>
          <a:xfrm>
            <a:off x="5568095" y="1747602"/>
            <a:ext cx="149176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010-5892-1670</a:t>
            </a:r>
            <a:endParaRPr lang="en-US" altLang="ko-KR" sz="1100"/>
          </a:p>
        </p:txBody>
      </p:sp>
      <p:sp>
        <p:nvSpPr>
          <p:cNvPr id="70" name="TextBox 69"/>
          <p:cNvSpPr txBox="1"/>
          <p:nvPr/>
        </p:nvSpPr>
        <p:spPr>
          <a:xfrm>
            <a:off x="3168997" y="1747602"/>
            <a:ext cx="149176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010-5892-1670</a:t>
            </a:r>
            <a:endParaRPr lang="en-US" altLang="ko-KR" sz="1100"/>
          </a:p>
        </p:txBody>
      </p:sp>
      <p:sp>
        <p:nvSpPr>
          <p:cNvPr id="6" name="직사각형 5"/>
          <p:cNvSpPr/>
          <p:nvPr/>
        </p:nvSpPr>
        <p:spPr>
          <a:xfrm>
            <a:off x="1829249" y="1670490"/>
            <a:ext cx="5305246" cy="1220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15" name="TextBox 14"/>
          <p:cNvSpPr txBox="1"/>
          <p:nvPr/>
        </p:nvSpPr>
        <p:spPr>
          <a:xfrm>
            <a:off x="2114647" y="3169568"/>
            <a:ext cx="6848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핸드폰</a:t>
            </a:r>
            <a:r>
              <a:rPr lang="en-US" altLang="ko-KR" sz="1100"/>
              <a:t>1</a:t>
            </a:r>
            <a:endParaRPr lang="ko-KR" altLang="en-US" sz="1100"/>
          </a:p>
        </p:txBody>
      </p:sp>
      <p:sp>
        <p:nvSpPr>
          <p:cNvPr id="16" name="TextBox 15"/>
          <p:cNvSpPr txBox="1"/>
          <p:nvPr/>
        </p:nvSpPr>
        <p:spPr>
          <a:xfrm>
            <a:off x="2816261" y="3169568"/>
            <a:ext cx="1466361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/>
              <a:t>010-5892-1670</a:t>
            </a:r>
            <a:endParaRPr lang="en-US" altLang="ko-KR" sz="1100"/>
          </a:p>
        </p:txBody>
      </p:sp>
      <p:sp>
        <p:nvSpPr>
          <p:cNvPr id="17" name="TextBox 16"/>
          <p:cNvSpPr txBox="1"/>
          <p:nvPr/>
        </p:nvSpPr>
        <p:spPr>
          <a:xfrm>
            <a:off x="4874782" y="3169568"/>
            <a:ext cx="6848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핸드폰</a:t>
            </a:r>
            <a:r>
              <a:rPr lang="en-US" altLang="ko-KR" sz="1100"/>
              <a:t>2</a:t>
            </a:r>
            <a:endParaRPr lang="ko-KR" altLang="en-US" sz="1100"/>
          </a:p>
        </p:txBody>
      </p:sp>
      <p:sp>
        <p:nvSpPr>
          <p:cNvPr id="18" name="TextBox 17"/>
          <p:cNvSpPr txBox="1"/>
          <p:nvPr/>
        </p:nvSpPr>
        <p:spPr>
          <a:xfrm>
            <a:off x="5525596" y="3169568"/>
            <a:ext cx="149176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altLang="ko-KR" sz="1100"/>
          </a:p>
        </p:txBody>
      </p:sp>
      <p:sp>
        <p:nvSpPr>
          <p:cNvPr id="20" name="TextBox 19"/>
          <p:cNvSpPr txBox="1"/>
          <p:nvPr/>
        </p:nvSpPr>
        <p:spPr>
          <a:xfrm>
            <a:off x="1973583" y="3652168"/>
            <a:ext cx="825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일반전화</a:t>
            </a:r>
            <a:r>
              <a:rPr lang="en-US" altLang="ko-KR" sz="1100"/>
              <a:t>1</a:t>
            </a:r>
            <a:endParaRPr lang="ko-KR" altLang="en-US" sz="1100"/>
          </a:p>
        </p:txBody>
      </p:sp>
      <p:sp>
        <p:nvSpPr>
          <p:cNvPr id="21" name="TextBox 20"/>
          <p:cNvSpPr txBox="1"/>
          <p:nvPr/>
        </p:nvSpPr>
        <p:spPr>
          <a:xfrm>
            <a:off x="2816261" y="3652168"/>
            <a:ext cx="1466361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/>
              <a:t>010-5892-1670</a:t>
            </a:r>
            <a:endParaRPr lang="en-US" altLang="ko-KR" sz="1100"/>
          </a:p>
        </p:txBody>
      </p:sp>
      <p:sp>
        <p:nvSpPr>
          <p:cNvPr id="22" name="TextBox 21"/>
          <p:cNvSpPr txBox="1"/>
          <p:nvPr/>
        </p:nvSpPr>
        <p:spPr>
          <a:xfrm>
            <a:off x="4733718" y="3652168"/>
            <a:ext cx="825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일반전화</a:t>
            </a:r>
            <a:r>
              <a:rPr lang="en-US" altLang="ko-KR" sz="1100"/>
              <a:t>2</a:t>
            </a:r>
            <a:endParaRPr lang="ko-KR" altLang="en-US" sz="1100"/>
          </a:p>
        </p:txBody>
      </p:sp>
      <p:sp>
        <p:nvSpPr>
          <p:cNvPr id="23" name="TextBox 22"/>
          <p:cNvSpPr txBox="1"/>
          <p:nvPr/>
        </p:nvSpPr>
        <p:spPr>
          <a:xfrm>
            <a:off x="5525596" y="3652168"/>
            <a:ext cx="149176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altLang="ko-KR" sz="1100"/>
          </a:p>
        </p:txBody>
      </p:sp>
      <p:sp>
        <p:nvSpPr>
          <p:cNvPr id="71" name="직사각형 70"/>
          <p:cNvSpPr/>
          <p:nvPr/>
        </p:nvSpPr>
        <p:spPr>
          <a:xfrm>
            <a:off x="1829195" y="3049740"/>
            <a:ext cx="5305299" cy="10068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72" name="TextBox 71"/>
          <p:cNvSpPr txBox="1"/>
          <p:nvPr/>
        </p:nvSpPr>
        <p:spPr>
          <a:xfrm>
            <a:off x="483896" y="3385069"/>
            <a:ext cx="12715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주문 접수용 전화</a:t>
            </a:r>
            <a:endParaRPr lang="ko-KR" altLang="en-US" sz="1100"/>
          </a:p>
        </p:txBody>
      </p:sp>
      <p:cxnSp>
        <p:nvCxnSpPr>
          <p:cNvPr id="47" name="직선 연결선 46"/>
          <p:cNvCxnSpPr/>
          <p:nvPr/>
        </p:nvCxnSpPr>
        <p:spPr>
          <a:xfrm>
            <a:off x="0" y="121654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7283996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10"/>
          <p:cNvSpPr txBox="1"/>
          <p:nvPr/>
        </p:nvSpPr>
        <p:spPr>
          <a:xfrm>
            <a:off x="3179107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화면</a:t>
            </a:r>
            <a:endParaRPr lang="ko-KR" altLang="en-US" sz="1600"/>
          </a:p>
        </p:txBody>
      </p:sp>
      <p:sp>
        <p:nvSpPr>
          <p:cNvPr id="50" name="TextBox 10"/>
          <p:cNvSpPr txBox="1"/>
          <p:nvPr/>
        </p:nvSpPr>
        <p:spPr>
          <a:xfrm>
            <a:off x="10145692" y="882187"/>
            <a:ext cx="595035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600"/>
              <a:t>설명</a:t>
            </a:r>
            <a:endParaRPr lang="ko-KR" altLang="en-US" sz="1600"/>
          </a:p>
        </p:txBody>
      </p:sp>
      <p:sp>
        <p:nvSpPr>
          <p:cNvPr id="2" name="직사각형 1"/>
          <p:cNvSpPr/>
          <p:nvPr/>
        </p:nvSpPr>
        <p:spPr>
          <a:xfrm>
            <a:off x="93133" y="1380067"/>
            <a:ext cx="7108856" cy="523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2278901" y="2144811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성공메세지</a:t>
            </a:r>
            <a:endParaRPr lang="ko-KR" altLang="en-US" sz="1100"/>
          </a:p>
        </p:txBody>
      </p:sp>
      <p:sp>
        <p:nvSpPr>
          <p:cNvPr id="52" name="TextBox 51"/>
          <p:cNvSpPr txBox="1"/>
          <p:nvPr/>
        </p:nvSpPr>
        <p:spPr>
          <a:xfrm>
            <a:off x="3168996" y="2145535"/>
            <a:ext cx="3897765" cy="2308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900"/>
              <a:t>'{channel} 주문 {count}건 꽃가게 관리 프로그램에 입력 완료했습니다.'</a:t>
            </a:r>
            <a:endParaRPr lang="en-US" altLang="ko-KR" sz="900"/>
          </a:p>
        </p:txBody>
      </p:sp>
      <p:sp>
        <p:nvSpPr>
          <p:cNvPr id="3" name="직사각형 2"/>
          <p:cNvSpPr/>
          <p:nvPr/>
        </p:nvSpPr>
        <p:spPr>
          <a:xfrm>
            <a:off x="7524932" y="2275823"/>
            <a:ext cx="4527973" cy="7848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- setting_info </a:t>
            </a:r>
            <a:r>
              <a:rPr lang="ko-KR" altLang="en-US" sz="900"/>
              <a:t>의 필드 참조</a:t>
            </a:r>
            <a:endParaRPr lang="ko-KR" altLang="en-US" sz="900"/>
          </a:p>
          <a:p>
            <a:pPr lvl="0">
              <a:defRPr/>
            </a:pPr>
            <a:r>
              <a:rPr lang="en-US" altLang="ko-KR" sz="900"/>
              <a:t>rpa_success_message TEXT DEFAULT '{channel} 주문 {count}건 꽃가게 관리 프로그램에 입력 완료했습니다.', -- 성공 보고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rpa_fail_message TEXT DEFAULT '[ggotAI 경고] {channel} 주문 자동 입력 실패! 수동 확인 바랍니다.',       -- 실패 경고 문구</a:t>
            </a:r>
            <a:endParaRPr lang="ko-KR" altLang="en-US" sz="900"/>
          </a:p>
        </p:txBody>
      </p:sp>
      <p:sp>
        <p:nvSpPr>
          <p:cNvPr id="53" name="TextBox 52"/>
          <p:cNvSpPr txBox="1"/>
          <p:nvPr/>
        </p:nvSpPr>
        <p:spPr>
          <a:xfrm>
            <a:off x="2287610" y="2484445"/>
            <a:ext cx="8899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ko-KR" altLang="en-US" sz="1100"/>
              <a:t>실패메세지</a:t>
            </a:r>
            <a:endParaRPr lang="ko-KR" altLang="en-US" sz="1100"/>
          </a:p>
        </p:txBody>
      </p:sp>
      <p:sp>
        <p:nvSpPr>
          <p:cNvPr id="54" name="TextBox 53"/>
          <p:cNvSpPr txBox="1"/>
          <p:nvPr/>
        </p:nvSpPr>
        <p:spPr>
          <a:xfrm>
            <a:off x="3177705" y="2485169"/>
            <a:ext cx="3897765" cy="2308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900"/>
              <a:t>{channel} 주문 자동 입력 실패! 수동 확인 바랍니다.</a:t>
            </a:r>
            <a:endParaRPr lang="en-US" altLang="ko-KR" sz="900"/>
          </a:p>
        </p:txBody>
      </p:sp>
      <p:sp>
        <p:nvSpPr>
          <p:cNvPr id="55" name="TextBox 54"/>
          <p:cNvSpPr txBox="1"/>
          <p:nvPr/>
        </p:nvSpPr>
        <p:spPr>
          <a:xfrm>
            <a:off x="7524931" y="5022303"/>
            <a:ext cx="4258350" cy="11695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1.</a:t>
            </a:r>
            <a:r>
              <a:rPr lang="ko-KR" altLang="en-US" sz="1000"/>
              <a:t> </a:t>
            </a:r>
            <a:r>
              <a:rPr lang="en-US" altLang="ko-KR" sz="1000"/>
              <a:t>TABLE: setting_info </a:t>
            </a:r>
            <a:endParaRPr lang="en-US" altLang="ko-KR" sz="1000"/>
          </a:p>
          <a:p>
            <a:pPr lvl="0">
              <a:defRPr/>
            </a:pPr>
            <a:r>
              <a:rPr lang="en-US" altLang="ko-KR" sz="1000"/>
              <a:t>2.</a:t>
            </a:r>
            <a:r>
              <a:rPr lang="ko-KR" altLang="en-US" sz="1000"/>
              <a:t> 각 입력칸은 키보드 엔터키를 누르면 다음으로 이동할 수 있게 함</a:t>
            </a:r>
            <a:r>
              <a:rPr lang="en-US" altLang="ko-KR" sz="1000"/>
              <a:t>.</a:t>
            </a:r>
            <a:endParaRPr lang="en-US" altLang="ko-KR" sz="1000"/>
          </a:p>
          <a:p>
            <a:pPr lvl="0">
              <a:defRPr/>
            </a:pPr>
            <a:r>
              <a:rPr lang="en-US" altLang="ko-KR" sz="1000"/>
              <a:t>3.</a:t>
            </a:r>
            <a:r>
              <a:rPr lang="ko-KR" altLang="en-US" sz="1000"/>
              <a:t> </a:t>
            </a:r>
            <a:r>
              <a:rPr lang="en-US" altLang="ko-KR" sz="1000"/>
              <a:t>‘</a:t>
            </a:r>
            <a:r>
              <a:rPr lang="ko-KR" altLang="en-US" sz="1000"/>
              <a:t>수정</a:t>
            </a:r>
            <a:r>
              <a:rPr lang="en-US" altLang="ko-KR" sz="1000"/>
              <a:t>’</a:t>
            </a:r>
            <a:r>
              <a:rPr lang="ko-KR" altLang="en-US" sz="1000"/>
              <a:t>버튼을 눌러 정상적으로 </a:t>
            </a:r>
            <a:r>
              <a:rPr lang="en-US" altLang="ko-KR" sz="1000"/>
              <a:t>Table</a:t>
            </a:r>
            <a:r>
              <a:rPr lang="ko-KR" altLang="en-US" sz="1000"/>
              <a:t>에</a:t>
            </a:r>
            <a:r>
              <a:rPr lang="en-US" altLang="ko-KR" sz="1000"/>
              <a:t> </a:t>
            </a:r>
            <a:r>
              <a:rPr lang="ko-KR" altLang="en-US" sz="1000"/>
              <a:t>저장이 되면</a:t>
            </a:r>
            <a:r>
              <a:rPr lang="en-US" altLang="ko-KR" sz="1000"/>
              <a:t>, ‘</a:t>
            </a:r>
            <a:r>
              <a:rPr lang="ko-KR" altLang="en-US" sz="1000"/>
              <a:t>수정완료</a:t>
            </a:r>
            <a:r>
              <a:rPr lang="en-US" altLang="ko-KR" sz="1000"/>
              <a:t>’</a:t>
            </a:r>
            <a:r>
              <a:rPr lang="ko-KR" altLang="en-US" sz="1000"/>
              <a:t> 메세지 보여줌</a:t>
            </a:r>
            <a:r>
              <a:rPr lang="en-US" altLang="ko-KR" sz="1000"/>
              <a:t>.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4. "</a:t>
            </a:r>
            <a:r>
              <a:rPr lang="ko-KR" altLang="en-US" sz="1000"/>
              <a:t>환경설정에서 </a:t>
            </a:r>
            <a:r>
              <a:rPr lang="en-US" altLang="ko-KR" sz="1000"/>
              <a:t>[</a:t>
            </a:r>
            <a:r>
              <a:rPr lang="ko-KR" altLang="en-US" sz="1000"/>
              <a:t>수정</a:t>
            </a:r>
            <a:r>
              <a:rPr lang="en-US" altLang="ko-KR" sz="1000"/>
              <a:t>]</a:t>
            </a:r>
            <a:r>
              <a:rPr lang="ko-KR" altLang="en-US" sz="1000"/>
              <a:t>을 누를 때 패스워드는 </a:t>
            </a:r>
            <a:r>
              <a:rPr lang="en-US" altLang="ko-KR" sz="1000"/>
              <a:t>AES-256 </a:t>
            </a:r>
            <a:r>
              <a:rPr lang="ko-KR" altLang="en-US" sz="1000"/>
              <a:t>알고리즘으로 암호화하여 </a:t>
            </a:r>
            <a:r>
              <a:rPr lang="en-US" altLang="ko-KR" sz="1000"/>
              <a:t>DB</a:t>
            </a:r>
            <a:r>
              <a:rPr lang="ko-KR" altLang="en-US" sz="1000"/>
              <a:t>에 저장하고</a:t>
            </a:r>
            <a:r>
              <a:rPr lang="en-US" altLang="ko-KR" sz="1000"/>
              <a:t>, </a:t>
            </a:r>
            <a:r>
              <a:rPr lang="ko-KR" altLang="en-US" sz="1000"/>
              <a:t>화면에 불러와서 눈 모양 아이콘을 클릭할 때만 복호화해서 임시 가시화해줘</a:t>
            </a:r>
            <a:r>
              <a:rPr lang="en-US" altLang="ko-KR" sz="1000"/>
              <a:t>"</a:t>
            </a:r>
            <a:endParaRPr lang="ko-KR" altLang="en-US" sz="1000"/>
          </a:p>
        </p:txBody>
      </p:sp>
      <p:sp>
        <p:nvSpPr>
          <p:cNvPr id="56" name="TextBox 55"/>
          <p:cNvSpPr txBox="1"/>
          <p:nvPr/>
        </p:nvSpPr>
        <p:spPr>
          <a:xfrm>
            <a:off x="3465659" y="6265900"/>
            <a:ext cx="1013977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200"/>
              <a:t>수정</a:t>
            </a:r>
            <a:endParaRPr lang="ko-KR" altLang="en-US" sz="1200"/>
          </a:p>
        </p:txBody>
      </p:sp>
      <p:sp>
        <p:nvSpPr>
          <p:cNvPr id="11" name="자유형 10"/>
          <p:cNvSpPr/>
          <p:nvPr/>
        </p:nvSpPr>
        <p:spPr>
          <a:xfrm>
            <a:off x="3039533" y="1520864"/>
            <a:ext cx="4470400" cy="324869"/>
          </a:xfrm>
          <a:custGeom>
            <a:avLst/>
            <a:gdLst>
              <a:gd name="connsiteX0" fmla="*/ 0 w 4470400"/>
              <a:gd name="connsiteY0" fmla="*/ 324869 h 324869"/>
              <a:gd name="connsiteX1" fmla="*/ 406400 w 4470400"/>
              <a:gd name="connsiteY1" fmla="*/ 45469 h 324869"/>
              <a:gd name="connsiteX2" fmla="*/ 1236134 w 4470400"/>
              <a:gd name="connsiteY2" fmla="*/ 3136 h 324869"/>
              <a:gd name="connsiteX3" fmla="*/ 4470400 w 4470400"/>
              <a:gd name="connsiteY3" fmla="*/ 3136 h 324869"/>
              <a:gd name="connsiteX4" fmla="*/ 4470400 w 4470400"/>
              <a:gd name="connsiteY4" fmla="*/ 3136 h 32486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70400" h="324869">
                <a:moveTo>
                  <a:pt x="0" y="324869"/>
                </a:moveTo>
                <a:cubicBezTo>
                  <a:pt x="100189" y="211980"/>
                  <a:pt x="200378" y="99091"/>
                  <a:pt x="406400" y="45469"/>
                </a:cubicBezTo>
                <a:cubicBezTo>
                  <a:pt x="612422" y="-8153"/>
                  <a:pt x="558801" y="10191"/>
                  <a:pt x="1236134" y="3136"/>
                </a:cubicBezTo>
                <a:cubicBezTo>
                  <a:pt x="1913467" y="-3920"/>
                  <a:pt x="4470400" y="3136"/>
                  <a:pt x="4470400" y="3136"/>
                </a:cubicBezTo>
                <a:lnTo>
                  <a:pt x="4470400" y="3136"/>
                </a:lnTo>
              </a:path>
            </a:pathLst>
          </a:custGeom>
          <a:noFill/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3" name="직선 화살표 연결선 12"/>
          <p:cNvCxnSpPr>
            <a:stCxn id="68" idx="0"/>
          </p:cNvCxnSpPr>
          <p:nvPr/>
        </p:nvCxnSpPr>
        <p:spPr>
          <a:xfrm flipV="1">
            <a:off x="5364485" y="1524000"/>
            <a:ext cx="206582" cy="2812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539183" y="1334615"/>
            <a:ext cx="3391284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- </a:t>
            </a:r>
            <a:r>
              <a:rPr lang="ko-KR" altLang="en-US" sz="1000"/>
              <a:t>카카오톡</a:t>
            </a:r>
            <a:r>
              <a:rPr lang="en-US" altLang="ko-KR" sz="1000"/>
              <a:t>, </a:t>
            </a:r>
            <a:r>
              <a:rPr lang="ko-KR" altLang="en-US" sz="1000"/>
              <a:t>문자에 체크표시가 되면 메시지를 보냄</a:t>
            </a:r>
            <a:endParaRPr lang="ko-KR" altLang="en-US" sz="1000"/>
          </a:p>
          <a:p>
            <a:pPr lvl="0">
              <a:defRPr/>
            </a:pPr>
            <a:r>
              <a:rPr lang="en-US" altLang="ko-KR" sz="1000"/>
              <a:t>(</a:t>
            </a:r>
            <a:r>
              <a:rPr lang="ko-KR" altLang="en-US" sz="1000"/>
              <a:t>예</a:t>
            </a:r>
            <a:r>
              <a:rPr lang="en-US" altLang="ko-KR" sz="1000"/>
              <a:t>: </a:t>
            </a:r>
            <a:r>
              <a:rPr lang="ko-KR" altLang="en-US" sz="1000"/>
              <a:t>카카오톡에 체크가 되면</a:t>
            </a:r>
            <a:r>
              <a:rPr lang="en-US" altLang="ko-KR" sz="1000"/>
              <a:t>, </a:t>
            </a:r>
            <a:r>
              <a:rPr lang="ko-KR" altLang="en-US" sz="1000"/>
              <a:t>카카오톡으로 메시지 보냄</a:t>
            </a:r>
            <a:r>
              <a:rPr lang="en-US" altLang="ko-KR" sz="1000"/>
              <a:t>)</a:t>
            </a:r>
            <a:endParaRPr lang="en-US" altLang="ko-KR" sz="1000"/>
          </a:p>
          <a:p>
            <a:pPr lvl="0">
              <a:defRPr/>
            </a:pPr>
            <a:r>
              <a:rPr lang="en-US" altLang="ko-KR" sz="1000"/>
              <a:t>- </a:t>
            </a:r>
            <a:r>
              <a:rPr lang="ko-KR" altLang="en-US" sz="1000"/>
              <a:t>전화번호는 디폴트로 </a:t>
            </a:r>
            <a:r>
              <a:rPr lang="en-US" altLang="ko-KR" sz="1000"/>
              <a:t>'member_info' </a:t>
            </a:r>
            <a:r>
              <a:rPr lang="ko-KR" altLang="en-US" sz="1000"/>
              <a:t>테이블의 </a:t>
            </a:r>
            <a:r>
              <a:rPr lang="en-US" altLang="ko-KR" sz="1000"/>
              <a:t>'mobile_number' </a:t>
            </a:r>
            <a:r>
              <a:rPr lang="ko-KR" altLang="en-US" sz="1000"/>
              <a:t>필드 값을 가져옴</a:t>
            </a:r>
            <a:endParaRPr lang="ko-KR" altLang="en-US" sz="1000"/>
          </a:p>
          <a:p>
            <a:pPr lvl="0">
              <a:defRPr/>
            </a:pPr>
            <a:r>
              <a:rPr lang="en-US" altLang="ko-KR" sz="1000"/>
              <a:t>- </a:t>
            </a:r>
            <a:r>
              <a:rPr lang="ko-KR" altLang="en-US" sz="1000"/>
              <a:t>전화번호는 수정이 가능함</a:t>
            </a:r>
            <a:endParaRPr lang="en-US" altLang="ko-KR" sz="1000"/>
          </a:p>
        </p:txBody>
      </p:sp>
      <p:cxnSp>
        <p:nvCxnSpPr>
          <p:cNvPr id="19" name="직선 화살표 연결선 18"/>
          <p:cNvCxnSpPr>
            <a:stCxn id="52" idx="3"/>
          </p:cNvCxnSpPr>
          <p:nvPr/>
        </p:nvCxnSpPr>
        <p:spPr>
          <a:xfrm>
            <a:off x="7066761" y="2260951"/>
            <a:ext cx="434706" cy="1266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54" idx="3"/>
          </p:cNvCxnSpPr>
          <p:nvPr/>
        </p:nvCxnSpPr>
        <p:spPr>
          <a:xfrm flipV="1">
            <a:off x="7075470" y="2506133"/>
            <a:ext cx="400597" cy="944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10867" y="4623225"/>
            <a:ext cx="363670" cy="279605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93774" y="5339543"/>
            <a:ext cx="363670" cy="27960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524931" y="3350704"/>
            <a:ext cx="4527973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- </a:t>
            </a:r>
            <a:r>
              <a:rPr lang="ko-KR" altLang="en-US" sz="1000"/>
              <a:t>핸드폰</a:t>
            </a:r>
            <a:r>
              <a:rPr lang="en-US" altLang="ko-KR" sz="1000"/>
              <a:t>1</a:t>
            </a:r>
            <a:r>
              <a:rPr lang="ko-KR" altLang="en-US" sz="1000"/>
              <a:t>은 </a:t>
            </a:r>
            <a:r>
              <a:rPr lang="en-US" altLang="ko-KR" sz="1000"/>
              <a:t>'member_info' </a:t>
            </a:r>
            <a:r>
              <a:rPr lang="ko-KR" altLang="en-US" sz="1000"/>
              <a:t>테이블의 </a:t>
            </a:r>
            <a:r>
              <a:rPr lang="en-US" altLang="ko-KR" sz="1000"/>
              <a:t>'mobile_number' </a:t>
            </a:r>
            <a:r>
              <a:rPr lang="ko-KR" altLang="en-US" sz="1000"/>
              <a:t>필드 값을 가져옴</a:t>
            </a:r>
            <a:endParaRPr lang="ko-KR" altLang="en-US" sz="1000"/>
          </a:p>
          <a:p>
            <a:pPr lvl="0">
              <a:defRPr/>
            </a:pPr>
            <a:r>
              <a:rPr lang="en-US" altLang="ko-KR" sz="1000"/>
              <a:t>- </a:t>
            </a:r>
            <a:r>
              <a:rPr lang="ko-KR" altLang="en-US" sz="1000"/>
              <a:t>일반전화</a:t>
            </a:r>
            <a:r>
              <a:rPr lang="en-US" altLang="ko-KR" sz="1000"/>
              <a:t>1</a:t>
            </a:r>
            <a:r>
              <a:rPr lang="ko-KR" altLang="en-US" sz="1000"/>
              <a:t>은 </a:t>
            </a:r>
            <a:r>
              <a:rPr lang="en-US" altLang="ko-KR" sz="1000"/>
              <a:t>'member_info' </a:t>
            </a:r>
            <a:r>
              <a:rPr lang="ko-KR" altLang="en-US" sz="1000"/>
              <a:t>테이블의 </a:t>
            </a:r>
            <a:r>
              <a:rPr lang="en-US" altLang="ko-KR" sz="1000"/>
              <a:t>'landline_number ' </a:t>
            </a:r>
            <a:r>
              <a:rPr lang="ko-KR" altLang="en-US" sz="1000"/>
              <a:t>필드 값을 가져옴</a:t>
            </a:r>
            <a:endParaRPr lang="en-US" altLang="ko-KR" sz="1000"/>
          </a:p>
        </p:txBody>
      </p:sp>
      <p:sp>
        <p:nvSpPr>
          <p:cNvPr id="9" name="자유형 8"/>
          <p:cNvSpPr/>
          <p:nvPr/>
        </p:nvSpPr>
        <p:spPr>
          <a:xfrm>
            <a:off x="4287328" y="3312543"/>
            <a:ext cx="3226280" cy="190740"/>
          </a:xfrm>
          <a:custGeom>
            <a:avLst/>
            <a:gdLst>
              <a:gd name="connsiteX0" fmla="*/ 0 w 3226280"/>
              <a:gd name="connsiteY0" fmla="*/ 0 h 190740"/>
              <a:gd name="connsiteX1" fmla="*/ 414068 w 3226280"/>
              <a:gd name="connsiteY1" fmla="*/ 120770 h 190740"/>
              <a:gd name="connsiteX2" fmla="*/ 914400 w 3226280"/>
              <a:gd name="connsiteY2" fmla="*/ 181155 h 190740"/>
              <a:gd name="connsiteX3" fmla="*/ 3226280 w 3226280"/>
              <a:gd name="connsiteY3" fmla="*/ 189782 h 1907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6280" h="190740">
                <a:moveTo>
                  <a:pt x="0" y="0"/>
                </a:moveTo>
                <a:cubicBezTo>
                  <a:pt x="130834" y="45289"/>
                  <a:pt x="261668" y="90578"/>
                  <a:pt x="414068" y="120770"/>
                </a:cubicBezTo>
                <a:cubicBezTo>
                  <a:pt x="566468" y="150962"/>
                  <a:pt x="445698" y="169653"/>
                  <a:pt x="914400" y="181155"/>
                </a:cubicBezTo>
                <a:cubicBezTo>
                  <a:pt x="1383102" y="192657"/>
                  <a:pt x="2304691" y="191219"/>
                  <a:pt x="3226280" y="189782"/>
                </a:cubicBezTo>
              </a:path>
            </a:pathLst>
          </a:custGeom>
          <a:noFill/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자유형 11"/>
          <p:cNvSpPr/>
          <p:nvPr/>
        </p:nvSpPr>
        <p:spPr>
          <a:xfrm>
            <a:off x="4270075" y="3576768"/>
            <a:ext cx="3254856" cy="216566"/>
          </a:xfrm>
          <a:custGeom>
            <a:avLst/>
            <a:gdLst>
              <a:gd name="connsiteX0" fmla="*/ 0 w 3217653"/>
              <a:gd name="connsiteY0" fmla="*/ 201603 h 201603"/>
              <a:gd name="connsiteX1" fmla="*/ 370936 w 3217653"/>
              <a:gd name="connsiteY1" fmla="*/ 46327 h 201603"/>
              <a:gd name="connsiteX2" fmla="*/ 741872 w 3217653"/>
              <a:gd name="connsiteY2" fmla="*/ 3195 h 201603"/>
              <a:gd name="connsiteX3" fmla="*/ 1742536 w 3217653"/>
              <a:gd name="connsiteY3" fmla="*/ 3195 h 201603"/>
              <a:gd name="connsiteX4" fmla="*/ 3217653 w 3217653"/>
              <a:gd name="connsiteY4" fmla="*/ 20448 h 20160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7653" h="201603">
                <a:moveTo>
                  <a:pt x="0" y="201603"/>
                </a:moveTo>
                <a:cubicBezTo>
                  <a:pt x="123645" y="140499"/>
                  <a:pt x="247291" y="79395"/>
                  <a:pt x="370936" y="46327"/>
                </a:cubicBezTo>
                <a:cubicBezTo>
                  <a:pt x="494581" y="13259"/>
                  <a:pt x="513272" y="10384"/>
                  <a:pt x="741872" y="3195"/>
                </a:cubicBezTo>
                <a:cubicBezTo>
                  <a:pt x="970472" y="-3994"/>
                  <a:pt x="1742536" y="3195"/>
                  <a:pt x="1742536" y="3195"/>
                </a:cubicBezTo>
                <a:lnTo>
                  <a:pt x="3217653" y="20448"/>
                </a:lnTo>
              </a:path>
            </a:pathLst>
          </a:custGeom>
          <a:noFill/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1792483" y="4192454"/>
            <a:ext cx="5248484" cy="15293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cxnSp>
        <p:nvCxnSpPr>
          <p:cNvPr id="27" name="직선 화살표 연결선 26"/>
          <p:cNvCxnSpPr>
            <a:stCxn id="4" idx="3"/>
          </p:cNvCxnSpPr>
          <p:nvPr/>
        </p:nvCxnSpPr>
        <p:spPr>
          <a:xfrm flipV="1">
            <a:off x="6874537" y="4684143"/>
            <a:ext cx="626930" cy="78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76067" y="4507495"/>
            <a:ext cx="4258350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/>
              <a:t>패스워드</a:t>
            </a:r>
            <a:r>
              <a:rPr lang="en-US" altLang="ko-KR" sz="1000"/>
              <a:t>(PW)</a:t>
            </a:r>
            <a:r>
              <a:rPr lang="ko-KR" altLang="en-US" sz="1000"/>
              <a:t>는 입력하면 </a:t>
            </a:r>
            <a:r>
              <a:rPr lang="en-US" altLang="ko-KR" sz="1000"/>
              <a:t>‘*’</a:t>
            </a:r>
            <a:r>
              <a:rPr lang="ko-KR" altLang="en-US" sz="1000"/>
              <a:t>문자로 보여짐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눈 모양 아이콘을 클릭하면 실제문자로 보여짐</a:t>
            </a:r>
            <a:endParaRPr lang="en-US" altLang="ko-KR" sz="1000"/>
          </a:p>
        </p:txBody>
      </p:sp>
      <p:cxnSp>
        <p:nvCxnSpPr>
          <p:cNvPr id="58" name="직선 화살표 연결선 57"/>
          <p:cNvCxnSpPr>
            <a:stCxn id="62" idx="3"/>
          </p:cNvCxnSpPr>
          <p:nvPr/>
        </p:nvCxnSpPr>
        <p:spPr>
          <a:xfrm flipV="1">
            <a:off x="6857444" y="4692910"/>
            <a:ext cx="618623" cy="7864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49"/>
          <p:cNvSpPr txBox="1"/>
          <p:nvPr/>
        </p:nvSpPr>
        <p:spPr>
          <a:xfrm>
            <a:off x="315119" y="264367"/>
            <a:ext cx="14050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8. </a:t>
            </a:r>
            <a:r>
              <a:rPr lang="ko-KR" altLang="en-US" b="1"/>
              <a:t>환경설정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78932" y="1011158"/>
            <a:ext cx="1019386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/>
              <a:t>아래 </a:t>
            </a:r>
            <a:r>
              <a:rPr lang="ko-KR" altLang="en-US" sz="900" dirty="0" err="1"/>
              <a:t>지시사항과</a:t>
            </a:r>
            <a:r>
              <a:rPr lang="ko-KR" altLang="en-US" sz="900" dirty="0"/>
              <a:t> 첨부된 </a:t>
            </a:r>
            <a:r>
              <a:rPr lang="ko-KR" altLang="en-US" sz="900" dirty="0" err="1"/>
              <a:t>ggotAIya</a:t>
            </a:r>
            <a:r>
              <a:rPr lang="ko-KR" altLang="en-US" sz="900" dirty="0"/>
              <a:t> 및 </a:t>
            </a:r>
            <a:r>
              <a:rPr lang="ko-KR" altLang="en-US" sz="900" dirty="0" err="1"/>
              <a:t>ggotAIorder</a:t>
            </a:r>
            <a:r>
              <a:rPr lang="ko-KR" altLang="en-US" sz="900" dirty="0"/>
              <a:t> 설계 문서를 바탕으로, PC </a:t>
            </a:r>
            <a:r>
              <a:rPr lang="ko-KR" altLang="en-US" sz="900" dirty="0" err="1"/>
              <a:t>포그라운드</a:t>
            </a:r>
            <a:r>
              <a:rPr lang="ko-KR" altLang="en-US" sz="900" dirty="0"/>
              <a:t> UI 애플리케이션인 '</a:t>
            </a:r>
            <a:r>
              <a:rPr lang="ko-KR" altLang="en-US" sz="900" dirty="0" err="1"/>
              <a:t>ggotAlya'의</a:t>
            </a:r>
            <a:r>
              <a:rPr lang="ko-KR" altLang="en-US" sz="900" dirty="0"/>
              <a:t> </a:t>
            </a:r>
            <a:r>
              <a:rPr lang="ko-KR" altLang="en-US" sz="900" dirty="0" err="1"/>
              <a:t>프론트엔드</a:t>
            </a:r>
            <a:r>
              <a:rPr lang="ko-KR" altLang="en-US" sz="900" dirty="0"/>
              <a:t> 및 인증 제어 코드를 작성해줘.</a:t>
            </a:r>
          </a:p>
          <a:p>
            <a:endParaRPr lang="ko-KR" altLang="en-US" sz="900" dirty="0"/>
          </a:p>
          <a:p>
            <a:r>
              <a:rPr lang="ko-KR" altLang="en-US" sz="900" dirty="0"/>
              <a:t>1. 화면 규격 및 기술 스택: 화면 사이즈는 1920*1080 해상도에 최적화하여 고정 대시보드 형태로 설계해줘. 데이터베이스는 </a:t>
            </a:r>
            <a:r>
              <a:rPr lang="ko-KR" altLang="en-US" sz="900" dirty="0" err="1"/>
              <a:t>Supabase</a:t>
            </a:r>
            <a:r>
              <a:rPr lang="ko-KR" altLang="en-US" sz="900" dirty="0"/>
              <a:t>(</a:t>
            </a:r>
            <a:r>
              <a:rPr lang="ko-KR" altLang="en-US" sz="900" dirty="0" err="1"/>
              <a:t>PostgreSQL</a:t>
            </a:r>
            <a:r>
              <a:rPr lang="ko-KR" altLang="en-US" sz="900" dirty="0"/>
              <a:t>)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활용해.</a:t>
            </a:r>
          </a:p>
          <a:p>
            <a:endParaRPr lang="ko-KR" altLang="en-US" sz="900" dirty="0"/>
          </a:p>
          <a:p>
            <a:r>
              <a:rPr lang="ko-KR" altLang="en-US" sz="900" dirty="0"/>
              <a:t>2. 로그인 시스템 (수동 인증 유지): 핸드폰 앱의 자동 로그인과 달리, 본 PC 애플리케이션은 설계서 11~15페이지의 와이어프레임 구조를 100% 준수해.</a:t>
            </a:r>
          </a:p>
          <a:p>
            <a:r>
              <a:rPr lang="ko-KR" altLang="en-US" sz="900" dirty="0"/>
              <a:t>   - </a:t>
            </a:r>
            <a:r>
              <a:rPr lang="ko-KR" altLang="en-US" sz="900" dirty="0" err="1"/>
              <a:t>member_info</a:t>
            </a:r>
            <a:r>
              <a:rPr lang="ko-KR" altLang="en-US" sz="900" dirty="0"/>
              <a:t> 테이블을 참조하는 ID/PW 로그인 폼을 구현해줘.</a:t>
            </a:r>
          </a:p>
          <a:p>
            <a:r>
              <a:rPr lang="ko-KR" altLang="en-US" sz="900" dirty="0"/>
              <a:t>   - '자동로그인' 체크박스 활성화 시 로컬 세션(토큰) 유지 </a:t>
            </a:r>
            <a:r>
              <a:rPr lang="ko-KR" altLang="en-US" sz="900" dirty="0" err="1"/>
              <a:t>로직을</a:t>
            </a:r>
            <a:r>
              <a:rPr lang="ko-KR" altLang="en-US" sz="900" dirty="0"/>
              <a:t> 구현해줘.</a:t>
            </a:r>
          </a:p>
          <a:p>
            <a:r>
              <a:rPr lang="ko-KR" altLang="en-US" sz="900" dirty="0"/>
              <a:t>   - 아이디 찾기 및 핸드폰 인증번호 기반의 비밀번호 찾기 화면 흐름을 연결해줘.</a:t>
            </a:r>
          </a:p>
          <a:p>
            <a:endParaRPr lang="ko-KR" altLang="en-US" sz="900" dirty="0"/>
          </a:p>
          <a:p>
            <a:r>
              <a:rPr lang="ko-KR" altLang="en-US" sz="900" dirty="0"/>
              <a:t>3. 홈 대시보드 및 실시간 상황판 (설계서 16~18페이지 준수):</a:t>
            </a:r>
          </a:p>
          <a:p>
            <a:r>
              <a:rPr lang="ko-KR" altLang="en-US" sz="900" dirty="0"/>
              <a:t>   - 상단 헤더에 </a:t>
            </a:r>
            <a:r>
              <a:rPr lang="ko-KR" altLang="en-US" sz="900" dirty="0" err="1"/>
              <a:t>member_info에서</a:t>
            </a:r>
            <a:r>
              <a:rPr lang="ko-KR" altLang="en-US" sz="900" dirty="0"/>
              <a:t> 불러온 '</a:t>
            </a:r>
            <a:r>
              <a:rPr lang="ko-KR" altLang="en-US" sz="900" dirty="0" err="1"/>
              <a:t>가게명</a:t>
            </a:r>
            <a:r>
              <a:rPr lang="ko-KR" altLang="en-US" sz="900" dirty="0"/>
              <a:t>(예: </a:t>
            </a:r>
            <a:r>
              <a:rPr lang="ko-KR" altLang="en-US" sz="900" dirty="0" err="1"/>
              <a:t>서울꽃집</a:t>
            </a:r>
            <a:r>
              <a:rPr lang="ko-KR" altLang="en-US" sz="900" dirty="0"/>
              <a:t>)'과 '</a:t>
            </a:r>
            <a:r>
              <a:rPr lang="ko-KR" altLang="en-US" sz="900" dirty="0" err="1"/>
              <a:t>마이페이지</a:t>
            </a:r>
            <a:r>
              <a:rPr lang="ko-KR" altLang="en-US" sz="900" dirty="0"/>
              <a:t>', '로그아웃' 버튼을 배치해줘.</a:t>
            </a:r>
          </a:p>
          <a:p>
            <a:r>
              <a:rPr lang="ko-KR" altLang="en-US" sz="900" dirty="0"/>
              <a:t>   - 메인 영역에는 [</a:t>
            </a:r>
            <a:r>
              <a:rPr lang="ko-KR" altLang="en-US" sz="900" dirty="0" err="1"/>
              <a:t>가게전화</a:t>
            </a:r>
            <a:r>
              <a:rPr lang="ko-KR" altLang="en-US" sz="900" dirty="0"/>
              <a:t>, 핸드폰1, 핸드폰2, </a:t>
            </a:r>
            <a:r>
              <a:rPr lang="ko-KR" altLang="en-US" sz="900" dirty="0" err="1"/>
              <a:t>가게음성</a:t>
            </a:r>
            <a:r>
              <a:rPr lang="ko-KR" altLang="en-US" sz="900" dirty="0"/>
              <a:t>, 쇼핑몰,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] 6대 채널의 '주문접수 상황판' 테이블을 구현해줘.</a:t>
            </a:r>
          </a:p>
          <a:p>
            <a:r>
              <a:rPr lang="ko-KR" altLang="en-US" sz="900" dirty="0"/>
              <a:t>   - </a:t>
            </a:r>
            <a:r>
              <a:rPr lang="ko-KR" altLang="en-US" sz="900" dirty="0" err="1"/>
              <a:t>Supabase</a:t>
            </a:r>
            <a:r>
              <a:rPr lang="ko-KR" altLang="en-US" sz="900" dirty="0"/>
              <a:t> </a:t>
            </a:r>
            <a:r>
              <a:rPr lang="ko-KR" altLang="en-US" sz="900" dirty="0" err="1"/>
              <a:t>Realtime</a:t>
            </a:r>
            <a:r>
              <a:rPr lang="ko-KR" altLang="en-US" sz="900" dirty="0"/>
              <a:t>(</a:t>
            </a:r>
            <a:r>
              <a:rPr lang="ko-KR" altLang="en-US" sz="900" dirty="0" err="1"/>
              <a:t>웹소켓</a:t>
            </a:r>
            <a:r>
              <a:rPr lang="ko-KR" altLang="en-US" sz="900" dirty="0"/>
              <a:t>) 구독을 활성화하여, </a:t>
            </a:r>
            <a:r>
              <a:rPr lang="ko-KR" altLang="en-US" sz="900" dirty="0" err="1"/>
              <a:t>server_call_history의</a:t>
            </a:r>
            <a:r>
              <a:rPr lang="ko-KR" altLang="en-US" sz="900" dirty="0"/>
              <a:t> 상태 변화와 </a:t>
            </a:r>
            <a:r>
              <a:rPr lang="ko-KR" altLang="en-US" sz="900" dirty="0" err="1"/>
              <a:t>order_details의</a:t>
            </a:r>
            <a:r>
              <a:rPr lang="ko-KR" altLang="en-US" sz="900" dirty="0"/>
              <a:t> </a:t>
            </a:r>
            <a:r>
              <a:rPr lang="ko-KR" altLang="en-US" sz="900" dirty="0" err="1"/>
              <a:t>rpa_status</a:t>
            </a:r>
            <a:r>
              <a:rPr lang="ko-KR" altLang="en-US" sz="900" dirty="0"/>
              <a:t> 변화를 감지하는 즉시 화면 </a:t>
            </a:r>
            <a:r>
              <a:rPr lang="ko-KR" altLang="en-US" sz="900" dirty="0" err="1"/>
              <a:t>새로고침</a:t>
            </a:r>
            <a:r>
              <a:rPr lang="ko-KR" altLang="en-US" sz="900" dirty="0"/>
              <a:t> 없이 '작동(녹색/</a:t>
            </a:r>
            <a:r>
              <a:rPr lang="ko-KR" altLang="en-US" sz="900" dirty="0" err="1"/>
              <a:t>적색원</a:t>
            </a:r>
            <a:r>
              <a:rPr lang="ko-KR" altLang="en-US" sz="900" dirty="0"/>
              <a:t>)', '</a:t>
            </a:r>
            <a:r>
              <a:rPr lang="ko-KR" altLang="en-US" sz="900" dirty="0" err="1"/>
              <a:t>현재작업</a:t>
            </a:r>
            <a:r>
              <a:rPr lang="ko-KR" altLang="en-US" sz="900" dirty="0"/>
              <a:t>(STT </a:t>
            </a:r>
            <a:r>
              <a:rPr lang="ko-KR" altLang="en-US" sz="900" dirty="0" err="1"/>
              <a:t>분석중</a:t>
            </a:r>
            <a:r>
              <a:rPr lang="ko-KR" altLang="en-US" sz="900" dirty="0"/>
              <a:t>/</a:t>
            </a:r>
            <a:r>
              <a:rPr lang="ko-KR" altLang="en-US" sz="900" dirty="0" err="1"/>
              <a:t>주문정보</a:t>
            </a:r>
            <a:r>
              <a:rPr lang="ko-KR" altLang="en-US" sz="900" dirty="0"/>
              <a:t> </a:t>
            </a:r>
            <a:r>
              <a:rPr lang="ko-KR" altLang="en-US" sz="900" dirty="0" err="1"/>
              <a:t>분석중</a:t>
            </a:r>
            <a:r>
              <a:rPr lang="ko-KR" altLang="en-US" sz="900" dirty="0"/>
              <a:t>/대기/</a:t>
            </a:r>
            <a:r>
              <a:rPr lang="ko-KR" altLang="en-US" sz="900" dirty="0" err="1"/>
              <a:t>화원관리</a:t>
            </a:r>
            <a:r>
              <a:rPr lang="ko-KR" altLang="en-US" sz="900" dirty="0"/>
              <a:t> </a:t>
            </a:r>
            <a:r>
              <a:rPr lang="ko-KR" altLang="en-US" sz="900" dirty="0" err="1"/>
              <a:t>입력완료</a:t>
            </a:r>
            <a:r>
              <a:rPr lang="ko-KR" altLang="en-US" sz="900" dirty="0"/>
              <a:t>)', '</a:t>
            </a:r>
            <a:r>
              <a:rPr lang="ko-KR" altLang="en-US" sz="900" dirty="0" err="1"/>
              <a:t>오늘작업</a:t>
            </a:r>
            <a:r>
              <a:rPr lang="ko-KR" altLang="en-US" sz="900" dirty="0"/>
              <a:t>(건수)' 데이터가 실시간 </a:t>
            </a:r>
            <a:r>
              <a:rPr lang="ko-KR" altLang="en-US" sz="900" dirty="0" err="1"/>
              <a:t>새로고침되도록</a:t>
            </a:r>
            <a:r>
              <a:rPr lang="ko-KR" altLang="en-US" sz="900" dirty="0"/>
              <a:t> 바인딩해줘.</a:t>
            </a:r>
          </a:p>
          <a:p>
            <a:r>
              <a:rPr lang="ko-KR" altLang="en-US" sz="900" dirty="0"/>
              <a:t>   - 상단에 [</a:t>
            </a:r>
            <a:r>
              <a:rPr lang="ko-KR" altLang="en-US" sz="900" dirty="0" err="1"/>
              <a:t>주문수집</a:t>
            </a:r>
            <a:r>
              <a:rPr lang="ko-KR" altLang="en-US" sz="900" dirty="0"/>
              <a:t> 중지] / [</a:t>
            </a:r>
            <a:r>
              <a:rPr lang="ko-KR" altLang="en-US" sz="900" dirty="0" err="1"/>
              <a:t>주문수집</a:t>
            </a:r>
            <a:r>
              <a:rPr lang="ko-KR" altLang="en-US" sz="900" dirty="0"/>
              <a:t> 시작] 제어 버튼을 만들고, 클릭 시 윈도우 서비스 제어 명령(</a:t>
            </a:r>
            <a:r>
              <a:rPr lang="ko-KR" altLang="en-US" sz="900" dirty="0" err="1"/>
              <a:t>net</a:t>
            </a:r>
            <a:r>
              <a:rPr lang="ko-KR" altLang="en-US" sz="900" dirty="0"/>
              <a:t> </a:t>
            </a:r>
            <a:r>
              <a:rPr lang="ko-KR" altLang="en-US" sz="900" dirty="0" err="1"/>
              <a:t>stop</a:t>
            </a:r>
            <a:r>
              <a:rPr lang="ko-KR" altLang="en-US" sz="900" dirty="0"/>
              <a:t> </a:t>
            </a:r>
            <a:r>
              <a:rPr lang="ko-KR" altLang="en-US" sz="900" dirty="0" err="1"/>
              <a:t>ggotAIorder</a:t>
            </a:r>
            <a:r>
              <a:rPr lang="ko-KR" altLang="en-US" sz="900" dirty="0"/>
              <a:t> / </a:t>
            </a:r>
            <a:r>
              <a:rPr lang="ko-KR" altLang="en-US" sz="900" dirty="0" err="1"/>
              <a:t>net</a:t>
            </a:r>
            <a:r>
              <a:rPr lang="ko-KR" altLang="en-US" sz="900" dirty="0"/>
              <a:t> </a:t>
            </a:r>
            <a:r>
              <a:rPr lang="ko-KR" altLang="en-US" sz="900" dirty="0" err="1"/>
              <a:t>start</a:t>
            </a:r>
            <a:r>
              <a:rPr lang="ko-KR" altLang="en-US" sz="900" dirty="0"/>
              <a:t> </a:t>
            </a:r>
            <a:r>
              <a:rPr lang="ko-KR" altLang="en-US" sz="900" dirty="0" err="1"/>
              <a:t>ggotAIorder</a:t>
            </a:r>
            <a:r>
              <a:rPr lang="ko-KR" altLang="en-US" sz="900" dirty="0"/>
              <a:t>)이 실행되도록 시스템 프로세스 호출 코드를 작성해줘.</a:t>
            </a:r>
          </a:p>
          <a:p>
            <a:endParaRPr lang="ko-KR" altLang="en-US" sz="900" dirty="0"/>
          </a:p>
          <a:p>
            <a:r>
              <a:rPr lang="ko-KR" altLang="en-US" sz="900" dirty="0"/>
              <a:t>4. 환경설정 및 보안 제어 (설계서 20페이지 준수):</a:t>
            </a:r>
          </a:p>
          <a:p>
            <a:r>
              <a:rPr lang="ko-KR" altLang="en-US" sz="900" dirty="0"/>
              <a:t>   - 접수 메시지 전송 영역에 </a:t>
            </a:r>
            <a:r>
              <a:rPr lang="ko-KR" altLang="en-US" sz="900" dirty="0" err="1"/>
              <a:t>카카오톡</a:t>
            </a:r>
            <a:r>
              <a:rPr lang="ko-KR" altLang="en-US" sz="900" dirty="0"/>
              <a:t>/문자 스위치, 알림 수신 번호(</a:t>
            </a:r>
            <a:r>
              <a:rPr lang="ko-KR" altLang="en-US" sz="900" dirty="0" err="1"/>
              <a:t>notification_phone_number</a:t>
            </a:r>
            <a:r>
              <a:rPr lang="ko-KR" altLang="en-US" sz="900" dirty="0"/>
              <a:t>), 성공/실패 메시지 템플릿 </a:t>
            </a:r>
            <a:r>
              <a:rPr lang="ko-KR" altLang="en-US" sz="900" dirty="0" err="1"/>
              <a:t>입력창을</a:t>
            </a:r>
            <a:r>
              <a:rPr lang="ko-KR" altLang="en-US" sz="900" dirty="0"/>
              <a:t> 매핑해줘.</a:t>
            </a:r>
          </a:p>
          <a:p>
            <a:r>
              <a:rPr lang="ko-KR" altLang="en-US" sz="900" dirty="0"/>
              <a:t>   - 쇼핑몰 및 인트라넷 ID/PW </a:t>
            </a:r>
            <a:r>
              <a:rPr lang="ko-KR" altLang="en-US" sz="900" dirty="0" err="1"/>
              <a:t>설정창을</a:t>
            </a:r>
            <a:r>
              <a:rPr lang="ko-KR" altLang="en-US" sz="900" dirty="0"/>
              <a:t> 구현하되, 패스워드는 기본적으로 '*'로 은닉하고 눈 모양 아이콘 클릭 시에만 가시화해줘. [수정] 버튼 클릭 시 패스워드 문자열은 반드시 AES-256 알고리즘으로 암호화하여 </a:t>
            </a:r>
            <a:r>
              <a:rPr lang="ko-KR" altLang="en-US" sz="900" dirty="0" err="1"/>
              <a:t>Supabase</a:t>
            </a:r>
            <a:r>
              <a:rPr lang="ko-KR" altLang="en-US" sz="900" dirty="0"/>
              <a:t> DB(</a:t>
            </a:r>
            <a:r>
              <a:rPr lang="ko-KR" altLang="en-US" sz="900" dirty="0" err="1"/>
              <a:t>setting_info</a:t>
            </a:r>
            <a:r>
              <a:rPr lang="ko-KR" altLang="en-US" sz="900" dirty="0"/>
              <a:t>)에 저장되도록 보안 규격을 적용해줘.</a:t>
            </a:r>
          </a:p>
        </p:txBody>
      </p:sp>
    </p:spTree>
    <p:extLst>
      <p:ext uri="{BB962C8B-B14F-4D97-AF65-F5344CB8AC3E}">
        <p14:creationId xmlns:p14="http://schemas.microsoft.com/office/powerpoint/2010/main" val="355276055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2437</ep:Words>
  <ep:PresentationFormat>와이드스크린</ep:PresentationFormat>
  <ep:Paragraphs>393</ep:Paragraphs>
  <ep:Slides>21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2026-02-22T10:01:34.000</dcterms:created>
  <dc:creator>박선희</dc:creator>
  <cp:lastModifiedBy>SAMSUNG</cp:lastModifiedBy>
  <dcterms:modified xsi:type="dcterms:W3CDTF">2026-06-01T10:58:18.900</dcterms:modified>
  <cp:revision>705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