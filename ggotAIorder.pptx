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62" r:id="rId1"/>
  </p:sldMasterIdLst>
  <p:sldIdLst>
    <p:sldId id="342" r:id="rId2"/>
    <p:sldId id="351" r:id="rId3"/>
    <p:sldId id="324" r:id="rId4"/>
    <p:sldId id="323" r:id="rId5"/>
    <p:sldId id="332" r:id="rId6"/>
    <p:sldId id="333" r:id="rId7"/>
    <p:sldId id="344" r:id="rId8"/>
    <p:sldId id="334" r:id="rId9"/>
    <p:sldId id="306" r:id="rId10"/>
    <p:sldId id="335" r:id="rId11"/>
    <p:sldId id="340" r:id="rId12"/>
    <p:sldId id="336" r:id="rId13"/>
    <p:sldId id="337" r:id="rId14"/>
    <p:sldId id="341" r:id="rId15"/>
    <p:sldId id="338" r:id="rId16"/>
    <p:sldId id="339" r:id="rId17"/>
    <p:sldId id="352" r:id="rId18"/>
    <p:sldId id="354" r:id="rId19"/>
    <p:sldId id="349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0109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252" y="366"/>
      </p:cViewPr>
      <p:guideLst>
        <p:guide orient="horz" pos="2158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slide" Target="slides/slide17.xml"  /><Relationship Id="rId19" Type="http://schemas.openxmlformats.org/officeDocument/2006/relationships/slide" Target="slides/slide18.xml"  /><Relationship Id="rId2" Type="http://schemas.openxmlformats.org/officeDocument/2006/relationships/slide" Target="slides/slide1.xml"  /><Relationship Id="rId20" Type="http://schemas.openxmlformats.org/officeDocument/2006/relationships/slide" Target="slides/slide19.xml"  /><Relationship Id="rId21" Type="http://schemas.openxmlformats.org/officeDocument/2006/relationships/presProps" Target="presProps.xml"  /><Relationship Id="rId22" Type="http://schemas.openxmlformats.org/officeDocument/2006/relationships/viewProps" Target="viewProps.xml"  /><Relationship Id="rId23" Type="http://schemas.openxmlformats.org/officeDocument/2006/relationships/theme" Target="theme/theme1.xml"  /><Relationship Id="rId24" Type="http://schemas.openxmlformats.org/officeDocument/2006/relationships/tableStyles" Target="tableStyles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E5127-86E3-4B5C-BF35-3FAFAC2DEAC0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FBB0-19D1-42DC-BF6B-A79D002F11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752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E5127-86E3-4B5C-BF35-3FAFAC2DEAC0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FBB0-19D1-42DC-BF6B-A79D002F11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8649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E5127-86E3-4B5C-BF35-3FAFAC2DEAC0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FBB0-19D1-42DC-BF6B-A79D002F11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0388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E5127-86E3-4B5C-BF35-3FAFAC2DEAC0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FBB0-19D1-42DC-BF6B-A79D002F11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5650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E5127-86E3-4B5C-BF35-3FAFAC2DEAC0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FBB0-19D1-42DC-BF6B-A79D002F11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6800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E5127-86E3-4B5C-BF35-3FAFAC2DEAC0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FBB0-19D1-42DC-BF6B-A79D002F11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4222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E5127-86E3-4B5C-BF35-3FAFAC2DEAC0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FBB0-19D1-42DC-BF6B-A79D002F11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6694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E5127-86E3-4B5C-BF35-3FAFAC2DEAC0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FBB0-19D1-42DC-BF6B-A79D002F11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0202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E5127-86E3-4B5C-BF35-3FAFAC2DEAC0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FBB0-19D1-42DC-BF6B-A79D002F11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7090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E5127-86E3-4B5C-BF35-3FAFAC2DEAC0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FBB0-19D1-42DC-BF6B-A79D002F11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9946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E5127-86E3-4B5C-BF35-3FAFAC2DEAC0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FBB0-19D1-42DC-BF6B-A79D002F11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458201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4E5127-86E3-4B5C-BF35-3FAFAC2DEAC0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5EFBB0-19D1-42DC-BF6B-A79D002F11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9888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2426327"/>
            <a:ext cx="12192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6000" b="1">
                <a:latin typeface="맑은 고딕"/>
                <a:ea typeface="맑은 고딕"/>
              </a:rPr>
              <a:t>Ⅰ. </a:t>
            </a:r>
            <a:r>
              <a:rPr lang="en-US" altLang="ko-KR" sz="6000" b="1"/>
              <a:t>ggotAI(</a:t>
            </a:r>
            <a:r>
              <a:rPr lang="ko-KR" altLang="en-US" sz="6000" b="1"/>
              <a:t>꽃아이</a:t>
            </a:r>
            <a:r>
              <a:rPr lang="en-US" altLang="ko-KR" sz="6000" b="1"/>
              <a:t>)</a:t>
            </a:r>
            <a:endParaRPr lang="ko-KR" altLang="en-US" sz="6000" b="1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247610" y="224994"/>
            <a:ext cx="370325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b="1"/>
              <a:t>1. ggotAI(</a:t>
            </a:r>
            <a:r>
              <a:rPr lang="ko-KR" altLang="en-US" b="1"/>
              <a:t>꽃아이</a:t>
            </a:r>
            <a:r>
              <a:rPr lang="en-US" altLang="ko-KR" b="1"/>
              <a:t>) </a:t>
            </a:r>
            <a:r>
              <a:rPr lang="ko-KR" altLang="en-US" b="1"/>
              <a:t>전체 업무 흐름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191116" y="5056192"/>
            <a:ext cx="107273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900"/>
              <a:t>비정형 주문 음성</a:t>
            </a:r>
          </a:p>
        </p:txBody>
      </p:sp>
      <p:sp>
        <p:nvSpPr>
          <p:cNvPr id="70" name="모서리가 둥근 직사각형 69"/>
          <p:cNvSpPr/>
          <p:nvPr/>
        </p:nvSpPr>
        <p:spPr>
          <a:xfrm>
            <a:off x="5017389" y="2753909"/>
            <a:ext cx="1270578" cy="1849967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4000">
                <a:solidFill>
                  <a:srgbClr val="0070C0"/>
                </a:solidFill>
              </a:rPr>
              <a:t>웹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40681" y="2954648"/>
            <a:ext cx="1675232" cy="68085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anchor="ctr" anchorCtr="0">
            <a:noAutofit/>
          </a:bodyPr>
          <a:lstStyle/>
          <a:p>
            <a:pPr algn="ctr">
              <a:defRPr/>
            </a:pPr>
            <a:r>
              <a:rPr lang="en-US" altLang="ko-KR" b="1"/>
              <a:t>Whisper</a:t>
            </a:r>
          </a:p>
        </p:txBody>
      </p:sp>
      <p:cxnSp>
        <p:nvCxnSpPr>
          <p:cNvPr id="105" name="직선 연결선 104"/>
          <p:cNvCxnSpPr>
            <a:stCxn id="104" idx="3"/>
          </p:cNvCxnSpPr>
          <p:nvPr/>
        </p:nvCxnSpPr>
        <p:spPr>
          <a:xfrm>
            <a:off x="3642918" y="3338405"/>
            <a:ext cx="1375049" cy="156338"/>
          </a:xfrm>
          <a:prstGeom prst="line">
            <a:avLst/>
          </a:prstGeom>
          <a:ln>
            <a:solidFill>
              <a:schemeClr val="tx1"/>
            </a:solidFill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/>
          <p:cNvCxnSpPr>
            <a:stCxn id="84" idx="3"/>
          </p:cNvCxnSpPr>
          <p:nvPr/>
        </p:nvCxnSpPr>
        <p:spPr>
          <a:xfrm flipV="1">
            <a:off x="3642918" y="3943477"/>
            <a:ext cx="1383515" cy="4512"/>
          </a:xfrm>
          <a:prstGeom prst="line">
            <a:avLst/>
          </a:prstGeom>
          <a:ln>
            <a:solidFill>
              <a:schemeClr val="tx1"/>
            </a:solidFill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/>
          <p:cNvCxnSpPr/>
          <p:nvPr/>
        </p:nvCxnSpPr>
        <p:spPr>
          <a:xfrm>
            <a:off x="3965510" y="4618653"/>
            <a:ext cx="811763" cy="979714"/>
          </a:xfrm>
          <a:prstGeom prst="line">
            <a:avLst/>
          </a:prstGeom>
          <a:ln>
            <a:solidFill>
              <a:schemeClr val="tx1"/>
            </a:solidFill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/>
          <p:cNvCxnSpPr>
            <a:stCxn id="96" idx="3"/>
          </p:cNvCxnSpPr>
          <p:nvPr/>
        </p:nvCxnSpPr>
        <p:spPr>
          <a:xfrm>
            <a:off x="3642918" y="2733983"/>
            <a:ext cx="1330298" cy="279805"/>
          </a:xfrm>
          <a:prstGeom prst="line">
            <a:avLst/>
          </a:prstGeom>
          <a:ln>
            <a:solidFill>
              <a:schemeClr val="tx1"/>
            </a:solidFill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3764603" y="3739151"/>
            <a:ext cx="107273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900"/>
              <a:t>비정형 주문 음성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307059" y="2895615"/>
            <a:ext cx="107273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900" dirty="0"/>
              <a:t>비정형 주문 음성</a:t>
            </a:r>
          </a:p>
        </p:txBody>
      </p:sp>
      <p:cxnSp>
        <p:nvCxnSpPr>
          <p:cNvPr id="113" name="직선 화살표 연결선 112"/>
          <p:cNvCxnSpPr/>
          <p:nvPr/>
        </p:nvCxnSpPr>
        <p:spPr>
          <a:xfrm>
            <a:off x="6321564" y="3150296"/>
            <a:ext cx="108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화살표 연결선 113"/>
          <p:cNvCxnSpPr/>
          <p:nvPr/>
        </p:nvCxnSpPr>
        <p:spPr>
          <a:xfrm>
            <a:off x="6321564" y="3510025"/>
            <a:ext cx="108000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6249351" y="3261901"/>
            <a:ext cx="118814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900"/>
              <a:t>비정형 주문 텍스트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259988" y="3803483"/>
            <a:ext cx="118814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900"/>
              <a:t>비정형 주문 텍스트</a:t>
            </a:r>
          </a:p>
        </p:txBody>
      </p:sp>
      <p:cxnSp>
        <p:nvCxnSpPr>
          <p:cNvPr id="117" name="직선 화살표 연결선 116"/>
          <p:cNvCxnSpPr/>
          <p:nvPr/>
        </p:nvCxnSpPr>
        <p:spPr>
          <a:xfrm>
            <a:off x="6321564" y="4020064"/>
            <a:ext cx="108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화살표 연결선 117"/>
          <p:cNvCxnSpPr/>
          <p:nvPr/>
        </p:nvCxnSpPr>
        <p:spPr>
          <a:xfrm>
            <a:off x="6321564" y="4344902"/>
            <a:ext cx="108000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6222301" y="4110224"/>
            <a:ext cx="131767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900"/>
              <a:t>정형화된 주문 텍스트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459731" y="3783323"/>
            <a:ext cx="1656182" cy="68085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anchor="ctr" anchorCtr="0">
            <a:noAutofit/>
          </a:bodyPr>
          <a:lstStyle/>
          <a:p>
            <a:pPr algn="ctr">
              <a:defRPr/>
            </a:pPr>
            <a:r>
              <a:rPr lang="en-US" altLang="ko-KR" b="1"/>
              <a:t>Gemini</a:t>
            </a:r>
            <a:endParaRPr lang="en-US" altLang="ko-KR" sz="900"/>
          </a:p>
        </p:txBody>
      </p:sp>
      <p:sp>
        <p:nvSpPr>
          <p:cNvPr id="121" name="TextBox 120"/>
          <p:cNvSpPr txBox="1"/>
          <p:nvPr/>
        </p:nvSpPr>
        <p:spPr>
          <a:xfrm>
            <a:off x="6305758" y="4738681"/>
            <a:ext cx="181652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900"/>
              <a:t>RPA </a:t>
            </a:r>
            <a:r>
              <a:rPr lang="ko-KR" altLang="en-US" sz="900"/>
              <a:t>실행</a:t>
            </a:r>
            <a:r>
              <a:rPr lang="en-US" altLang="ko-KR" sz="900"/>
              <a:t>(</a:t>
            </a:r>
            <a:r>
              <a:rPr lang="ko-KR" altLang="en-US" sz="900"/>
              <a:t>정형화된주문 텍스트</a:t>
            </a:r>
            <a:r>
              <a:rPr lang="en-US" altLang="ko-KR" sz="900"/>
              <a:t>)</a:t>
            </a:r>
            <a:endParaRPr lang="ko-KR" altLang="en-US" sz="900"/>
          </a:p>
        </p:txBody>
      </p:sp>
      <p:sp>
        <p:nvSpPr>
          <p:cNvPr id="137" name="모서리가 둥근 직사각형 136"/>
          <p:cNvSpPr/>
          <p:nvPr/>
        </p:nvSpPr>
        <p:spPr>
          <a:xfrm>
            <a:off x="6181986" y="5097205"/>
            <a:ext cx="787981" cy="445179"/>
          </a:xfrm>
          <a:prstGeom prst="roundRect">
            <a:avLst>
              <a:gd name="adj" fmla="val 16667"/>
            </a:avLst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123" name="직선 화살표 연결선 122"/>
          <p:cNvCxnSpPr/>
          <p:nvPr/>
        </p:nvCxnSpPr>
        <p:spPr>
          <a:xfrm>
            <a:off x="5950540" y="4623120"/>
            <a:ext cx="506244" cy="4340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7044834" y="5598764"/>
            <a:ext cx="206659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/>
              <a:t>꽃집 업무 관리 프로그램에</a:t>
            </a:r>
          </a:p>
          <a:p>
            <a:pPr lvl="0">
              <a:defRPr/>
            </a:pPr>
            <a:r>
              <a:rPr lang="ko-KR" altLang="en-US" sz="900"/>
              <a:t>주문내역</a:t>
            </a:r>
            <a:r>
              <a:rPr lang="en-US" altLang="ko-KR" sz="900"/>
              <a:t>(</a:t>
            </a:r>
            <a:r>
              <a:rPr lang="ko-KR" altLang="en-US" sz="900"/>
              <a:t>정형화된주문 텍스트</a:t>
            </a:r>
            <a:r>
              <a:rPr lang="en-US" altLang="ko-KR" sz="900"/>
              <a:t>)</a:t>
            </a:r>
            <a:r>
              <a:rPr lang="ko-KR" altLang="en-US" sz="900"/>
              <a:t> 입력</a:t>
            </a:r>
          </a:p>
        </p:txBody>
      </p:sp>
      <p:cxnSp>
        <p:nvCxnSpPr>
          <p:cNvPr id="126" name="직선 화살표 연결선 125"/>
          <p:cNvCxnSpPr/>
          <p:nvPr/>
        </p:nvCxnSpPr>
        <p:spPr>
          <a:xfrm>
            <a:off x="6678911" y="5579084"/>
            <a:ext cx="598967" cy="5138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그룹 12"/>
          <p:cNvGrpSpPr/>
          <p:nvPr/>
        </p:nvGrpSpPr>
        <p:grpSpPr>
          <a:xfrm>
            <a:off x="2677092" y="2603177"/>
            <a:ext cx="965826" cy="261610"/>
            <a:chOff x="2677092" y="2603177"/>
            <a:chExt cx="965826" cy="261610"/>
          </a:xfrm>
        </p:grpSpPr>
        <p:sp>
          <p:nvSpPr>
            <p:cNvPr id="96" name="TextBox 95"/>
            <p:cNvSpPr txBox="1"/>
            <p:nvPr/>
          </p:nvSpPr>
          <p:spPr>
            <a:xfrm>
              <a:off x="2951718" y="2610872"/>
              <a:ext cx="691200" cy="246221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ko-KR" altLang="en-US" sz="1000"/>
                <a:t>쇼핑몰</a:t>
              </a: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2677092" y="2603177"/>
              <a:ext cx="325730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ko-KR" sz="1100">
                  <a:latin typeface="맑은 고딕"/>
                  <a:ea typeface="맑은 고딕"/>
                </a:rPr>
                <a:t>①</a:t>
              </a:r>
              <a:endParaRPr lang="ko-KR" altLang="en-US" sz="1100"/>
            </a:p>
          </p:txBody>
        </p:sp>
      </p:grpSp>
      <p:grpSp>
        <p:nvGrpSpPr>
          <p:cNvPr id="12" name="그룹 11"/>
          <p:cNvGrpSpPr/>
          <p:nvPr/>
        </p:nvGrpSpPr>
        <p:grpSpPr>
          <a:xfrm>
            <a:off x="2677092" y="3207599"/>
            <a:ext cx="965826" cy="261610"/>
            <a:chOff x="2677092" y="3207599"/>
            <a:chExt cx="965826" cy="261610"/>
          </a:xfrm>
        </p:grpSpPr>
        <p:sp>
          <p:nvSpPr>
            <p:cNvPr id="104" name="TextBox 103"/>
            <p:cNvSpPr txBox="1"/>
            <p:nvPr/>
          </p:nvSpPr>
          <p:spPr>
            <a:xfrm>
              <a:off x="2951718" y="3215294"/>
              <a:ext cx="691200" cy="246221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ko-KR" altLang="en-US" sz="1000"/>
                <a:t>인터라넷</a:t>
              </a: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2677092" y="3207599"/>
              <a:ext cx="325730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ko-KR" sz="1100">
                  <a:latin typeface="맑은 고딕"/>
                  <a:ea typeface="맑은 고딕"/>
                </a:rPr>
                <a:t>②</a:t>
              </a:r>
              <a:endParaRPr lang="ko-KR" altLang="en-US" sz="1100"/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2677092" y="3817183"/>
            <a:ext cx="965826" cy="261610"/>
            <a:chOff x="2677092" y="3817183"/>
            <a:chExt cx="965826" cy="261610"/>
          </a:xfrm>
        </p:grpSpPr>
        <p:sp>
          <p:nvSpPr>
            <p:cNvPr id="84" name="TextBox 83"/>
            <p:cNvSpPr txBox="1"/>
            <p:nvPr/>
          </p:nvSpPr>
          <p:spPr>
            <a:xfrm>
              <a:off x="2951718" y="3824878"/>
              <a:ext cx="691200" cy="246221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ko-KR" altLang="en-US" sz="1000"/>
                <a:t>가게전화</a:t>
              </a:r>
              <a:endParaRPr lang="en-US" altLang="ko-KR" sz="1000"/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2677092" y="3817183"/>
              <a:ext cx="325730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ko-KR" sz="1100">
                  <a:latin typeface="맑은 고딕"/>
                  <a:ea typeface="맑은 고딕"/>
                </a:rPr>
                <a:t>③</a:t>
              </a:r>
              <a:endParaRPr lang="ko-KR" altLang="en-US" sz="1100"/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2677092" y="4422292"/>
            <a:ext cx="1271656" cy="292098"/>
            <a:chOff x="2677092" y="4422292"/>
            <a:chExt cx="1271656" cy="292098"/>
          </a:xfrm>
        </p:grpSpPr>
        <p:sp>
          <p:nvSpPr>
            <p:cNvPr id="138" name="모서리가 둥근 직사각형 137"/>
            <p:cNvSpPr/>
            <p:nvPr/>
          </p:nvSpPr>
          <p:spPr>
            <a:xfrm>
              <a:off x="3643370" y="4422292"/>
              <a:ext cx="305378" cy="292098"/>
            </a:xfrm>
            <a:prstGeom prst="roundRect">
              <a:avLst>
                <a:gd name="adj" fmla="val 16667"/>
              </a:avLst>
            </a:prstGeom>
            <a:noFill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00" b="1">
                  <a:solidFill>
                    <a:srgbClr val="00B0F0"/>
                  </a:solidFill>
                </a:rPr>
                <a:t>앱</a:t>
              </a:r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2951718" y="4443393"/>
              <a:ext cx="691200" cy="246221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ko-KR" altLang="en-US" sz="1000"/>
                <a:t>핸드폰</a:t>
              </a: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2677092" y="4435698"/>
              <a:ext cx="325730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ko-KR" sz="1100">
                  <a:latin typeface="맑은 고딕"/>
                  <a:ea typeface="맑은 고딕"/>
                </a:rPr>
                <a:t>④</a:t>
              </a:r>
              <a:endParaRPr lang="ko-KR" altLang="en-US" sz="1100"/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2677092" y="5356665"/>
            <a:ext cx="965826" cy="261610"/>
            <a:chOff x="2677092" y="5020763"/>
            <a:chExt cx="965826" cy="261610"/>
          </a:xfrm>
        </p:grpSpPr>
        <p:sp>
          <p:nvSpPr>
            <p:cNvPr id="131" name="TextBox 86"/>
            <p:cNvSpPr txBox="1"/>
            <p:nvPr/>
          </p:nvSpPr>
          <p:spPr>
            <a:xfrm>
              <a:off x="2677092" y="5020763"/>
              <a:ext cx="354330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ko-KR" altLang="en-US" sz="1100">
                  <a:latin typeface="맑은 고딕"/>
                  <a:ea typeface="맑은 고딕"/>
                </a:rPr>
                <a:t>⑤</a:t>
              </a:r>
              <a:endParaRPr lang="en-US" altLang="ko-KR" sz="1100">
                <a:latin typeface="맑은 고딕"/>
                <a:ea typeface="맑은 고딕"/>
              </a:endParaRPr>
            </a:p>
          </p:txBody>
        </p:sp>
        <p:sp>
          <p:nvSpPr>
            <p:cNvPr id="133" name="TextBox 44"/>
            <p:cNvSpPr txBox="1"/>
            <p:nvPr/>
          </p:nvSpPr>
          <p:spPr>
            <a:xfrm>
              <a:off x="2951718" y="5028458"/>
              <a:ext cx="691200" cy="246221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ko-KR" altLang="en-US" sz="1000"/>
                <a:t>가게음성</a:t>
              </a:r>
            </a:p>
          </p:txBody>
        </p:sp>
      </p:grpSp>
      <p:cxnSp>
        <p:nvCxnSpPr>
          <p:cNvPr id="134" name="직선 화살표 연결선 133"/>
          <p:cNvCxnSpPr>
            <a:endCxn id="138" idx="2"/>
          </p:cNvCxnSpPr>
          <p:nvPr/>
        </p:nvCxnSpPr>
        <p:spPr>
          <a:xfrm flipV="1">
            <a:off x="3610947" y="4714390"/>
            <a:ext cx="185112" cy="65071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/>
          <p:cNvSpPr/>
          <p:nvPr/>
        </p:nvSpPr>
        <p:spPr>
          <a:xfrm>
            <a:off x="2705085" y="1863041"/>
            <a:ext cx="6522972" cy="478537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3" name="TextBox 142"/>
          <p:cNvSpPr txBox="1"/>
          <p:nvPr/>
        </p:nvSpPr>
        <p:spPr>
          <a:xfrm>
            <a:off x="4595479" y="1930937"/>
            <a:ext cx="2452916" cy="67710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ko-KR" sz="1400" b="1"/>
              <a:t>B. </a:t>
            </a:r>
            <a:r>
              <a:rPr lang="ko-KR" altLang="en-US" sz="1400" b="1"/>
              <a:t>실시간 주문 수집 및 입력</a:t>
            </a:r>
          </a:p>
          <a:p>
            <a:pPr lvl="0" algn="ctr">
              <a:defRPr/>
            </a:pPr>
            <a:r>
              <a:rPr lang="en-US" altLang="ko-KR" sz="1000"/>
              <a:t>(PC </a:t>
            </a:r>
            <a:r>
              <a:rPr lang="ko-KR" altLang="en-US" sz="1000"/>
              <a:t>백그라운드 서비스</a:t>
            </a:r>
            <a:r>
              <a:rPr lang="en-US" altLang="ko-KR" sz="1000"/>
              <a:t>)</a:t>
            </a:r>
          </a:p>
          <a:p>
            <a:pPr algn="ctr">
              <a:defRPr/>
            </a:pPr>
            <a:r>
              <a:rPr lang="en-US" altLang="ko-KR" sz="1400" b="1"/>
              <a:t>ggotAIorder</a:t>
            </a:r>
            <a:endParaRPr lang="ko-KR" altLang="en-US" sz="1400" b="1"/>
          </a:p>
        </p:txBody>
      </p:sp>
      <p:sp>
        <p:nvSpPr>
          <p:cNvPr id="148" name="직사각형 147"/>
          <p:cNvSpPr/>
          <p:nvPr/>
        </p:nvSpPr>
        <p:spPr>
          <a:xfrm>
            <a:off x="96117" y="1863040"/>
            <a:ext cx="2499886" cy="47853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50" name="TextBox 149"/>
          <p:cNvSpPr txBox="1"/>
          <p:nvPr/>
        </p:nvSpPr>
        <p:spPr>
          <a:xfrm>
            <a:off x="476271" y="1930937"/>
            <a:ext cx="1739579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ko-KR" sz="1400" b="1"/>
              <a:t>A.</a:t>
            </a:r>
            <a:r>
              <a:rPr lang="ko-KR" altLang="en-US" sz="1400" b="1"/>
              <a:t>핸드폰 통화 관리</a:t>
            </a:r>
          </a:p>
          <a:p>
            <a:pPr lvl="0" algn="ctr">
              <a:defRPr/>
            </a:pPr>
            <a:r>
              <a:rPr lang="en-US" altLang="ko-KR" sz="1400" b="1"/>
              <a:t>ggotAIhp</a:t>
            </a:r>
            <a:endParaRPr lang="ko-KR" altLang="en-US" sz="1400" b="1"/>
          </a:p>
        </p:txBody>
      </p:sp>
      <p:grpSp>
        <p:nvGrpSpPr>
          <p:cNvPr id="44" name="그룹 43"/>
          <p:cNvGrpSpPr/>
          <p:nvPr/>
        </p:nvGrpSpPr>
        <p:grpSpPr>
          <a:xfrm>
            <a:off x="1338742" y="761333"/>
            <a:ext cx="9374981" cy="1067950"/>
            <a:chOff x="1338742" y="761333"/>
            <a:chExt cx="9374981" cy="1067950"/>
          </a:xfrm>
        </p:grpSpPr>
        <p:sp>
          <p:nvSpPr>
            <p:cNvPr id="10" name="TextBox 9"/>
            <p:cNvSpPr txBox="1"/>
            <p:nvPr/>
          </p:nvSpPr>
          <p:spPr>
            <a:xfrm>
              <a:off x="5581484" y="761333"/>
              <a:ext cx="2276998" cy="527305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none">
              <a:noAutofit/>
            </a:bodyPr>
            <a:lstStyle/>
            <a:p>
              <a:pPr algn="ctr">
                <a:defRPr/>
              </a:pPr>
              <a:r>
                <a:rPr lang="en-US" altLang="ko-KR" sz="2400" b="1"/>
                <a:t>ggotAI</a:t>
              </a:r>
              <a:endParaRPr lang="ko-KR" altLang="en-US" sz="2400" b="1"/>
            </a:p>
          </p:txBody>
        </p:sp>
        <p:grpSp>
          <p:nvGrpSpPr>
            <p:cNvPr id="41" name="그룹 40"/>
            <p:cNvGrpSpPr/>
            <p:nvPr/>
          </p:nvGrpSpPr>
          <p:grpSpPr>
            <a:xfrm>
              <a:off x="7858483" y="1024985"/>
              <a:ext cx="2855240" cy="800858"/>
              <a:chOff x="7858483" y="1024985"/>
              <a:chExt cx="2855240" cy="800858"/>
            </a:xfrm>
          </p:grpSpPr>
          <p:cxnSp>
            <p:nvCxnSpPr>
              <p:cNvPr id="141" name="직선 연결선 140"/>
              <p:cNvCxnSpPr/>
              <p:nvPr/>
            </p:nvCxnSpPr>
            <p:spPr>
              <a:xfrm flipH="1">
                <a:off x="7858483" y="1024985"/>
                <a:ext cx="2855240" cy="1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직선 화살표 연결선 141"/>
              <p:cNvCxnSpPr/>
              <p:nvPr/>
            </p:nvCxnSpPr>
            <p:spPr>
              <a:xfrm>
                <a:off x="10713723" y="1024985"/>
                <a:ext cx="0" cy="800858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3" name="그룹 42"/>
            <p:cNvGrpSpPr/>
            <p:nvPr/>
          </p:nvGrpSpPr>
          <p:grpSpPr>
            <a:xfrm>
              <a:off x="1338742" y="1024985"/>
              <a:ext cx="4242743" cy="804298"/>
              <a:chOff x="1338742" y="1024985"/>
              <a:chExt cx="4242743" cy="804298"/>
            </a:xfrm>
          </p:grpSpPr>
          <p:cxnSp>
            <p:nvCxnSpPr>
              <p:cNvPr id="23" name="직선 연결선 22"/>
              <p:cNvCxnSpPr/>
              <p:nvPr/>
            </p:nvCxnSpPr>
            <p:spPr>
              <a:xfrm flipH="1" flipV="1">
                <a:off x="1338742" y="1024987"/>
                <a:ext cx="4242743" cy="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직선 화살표 연결선 27"/>
              <p:cNvCxnSpPr/>
              <p:nvPr/>
            </p:nvCxnSpPr>
            <p:spPr>
              <a:xfrm>
                <a:off x="5231471" y="1028425"/>
                <a:ext cx="0" cy="80085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직선 화살표 연결선 150"/>
              <p:cNvCxnSpPr/>
              <p:nvPr/>
            </p:nvCxnSpPr>
            <p:spPr>
              <a:xfrm>
                <a:off x="1338743" y="1024985"/>
                <a:ext cx="0" cy="80085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" name="TextBox 3"/>
          <p:cNvSpPr txBox="1"/>
          <p:nvPr/>
        </p:nvSpPr>
        <p:spPr>
          <a:xfrm>
            <a:off x="481016" y="2853268"/>
            <a:ext cx="1730025" cy="80021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/>
              <a:t>안드로이드 앱</a:t>
            </a:r>
          </a:p>
          <a:p>
            <a:pPr algn="ctr">
              <a:defRPr/>
            </a:pPr>
            <a:r>
              <a:rPr lang="en-US" altLang="ko-KR"/>
              <a:t>(ggotAIhp)</a:t>
            </a:r>
          </a:p>
          <a:p>
            <a:pPr algn="ctr">
              <a:defRPr/>
            </a:pPr>
            <a:r>
              <a:rPr lang="ko-KR" altLang="en-US" sz="1000"/>
              <a:t>핸드폰</a:t>
            </a:r>
            <a:r>
              <a:rPr lang="en-US" altLang="ko-KR" sz="1000"/>
              <a:t> </a:t>
            </a:r>
            <a:r>
              <a:rPr lang="ko-KR" altLang="en-US" sz="1000"/>
              <a:t>통화내역 서버 전송</a:t>
            </a:r>
            <a:endParaRPr lang="en-US" altLang="ko-KR" sz="1000"/>
          </a:p>
        </p:txBody>
      </p:sp>
      <p:sp>
        <p:nvSpPr>
          <p:cNvPr id="77" name="TextBox 76"/>
          <p:cNvSpPr txBox="1"/>
          <p:nvPr/>
        </p:nvSpPr>
        <p:spPr>
          <a:xfrm rot="741081">
            <a:off x="3709439" y="2654037"/>
            <a:ext cx="1188146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900"/>
              <a:t>비정형 주문 텍스트</a:t>
            </a:r>
          </a:p>
        </p:txBody>
      </p:sp>
      <p:sp>
        <p:nvSpPr>
          <p:cNvPr id="80" name="TextBox 79"/>
          <p:cNvSpPr txBox="1"/>
          <p:nvPr/>
        </p:nvSpPr>
        <p:spPr>
          <a:xfrm rot="388627">
            <a:off x="3756092" y="3195211"/>
            <a:ext cx="1188146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900"/>
              <a:t>비정형 주문 텍스트</a:t>
            </a:r>
          </a:p>
        </p:txBody>
      </p:sp>
      <p:sp>
        <p:nvSpPr>
          <p:cNvPr id="81" name="TextBox 80"/>
          <p:cNvSpPr txBox="1"/>
          <p:nvPr/>
        </p:nvSpPr>
        <p:spPr>
          <a:xfrm rot="2933355">
            <a:off x="3857909" y="4858825"/>
            <a:ext cx="107273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900"/>
              <a:t>비정형 주문 음성</a:t>
            </a:r>
          </a:p>
        </p:txBody>
      </p:sp>
      <p:grpSp>
        <p:nvGrpSpPr>
          <p:cNvPr id="19" name="그룹 18"/>
          <p:cNvGrpSpPr/>
          <p:nvPr/>
        </p:nvGrpSpPr>
        <p:grpSpPr>
          <a:xfrm>
            <a:off x="4641743" y="5593086"/>
            <a:ext cx="646641" cy="554108"/>
            <a:chOff x="4679065" y="5742375"/>
            <a:chExt cx="646641" cy="554108"/>
          </a:xfrm>
        </p:grpSpPr>
        <p:sp>
          <p:nvSpPr>
            <p:cNvPr id="83" name="순서도: 자기 디스크 82"/>
            <p:cNvSpPr/>
            <p:nvPr/>
          </p:nvSpPr>
          <p:spPr>
            <a:xfrm>
              <a:off x="4679065" y="5742375"/>
              <a:ext cx="646641" cy="547839"/>
            </a:xfrm>
            <a:prstGeom prst="flowChartMagneticDisk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4766725" y="6050262"/>
              <a:ext cx="441146" cy="24622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ko-KR" altLang="en-US" sz="1000"/>
                <a:t>서버</a:t>
              </a:r>
              <a:endParaRPr lang="en-US" altLang="ko-KR" sz="1000"/>
            </a:p>
          </p:txBody>
        </p:sp>
      </p:grpSp>
      <p:cxnSp>
        <p:nvCxnSpPr>
          <p:cNvPr id="26" name="직선 화살표 연결선 25"/>
          <p:cNvCxnSpPr>
            <a:stCxn id="83" idx="1"/>
          </p:cNvCxnSpPr>
          <p:nvPr/>
        </p:nvCxnSpPr>
        <p:spPr>
          <a:xfrm flipV="1">
            <a:off x="4965064" y="4609322"/>
            <a:ext cx="437360" cy="9837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4753648" y="4886816"/>
            <a:ext cx="107273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900"/>
              <a:t>비정형 주문 음성</a:t>
            </a:r>
          </a:p>
        </p:txBody>
      </p:sp>
      <p:sp>
        <p:nvSpPr>
          <p:cNvPr id="33" name="자유형 32"/>
          <p:cNvSpPr/>
          <p:nvPr/>
        </p:nvSpPr>
        <p:spPr>
          <a:xfrm>
            <a:off x="2090057" y="3125755"/>
            <a:ext cx="1660849" cy="1315617"/>
          </a:xfrm>
          <a:custGeom>
            <a:avLst/>
            <a:gdLst>
              <a:gd name="connsiteX0" fmla="*/ 0 w 1593270"/>
              <a:gd name="connsiteY0" fmla="*/ 0 h 1180207"/>
              <a:gd name="connsiteX1" fmla="*/ 251927 w 1593270"/>
              <a:gd name="connsiteY1" fmla="*/ 765110 h 1180207"/>
              <a:gd name="connsiteX2" fmla="*/ 690466 w 1593270"/>
              <a:gd name="connsiteY2" fmla="*/ 951722 h 1180207"/>
              <a:gd name="connsiteX3" fmla="*/ 1296955 w 1593270"/>
              <a:gd name="connsiteY3" fmla="*/ 998375 h 1180207"/>
              <a:gd name="connsiteX4" fmla="*/ 1586204 w 1593270"/>
              <a:gd name="connsiteY4" fmla="*/ 1175657 h 1180207"/>
              <a:gd name="connsiteX5" fmla="*/ 1576874 w 1593270"/>
              <a:gd name="connsiteY5" fmla="*/ 1138335 h 1180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93270" h="1180207">
                <a:moveTo>
                  <a:pt x="0" y="0"/>
                </a:moveTo>
                <a:cubicBezTo>
                  <a:pt x="68424" y="303245"/>
                  <a:pt x="136849" y="606490"/>
                  <a:pt x="251927" y="765110"/>
                </a:cubicBezTo>
                <a:cubicBezTo>
                  <a:pt x="367005" y="923730"/>
                  <a:pt x="516295" y="912845"/>
                  <a:pt x="690466" y="951722"/>
                </a:cubicBezTo>
                <a:cubicBezTo>
                  <a:pt x="864637" y="990599"/>
                  <a:pt x="1147665" y="961053"/>
                  <a:pt x="1296955" y="998375"/>
                </a:cubicBezTo>
                <a:cubicBezTo>
                  <a:pt x="1446245" y="1035697"/>
                  <a:pt x="1586204" y="1175657"/>
                  <a:pt x="1586204" y="1175657"/>
                </a:cubicBezTo>
                <a:cubicBezTo>
                  <a:pt x="1632857" y="1198984"/>
                  <a:pt x="1427584" y="1124339"/>
                  <a:pt x="1576874" y="1138335"/>
                </a:cubicBezTo>
              </a:path>
            </a:pathLst>
          </a:custGeom>
          <a:noFill/>
          <a:ln>
            <a:solidFill>
              <a:srgbClr val="FF0000"/>
            </a:solidFill>
            <a:headEnd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grpSp>
        <p:nvGrpSpPr>
          <p:cNvPr id="74" name="그룹 73"/>
          <p:cNvGrpSpPr/>
          <p:nvPr/>
        </p:nvGrpSpPr>
        <p:grpSpPr>
          <a:xfrm>
            <a:off x="9335664" y="1879975"/>
            <a:ext cx="2743142" cy="2522692"/>
            <a:chOff x="7750695" y="1863042"/>
            <a:chExt cx="2743142" cy="2522692"/>
          </a:xfrm>
        </p:grpSpPr>
        <p:sp>
          <p:nvSpPr>
            <p:cNvPr id="75" name="직사각형 74"/>
            <p:cNvSpPr/>
            <p:nvPr/>
          </p:nvSpPr>
          <p:spPr>
            <a:xfrm>
              <a:off x="7750695" y="1863042"/>
              <a:ext cx="2743142" cy="252269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8465058" y="2785062"/>
              <a:ext cx="1370888" cy="92333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/>
                <a:t>①회원가입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ko-KR" altLang="en-US" sz="1200"/>
                <a:t>②주문 내역 조회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ko-KR" altLang="en-US" sz="1200"/>
                <a:t>③환경설정</a:t>
              </a:r>
              <a:endParaRPr lang="en-US" altLang="ko-KR" sz="1200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7837705" y="1930937"/>
              <a:ext cx="2586446" cy="648433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1400" b="1" dirty="0"/>
                <a:t>C.</a:t>
              </a:r>
              <a:r>
                <a:rPr lang="ko-KR" altLang="en-US" sz="1400" b="1" dirty="0"/>
                <a:t> 관리용 </a:t>
              </a:r>
              <a:r>
                <a:rPr lang="en-US" altLang="ko-KR" sz="1400" b="1" dirty="0"/>
                <a:t>UI </a:t>
              </a:r>
              <a:r>
                <a:rPr lang="ko-KR" altLang="en-US" sz="1400" b="1" dirty="0"/>
                <a:t>애플리케이션</a:t>
              </a:r>
            </a:p>
            <a:p>
              <a:pPr lvl="0" algn="ctr">
                <a:defRPr/>
              </a:pPr>
              <a:r>
                <a:rPr lang="en-US" altLang="ko-KR" sz="900" dirty="0"/>
                <a:t>(PC </a:t>
              </a:r>
              <a:r>
                <a:rPr lang="ko-KR" altLang="en-US" sz="900" dirty="0" err="1"/>
                <a:t>포그라운드</a:t>
              </a:r>
              <a:r>
                <a:rPr lang="ko-KR" altLang="en-US" sz="900" dirty="0"/>
                <a:t> </a:t>
              </a:r>
              <a:r>
                <a:rPr lang="ko-KR" altLang="en-US" sz="900" dirty="0" err="1"/>
                <a:t>액티비티</a:t>
              </a:r>
              <a:r>
                <a:rPr lang="en-US" altLang="ko-KR" sz="900" dirty="0"/>
                <a:t>)</a:t>
              </a:r>
            </a:p>
            <a:p>
              <a:pPr lvl="0" algn="ctr">
                <a:defRPr/>
              </a:pPr>
              <a:r>
                <a:rPr lang="en-US" altLang="ko-KR" sz="1400" b="1" dirty="0" err="1"/>
                <a:t>ggotAIya</a:t>
              </a:r>
              <a:endParaRPr lang="en-US" altLang="ko-KR" sz="1400" b="1" dirty="0"/>
            </a:p>
          </p:txBody>
        </p:sp>
      </p:grpSp>
      <p:sp>
        <p:nvSpPr>
          <p:cNvPr id="87" name="TextBox 86"/>
          <p:cNvSpPr txBox="1"/>
          <p:nvPr/>
        </p:nvSpPr>
        <p:spPr>
          <a:xfrm>
            <a:off x="9342543" y="5719251"/>
            <a:ext cx="2710603" cy="6694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1050" b="1" dirty="0"/>
              <a:t>RPA</a:t>
            </a:r>
            <a:r>
              <a:rPr lang="en-US" altLang="ko-KR" sz="1050" dirty="0"/>
              <a:t>(Robotic Process Automation)</a:t>
            </a:r>
          </a:p>
          <a:p>
            <a:pPr>
              <a:defRPr/>
            </a:pPr>
            <a:r>
              <a:rPr lang="en-US" altLang="ko-KR" sz="900" b="1" dirty="0"/>
              <a:t>RPA</a:t>
            </a:r>
            <a:r>
              <a:rPr lang="ko-KR" altLang="en-US" sz="900" dirty="0"/>
              <a:t>는 </a:t>
            </a:r>
            <a:r>
              <a:rPr lang="ko-KR" altLang="en-US" sz="900" u="sng" dirty="0"/>
              <a:t>사람이 컴퓨터로 처리하는 반복적이고 규칙적인 업무</a:t>
            </a:r>
            <a:r>
              <a:rPr lang="ko-KR" altLang="en-US" sz="900" dirty="0"/>
              <a:t>를 </a:t>
            </a:r>
            <a:r>
              <a:rPr lang="ko-KR" altLang="en-US" sz="900" u="sng" dirty="0" smtClean="0"/>
              <a:t>소프트웨어 </a:t>
            </a:r>
            <a:r>
              <a:rPr lang="ko-KR" altLang="en-US" sz="900" u="sng" dirty="0"/>
              <a:t>로봇이 대신 수행하는 기술</a:t>
            </a:r>
            <a:r>
              <a:rPr lang="en-US" altLang="ko-KR" sz="900" u="sng" dirty="0"/>
              <a:t> </a:t>
            </a:r>
            <a:r>
              <a:rPr lang="ko-KR" altLang="en-US" sz="900" u="sng" dirty="0"/>
              <a:t>입니다</a:t>
            </a:r>
            <a:r>
              <a:rPr lang="en-US" altLang="ko-KR" sz="900" u="sng" dirty="0"/>
              <a:t>.</a:t>
            </a:r>
            <a:endParaRPr lang="ko-KR" altLang="en-US" sz="900" dirty="0"/>
          </a:p>
        </p:txBody>
      </p:sp>
      <p:sp>
        <p:nvSpPr>
          <p:cNvPr id="88" name="TextBox 87"/>
          <p:cNvSpPr txBox="1"/>
          <p:nvPr/>
        </p:nvSpPr>
        <p:spPr>
          <a:xfrm>
            <a:off x="9342543" y="4541808"/>
            <a:ext cx="2710603" cy="5309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1050" b="1" dirty="0"/>
              <a:t>Whisper</a:t>
            </a:r>
          </a:p>
          <a:p>
            <a:pPr>
              <a:defRPr/>
            </a:pPr>
            <a:r>
              <a:rPr lang="en-US" altLang="ko-KR" sz="900" b="1" dirty="0"/>
              <a:t>Whisper</a:t>
            </a:r>
            <a:r>
              <a:rPr lang="ko-KR" altLang="en-US" sz="900" dirty="0"/>
              <a:t>는 </a:t>
            </a:r>
            <a:r>
              <a:rPr lang="ko-KR" altLang="en-US" sz="900" u="sng" dirty="0"/>
              <a:t>음성을 텍스트 변환</a:t>
            </a:r>
            <a:r>
              <a:rPr lang="en-US" altLang="ko-KR" sz="900" u="sng" dirty="0"/>
              <a:t>(STT)</a:t>
            </a:r>
            <a:r>
              <a:rPr lang="ko-KR" altLang="en-US" sz="900" u="sng" dirty="0"/>
              <a:t>하는</a:t>
            </a:r>
            <a:r>
              <a:rPr lang="en-US" altLang="ko-KR" sz="900" u="sng" dirty="0"/>
              <a:t> </a:t>
            </a:r>
            <a:r>
              <a:rPr lang="ko-KR" altLang="en-US" sz="900" u="sng" dirty="0"/>
              <a:t>서비스 입니다</a:t>
            </a:r>
            <a:r>
              <a:rPr lang="en-US" altLang="ko-KR" sz="900" u="sng" dirty="0"/>
              <a:t>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342543" y="6434931"/>
            <a:ext cx="2728019" cy="2154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800"/>
              <a:t>인터라넷 사용 고객은 </a:t>
            </a:r>
            <a:r>
              <a:rPr lang="en-US" altLang="ko-KR" sz="800"/>
              <a:t>‘</a:t>
            </a:r>
            <a:r>
              <a:rPr lang="ko-KR" altLang="en-US" sz="800"/>
              <a:t>타지역 꽃집</a:t>
            </a:r>
            <a:r>
              <a:rPr lang="en-US" altLang="ko-KR" sz="800"/>
              <a:t>’ </a:t>
            </a:r>
            <a:r>
              <a:rPr lang="ko-KR" altLang="en-US" sz="800"/>
              <a:t>입니다</a:t>
            </a:r>
            <a:r>
              <a:rPr lang="en-US" altLang="ko-KR" sz="800"/>
              <a:t>.</a:t>
            </a:r>
            <a:endParaRPr lang="ko-KR" altLang="en-US" sz="400"/>
          </a:p>
        </p:txBody>
      </p:sp>
      <p:sp>
        <p:nvSpPr>
          <p:cNvPr id="82" name="TextBox 81"/>
          <p:cNvSpPr txBox="1"/>
          <p:nvPr/>
        </p:nvSpPr>
        <p:spPr>
          <a:xfrm>
            <a:off x="9342543" y="5118988"/>
            <a:ext cx="2705524" cy="5539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1200" b="1" dirty="0" smtClean="0"/>
              <a:t>Gemini</a:t>
            </a:r>
            <a:endParaRPr lang="en-US" altLang="ko-KR" sz="800" dirty="0"/>
          </a:p>
          <a:p>
            <a:pPr>
              <a:defRPr/>
            </a:pPr>
            <a:r>
              <a:rPr lang="en-US" altLang="ko-KR" sz="900" dirty="0" smtClean="0">
                <a:latin typeface="맑은 고딕"/>
              </a:rPr>
              <a:t>Gemini</a:t>
            </a:r>
            <a:r>
              <a:rPr lang="ko-KR" altLang="en-US" sz="900" dirty="0" smtClean="0">
                <a:latin typeface="맑은 고딕"/>
              </a:rPr>
              <a:t>는 </a:t>
            </a:r>
            <a:r>
              <a:rPr lang="ko-KR" altLang="en-US" sz="900" dirty="0">
                <a:latin typeface="맑은 고딕"/>
              </a:rPr>
              <a:t>꽃가게 비정형 </a:t>
            </a:r>
            <a:r>
              <a:rPr lang="ko-KR" altLang="en-US" sz="900" dirty="0" err="1">
                <a:latin typeface="맑은 고딕"/>
              </a:rPr>
              <a:t>음성주문</a:t>
            </a:r>
            <a:r>
              <a:rPr lang="ko-KR" altLang="en-US" sz="900" dirty="0">
                <a:latin typeface="맑은 고딕"/>
              </a:rPr>
              <a:t> 데이터를 </a:t>
            </a:r>
          </a:p>
          <a:p>
            <a:pPr>
              <a:defRPr/>
            </a:pPr>
            <a:r>
              <a:rPr lang="ko-KR" altLang="en-US" sz="900" dirty="0">
                <a:latin typeface="맑은 고딕"/>
              </a:rPr>
              <a:t>표준화된 데이터로 </a:t>
            </a:r>
            <a:r>
              <a:rPr lang="ko-KR" altLang="en-US" sz="900" dirty="0" smtClean="0">
                <a:latin typeface="맑은 고딕"/>
              </a:rPr>
              <a:t>변환해줍니다</a:t>
            </a:r>
            <a:r>
              <a:rPr lang="en-US" altLang="ko-KR" sz="900" dirty="0" smtClean="0">
                <a:latin typeface="맑은 고딕"/>
              </a:rPr>
              <a:t>.</a:t>
            </a:r>
            <a:endParaRPr lang="ko-KR" altLang="en-US" sz="900" dirty="0"/>
          </a:p>
        </p:txBody>
      </p:sp>
      <p:pic>
        <p:nvPicPr>
          <p:cNvPr id="86" name="그림 8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210269" y="5198599"/>
            <a:ext cx="749332" cy="271235"/>
          </a:xfrm>
          <a:prstGeom prst="rect">
            <a:avLst/>
          </a:prstGeom>
        </p:spPr>
      </p:pic>
      <p:pic>
        <p:nvPicPr>
          <p:cNvPr id="90" name="그림 8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285330" y="6150568"/>
            <a:ext cx="749538" cy="44535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643062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152400" y="133350"/>
            <a:ext cx="362150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b="1"/>
              <a:t>2. ggotAI(</a:t>
            </a:r>
            <a:r>
              <a:rPr lang="ko-KR" altLang="en-US" b="1"/>
              <a:t>꽃아이</a:t>
            </a:r>
            <a:r>
              <a:rPr lang="en-US" altLang="ko-KR" b="1"/>
              <a:t>) </a:t>
            </a:r>
            <a:r>
              <a:rPr lang="ko-KR" altLang="en-US" b="1"/>
              <a:t>시스템 구성도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184150" y="733425"/>
            <a:ext cx="11906250" cy="61245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순서도: 문서 9"/>
          <p:cNvSpPr/>
          <p:nvPr/>
        </p:nvSpPr>
        <p:spPr>
          <a:xfrm>
            <a:off x="4375149" y="1790284"/>
            <a:ext cx="866775" cy="1110448"/>
          </a:xfrm>
          <a:prstGeom prst="flowChartDocumen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solidFill>
                  <a:schemeClr val="tx1"/>
                </a:solidFill>
              </a:rPr>
              <a:t>웹</a:t>
            </a:r>
            <a:r>
              <a:rPr lang="en-US" altLang="ko-KR" sz="1400" dirty="0">
                <a:solidFill>
                  <a:schemeClr val="tx1"/>
                </a:solidFill>
              </a:rPr>
              <a:t>1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7" name="순서도: 문서 66"/>
          <p:cNvSpPr/>
          <p:nvPr/>
        </p:nvSpPr>
        <p:spPr>
          <a:xfrm>
            <a:off x="1612900" y="1979517"/>
            <a:ext cx="866775" cy="512740"/>
          </a:xfrm>
          <a:prstGeom prst="flowChartDocumen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>
                <a:solidFill>
                  <a:schemeClr val="tx1"/>
                </a:solidFill>
              </a:rPr>
              <a:t>앱</a:t>
            </a:r>
          </a:p>
        </p:txBody>
      </p:sp>
      <p:sp>
        <p:nvSpPr>
          <p:cNvPr id="12" name="순서도: 자기 디스크 11"/>
          <p:cNvSpPr/>
          <p:nvPr/>
        </p:nvSpPr>
        <p:spPr>
          <a:xfrm>
            <a:off x="1140982" y="3254368"/>
            <a:ext cx="691513" cy="446817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900">
                <a:solidFill>
                  <a:schemeClr val="dk1"/>
                </a:solidFill>
              </a:rPr>
              <a:t>DataBase</a:t>
            </a:r>
          </a:p>
        </p:txBody>
      </p:sp>
      <p:sp>
        <p:nvSpPr>
          <p:cNvPr id="68" name="순서도: 자기 디스크 67"/>
          <p:cNvSpPr/>
          <p:nvPr/>
        </p:nvSpPr>
        <p:spPr>
          <a:xfrm>
            <a:off x="5769554" y="5239126"/>
            <a:ext cx="825979" cy="484341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>
                <a:solidFill>
                  <a:schemeClr val="tx1"/>
                </a:solidFill>
              </a:rP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7992" y="806694"/>
            <a:ext cx="1505540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200"/>
              <a:t>A.</a:t>
            </a:r>
            <a:r>
              <a:rPr lang="ko-KR" altLang="en-US" sz="1200"/>
              <a:t>핸드폰 통화 관리</a:t>
            </a:r>
          </a:p>
          <a:p>
            <a:pPr algn="ctr">
              <a:defRPr/>
            </a:pPr>
            <a:r>
              <a:rPr lang="en-US" altLang="ko-KR" sz="1200" b="1"/>
              <a:t>ggotAIhp</a:t>
            </a:r>
            <a:endParaRPr lang="ko-KR" altLang="en-US" sz="1200" b="1"/>
          </a:p>
        </p:txBody>
      </p:sp>
      <p:sp>
        <p:nvSpPr>
          <p:cNvPr id="69" name="TextBox 68"/>
          <p:cNvSpPr txBox="1"/>
          <p:nvPr/>
        </p:nvSpPr>
        <p:spPr>
          <a:xfrm>
            <a:off x="3866091" y="806694"/>
            <a:ext cx="3684022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200" dirty="0"/>
              <a:t>B.</a:t>
            </a:r>
            <a:r>
              <a:rPr lang="ko-KR" altLang="en-US" sz="1200" dirty="0"/>
              <a:t>실시간 주문 수집 및 입력</a:t>
            </a:r>
            <a:r>
              <a:rPr lang="en-US" altLang="ko-KR" sz="1200" dirty="0"/>
              <a:t>(PC </a:t>
            </a:r>
            <a:r>
              <a:rPr lang="ko-KR" altLang="en-US" sz="1200" dirty="0"/>
              <a:t>백그라운드 서비스</a:t>
            </a:r>
            <a:r>
              <a:rPr lang="en-US" altLang="ko-KR" sz="1200" dirty="0"/>
              <a:t>)</a:t>
            </a:r>
          </a:p>
          <a:p>
            <a:pPr lvl="0" algn="ctr">
              <a:defRPr/>
            </a:pPr>
            <a:r>
              <a:rPr lang="en-US" altLang="ko-KR" sz="1200" b="1" dirty="0" err="1"/>
              <a:t>ggotAIorder</a:t>
            </a:r>
            <a:endParaRPr lang="ko-KR" altLang="en-US" sz="1200" dirty="0"/>
          </a:p>
        </p:txBody>
      </p:sp>
      <p:sp>
        <p:nvSpPr>
          <p:cNvPr id="14" name="TextBox 13"/>
          <p:cNvSpPr txBox="1"/>
          <p:nvPr/>
        </p:nvSpPr>
        <p:spPr>
          <a:xfrm>
            <a:off x="4927170" y="5542781"/>
            <a:ext cx="49244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1200"/>
              <a:t>서버</a:t>
            </a:r>
            <a:endParaRPr lang="en-US" altLang="ko-KR" sz="1200"/>
          </a:p>
        </p:txBody>
      </p:sp>
      <p:sp>
        <p:nvSpPr>
          <p:cNvPr id="79" name="순서도: 자기 디스크 78"/>
          <p:cNvSpPr/>
          <p:nvPr/>
        </p:nvSpPr>
        <p:spPr>
          <a:xfrm>
            <a:off x="7276308" y="3886472"/>
            <a:ext cx="838200" cy="619125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4" name="순서도: 문서 83"/>
          <p:cNvSpPr/>
          <p:nvPr/>
        </p:nvSpPr>
        <p:spPr>
          <a:xfrm>
            <a:off x="7242175" y="1579466"/>
            <a:ext cx="866775" cy="511200"/>
          </a:xfrm>
          <a:prstGeom prst="flowChartDocumen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>
                <a:solidFill>
                  <a:srgbClr val="FF0000"/>
                </a:solidFill>
              </a:rPr>
              <a:t>Whisper</a:t>
            </a:r>
          </a:p>
        </p:txBody>
      </p:sp>
      <p:sp>
        <p:nvSpPr>
          <p:cNvPr id="93" name="순서도: 문서 92"/>
          <p:cNvSpPr/>
          <p:nvPr/>
        </p:nvSpPr>
        <p:spPr>
          <a:xfrm>
            <a:off x="7242175" y="2217642"/>
            <a:ext cx="866775" cy="512740"/>
          </a:xfrm>
          <a:prstGeom prst="flowChartDocumen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>
                <a:solidFill>
                  <a:schemeClr val="tx1"/>
                </a:solidFill>
              </a:rPr>
              <a:t>Gemini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252017" y="4545975"/>
            <a:ext cx="88678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1200"/>
              <a:t>PC </a:t>
            </a:r>
            <a:r>
              <a:rPr lang="ko-KR" altLang="en-US" sz="1200"/>
              <a:t>디스크</a:t>
            </a:r>
            <a:endParaRPr lang="en-US" altLang="ko-KR" sz="1200"/>
          </a:p>
        </p:txBody>
      </p:sp>
      <p:sp>
        <p:nvSpPr>
          <p:cNvPr id="104" name="순서도: 문서 103"/>
          <p:cNvSpPr/>
          <p:nvPr/>
        </p:nvSpPr>
        <p:spPr>
          <a:xfrm>
            <a:off x="5867927" y="3243446"/>
            <a:ext cx="866775" cy="512740"/>
          </a:xfrm>
          <a:prstGeom prst="flowChartDocumen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>
                <a:solidFill>
                  <a:schemeClr val="tx1"/>
                </a:solidFill>
              </a:rPr>
              <a:t>RPA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89627" y="2004043"/>
            <a:ext cx="69762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1000"/>
              <a:t>스마트폰</a:t>
            </a:r>
          </a:p>
          <a:p>
            <a:pPr algn="ctr">
              <a:defRPr/>
            </a:pPr>
            <a:r>
              <a:rPr lang="ko-KR" altLang="en-US" sz="1000"/>
              <a:t>전화주문</a:t>
            </a:r>
          </a:p>
        </p:txBody>
      </p:sp>
      <p:cxnSp>
        <p:nvCxnSpPr>
          <p:cNvPr id="4" name="직선 화살표 연결선 3"/>
          <p:cNvCxnSpPr>
            <a:stCxn id="2" idx="3"/>
          </p:cNvCxnSpPr>
          <p:nvPr/>
        </p:nvCxnSpPr>
        <p:spPr>
          <a:xfrm>
            <a:off x="1187254" y="2204098"/>
            <a:ext cx="42564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2955925" y="965200"/>
            <a:ext cx="0" cy="398617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3101668" y="2084784"/>
            <a:ext cx="900000" cy="2462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>
            <a:noAutofit/>
          </a:bodyPr>
          <a:lstStyle/>
          <a:p>
            <a:pPr algn="ctr">
              <a:defRPr/>
            </a:pPr>
            <a:r>
              <a:rPr lang="ko-KR" altLang="en-US" sz="1000"/>
              <a:t>쇼핑몰 주문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01668" y="1743312"/>
            <a:ext cx="900000" cy="2462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>
            <a:noAutofit/>
          </a:bodyPr>
          <a:lstStyle/>
          <a:p>
            <a:pPr algn="ctr">
              <a:defRPr/>
            </a:pPr>
            <a:r>
              <a:rPr lang="ko-KR" altLang="en-US" sz="1000"/>
              <a:t>가게 전화주문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101668" y="2422035"/>
            <a:ext cx="900000" cy="2462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>
            <a:noAutofit/>
          </a:bodyPr>
          <a:lstStyle/>
          <a:p>
            <a:pPr algn="ctr">
              <a:defRPr/>
            </a:pPr>
            <a:r>
              <a:rPr lang="ko-KR" altLang="en-US" sz="1000"/>
              <a:t>인터라넷 주문</a:t>
            </a:r>
          </a:p>
        </p:txBody>
      </p:sp>
      <p:cxnSp>
        <p:nvCxnSpPr>
          <p:cNvPr id="29" name="직선 화살표 연결선 28"/>
          <p:cNvCxnSpPr>
            <a:stCxn id="57" idx="3"/>
          </p:cNvCxnSpPr>
          <p:nvPr/>
        </p:nvCxnSpPr>
        <p:spPr>
          <a:xfrm>
            <a:off x="4001668" y="1866423"/>
            <a:ext cx="383007" cy="2453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>
            <a:stCxn id="56" idx="3"/>
          </p:cNvCxnSpPr>
          <p:nvPr/>
        </p:nvCxnSpPr>
        <p:spPr>
          <a:xfrm>
            <a:off x="4001668" y="2207895"/>
            <a:ext cx="373481" cy="270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>
            <a:stCxn id="58" idx="3"/>
          </p:cNvCxnSpPr>
          <p:nvPr/>
        </p:nvCxnSpPr>
        <p:spPr>
          <a:xfrm flipV="1">
            <a:off x="4001668" y="2371004"/>
            <a:ext cx="383007" cy="1741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/>
          <p:cNvCxnSpPr/>
          <p:nvPr/>
        </p:nvCxnSpPr>
        <p:spPr>
          <a:xfrm>
            <a:off x="5280024" y="1799034"/>
            <a:ext cx="1908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/>
          <p:cNvCxnSpPr/>
          <p:nvPr/>
        </p:nvCxnSpPr>
        <p:spPr>
          <a:xfrm flipH="1">
            <a:off x="5280024" y="2037629"/>
            <a:ext cx="1908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/>
          <p:cNvCxnSpPr/>
          <p:nvPr/>
        </p:nvCxnSpPr>
        <p:spPr>
          <a:xfrm>
            <a:off x="5280024" y="2400048"/>
            <a:ext cx="1908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/>
          <p:cNvCxnSpPr/>
          <p:nvPr/>
        </p:nvCxnSpPr>
        <p:spPr>
          <a:xfrm flipH="1">
            <a:off x="5280024" y="2676743"/>
            <a:ext cx="1908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/>
          <p:cNvCxnSpPr/>
          <p:nvPr/>
        </p:nvCxnSpPr>
        <p:spPr>
          <a:xfrm rot="5400000">
            <a:off x="1308076" y="2728740"/>
            <a:ext cx="781355" cy="2319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/>
          <p:cNvCxnSpPr/>
          <p:nvPr/>
        </p:nvCxnSpPr>
        <p:spPr>
          <a:xfrm rot="5400000">
            <a:off x="1453990" y="2753095"/>
            <a:ext cx="771410" cy="17245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 rot="19101958">
            <a:off x="440834" y="2556536"/>
            <a:ext cx="11154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800"/>
              <a:t>1.</a:t>
            </a:r>
            <a:r>
              <a:rPr lang="ko-KR" altLang="en-US" sz="800"/>
              <a:t>핸드폰 통화내용</a:t>
            </a:r>
          </a:p>
          <a:p>
            <a:pPr>
              <a:defRPr/>
            </a:pPr>
            <a:r>
              <a:rPr lang="en-US" altLang="ko-KR" sz="800"/>
              <a:t>2.</a:t>
            </a:r>
            <a:r>
              <a:rPr lang="ko-KR" altLang="en-US" sz="800"/>
              <a:t>가게 주문 음성</a:t>
            </a:r>
          </a:p>
        </p:txBody>
      </p:sp>
      <p:cxnSp>
        <p:nvCxnSpPr>
          <p:cNvPr id="64" name="직선 화살표 연결선 63"/>
          <p:cNvCxnSpPr>
            <a:stCxn id="67" idx="2"/>
          </p:cNvCxnSpPr>
          <p:nvPr/>
        </p:nvCxnSpPr>
        <p:spPr>
          <a:xfrm rot="16200000" flipH="1">
            <a:off x="1683229" y="2821418"/>
            <a:ext cx="2683216" cy="1957097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 rot="17279432">
            <a:off x="1246532" y="2770372"/>
            <a:ext cx="678872" cy="22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800"/>
              <a:t>히스토리</a:t>
            </a:r>
            <a:endParaRPr lang="en-US" altLang="ko-KR" sz="800"/>
          </a:p>
        </p:txBody>
      </p:sp>
      <p:cxnSp>
        <p:nvCxnSpPr>
          <p:cNvPr id="75" name="직선 화살표 연결선 74"/>
          <p:cNvCxnSpPr/>
          <p:nvPr/>
        </p:nvCxnSpPr>
        <p:spPr>
          <a:xfrm>
            <a:off x="5089259" y="2712857"/>
            <a:ext cx="718874" cy="4240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/>
          <p:cNvCxnSpPr>
            <a:endCxn id="79" idx="2"/>
          </p:cNvCxnSpPr>
          <p:nvPr/>
        </p:nvCxnSpPr>
        <p:spPr>
          <a:xfrm>
            <a:off x="6385984" y="3688422"/>
            <a:ext cx="890324" cy="5076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5221229" y="2946709"/>
            <a:ext cx="41549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900"/>
              <a:t>실행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905708" y="1577604"/>
            <a:ext cx="107273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900"/>
              <a:t>비정형 주문 음성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848000" y="1838503"/>
            <a:ext cx="118814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900"/>
              <a:t>비정형 주문 텍스트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848000" y="2188265"/>
            <a:ext cx="118814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900"/>
              <a:t>비정형 주문 텍스트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783236" y="2453889"/>
            <a:ext cx="131767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900"/>
              <a:t>정형화된 주문 텍스트</a:t>
            </a:r>
          </a:p>
        </p:txBody>
      </p:sp>
      <p:sp>
        <p:nvSpPr>
          <p:cNvPr id="105" name="모서리가 둥근 직사각형 104"/>
          <p:cNvSpPr/>
          <p:nvPr/>
        </p:nvSpPr>
        <p:spPr>
          <a:xfrm>
            <a:off x="3057911" y="1619057"/>
            <a:ext cx="1031491" cy="1164166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6" name="TextBox 105"/>
          <p:cNvSpPr txBox="1"/>
          <p:nvPr/>
        </p:nvSpPr>
        <p:spPr>
          <a:xfrm>
            <a:off x="3411200" y="1396134"/>
            <a:ext cx="341015" cy="24026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00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107" name="모서리가 둥근 직사각형 106"/>
          <p:cNvSpPr/>
          <p:nvPr/>
        </p:nvSpPr>
        <p:spPr>
          <a:xfrm>
            <a:off x="5753485" y="1477769"/>
            <a:ext cx="2429115" cy="640291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8" name="모서리가 둥근 직사각형 107"/>
          <p:cNvSpPr/>
          <p:nvPr/>
        </p:nvSpPr>
        <p:spPr>
          <a:xfrm>
            <a:off x="5753485" y="2195319"/>
            <a:ext cx="2429115" cy="568854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9" name="TextBox 108"/>
          <p:cNvSpPr txBox="1"/>
          <p:nvPr/>
        </p:nvSpPr>
        <p:spPr>
          <a:xfrm>
            <a:off x="6586200" y="1253259"/>
            <a:ext cx="337840" cy="24026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00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583025" y="2731221"/>
            <a:ext cx="341015" cy="24026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000">
                <a:solidFill>
                  <a:srgbClr val="FF0000"/>
                </a:solidFill>
              </a:rPr>
              <a:t>③</a:t>
            </a:r>
          </a:p>
        </p:txBody>
      </p:sp>
      <p:sp>
        <p:nvSpPr>
          <p:cNvPr id="111" name="모서리가 둥근 직사각형 110"/>
          <p:cNvSpPr/>
          <p:nvPr/>
        </p:nvSpPr>
        <p:spPr>
          <a:xfrm>
            <a:off x="5757187" y="3145366"/>
            <a:ext cx="1079741" cy="668867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2" name="TextBox 111"/>
          <p:cNvSpPr txBox="1"/>
          <p:nvPr/>
        </p:nvSpPr>
        <p:spPr>
          <a:xfrm>
            <a:off x="6115771" y="2930505"/>
            <a:ext cx="31290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000">
                <a:solidFill>
                  <a:srgbClr val="FF0000"/>
                </a:solidFill>
                <a:ea typeface="맑은 고딕"/>
              </a:rPr>
              <a:t>⑤</a:t>
            </a:r>
            <a:endParaRPr lang="ko-KR" altLang="en-US" sz="1000">
              <a:solidFill>
                <a:srgbClr val="FF0000"/>
              </a:solidFill>
            </a:endParaRPr>
          </a:p>
        </p:txBody>
      </p:sp>
      <p:sp>
        <p:nvSpPr>
          <p:cNvPr id="65" name="모서리가 둥근 직사각형 64"/>
          <p:cNvSpPr/>
          <p:nvPr/>
        </p:nvSpPr>
        <p:spPr>
          <a:xfrm>
            <a:off x="3374930" y="5029201"/>
            <a:ext cx="3502120" cy="752474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1" name="TextBox 70"/>
          <p:cNvSpPr txBox="1"/>
          <p:nvPr/>
        </p:nvSpPr>
        <p:spPr>
          <a:xfrm>
            <a:off x="4300197" y="4954429"/>
            <a:ext cx="31290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000">
                <a:solidFill>
                  <a:srgbClr val="FF0000"/>
                </a:solidFill>
              </a:rPr>
              <a:t>①</a:t>
            </a:r>
          </a:p>
        </p:txBody>
      </p:sp>
      <p:cxnSp>
        <p:nvCxnSpPr>
          <p:cNvPr id="74" name="직선 연결선 73"/>
          <p:cNvCxnSpPr/>
          <p:nvPr/>
        </p:nvCxnSpPr>
        <p:spPr>
          <a:xfrm>
            <a:off x="8442325" y="965200"/>
            <a:ext cx="0" cy="398617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8539691" y="814388"/>
            <a:ext cx="3389842" cy="43088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1100"/>
              <a:t>C.</a:t>
            </a:r>
            <a:r>
              <a:rPr lang="ko-KR" altLang="en-US" sz="1100"/>
              <a:t>관리용 </a:t>
            </a:r>
            <a:r>
              <a:rPr lang="en-US" altLang="ko-KR" sz="1100"/>
              <a:t>UI </a:t>
            </a:r>
            <a:r>
              <a:rPr lang="ko-KR" altLang="en-US" sz="1100"/>
              <a:t>애플리케이션</a:t>
            </a:r>
            <a:r>
              <a:rPr lang="en-US" altLang="ko-KR" sz="1100"/>
              <a:t>(PC </a:t>
            </a:r>
            <a:r>
              <a:rPr lang="ko-KR" altLang="en-US" sz="1100"/>
              <a:t>포그라운드 액티비티</a:t>
            </a:r>
            <a:r>
              <a:rPr lang="en-US" altLang="ko-KR" sz="1100"/>
              <a:t>)</a:t>
            </a:r>
          </a:p>
          <a:p>
            <a:pPr lvl="0" algn="ctr">
              <a:defRPr/>
            </a:pPr>
            <a:r>
              <a:rPr lang="en-US" altLang="ko-KR" sz="1100" b="1"/>
              <a:t>ggotAIya</a:t>
            </a:r>
          </a:p>
        </p:txBody>
      </p:sp>
      <p:sp>
        <p:nvSpPr>
          <p:cNvPr id="87" name="순서도: 문서 86"/>
          <p:cNvSpPr/>
          <p:nvPr/>
        </p:nvSpPr>
        <p:spPr>
          <a:xfrm>
            <a:off x="9988549" y="1637884"/>
            <a:ext cx="866775" cy="1110448"/>
          </a:xfrm>
          <a:prstGeom prst="flowChartDocumen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solidFill>
                  <a:schemeClr val="tx1"/>
                </a:solidFill>
              </a:rPr>
              <a:t>웹</a:t>
            </a:r>
            <a:r>
              <a:rPr lang="en-US" altLang="ko-KR" sz="1400" dirty="0">
                <a:solidFill>
                  <a:schemeClr val="tx1"/>
                </a:solidFill>
              </a:rPr>
              <a:t>2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 rot="17763278">
            <a:off x="8666178" y="3790605"/>
            <a:ext cx="67358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800"/>
              <a:t>1.</a:t>
            </a:r>
            <a:r>
              <a:rPr lang="ko-KR" altLang="en-US" sz="800"/>
              <a:t>주문내역</a:t>
            </a:r>
          </a:p>
          <a:p>
            <a:pPr algn="ctr">
              <a:defRPr/>
            </a:pPr>
            <a:r>
              <a:rPr lang="en-US" altLang="ko-KR" sz="800"/>
              <a:t>2.</a:t>
            </a:r>
            <a:r>
              <a:rPr lang="ko-KR" altLang="en-US" sz="800"/>
              <a:t>회원정보</a:t>
            </a:r>
          </a:p>
          <a:p>
            <a:pPr algn="ctr">
              <a:defRPr/>
            </a:pPr>
            <a:r>
              <a:rPr lang="en-US" altLang="ko-KR" sz="800"/>
              <a:t>3.</a:t>
            </a:r>
            <a:r>
              <a:rPr lang="ko-KR" altLang="en-US" sz="800"/>
              <a:t>환경정보</a:t>
            </a:r>
          </a:p>
        </p:txBody>
      </p:sp>
      <p:sp>
        <p:nvSpPr>
          <p:cNvPr id="88" name="TextBox 87"/>
          <p:cNvSpPr txBox="1"/>
          <p:nvPr/>
        </p:nvSpPr>
        <p:spPr>
          <a:xfrm rot="18252696">
            <a:off x="6440351" y="3882952"/>
            <a:ext cx="1181734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800"/>
              <a:t>정형화된 주문 텍스트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98959" y="1537512"/>
            <a:ext cx="69762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1000"/>
              <a:t>가게</a:t>
            </a:r>
          </a:p>
          <a:p>
            <a:pPr algn="ctr">
              <a:defRPr/>
            </a:pPr>
            <a:r>
              <a:rPr lang="ko-KR" altLang="en-US" sz="1000"/>
              <a:t>음성주문</a:t>
            </a:r>
          </a:p>
        </p:txBody>
      </p:sp>
      <p:cxnSp>
        <p:nvCxnSpPr>
          <p:cNvPr id="94" name="직선 화살표 연결선 93"/>
          <p:cNvCxnSpPr/>
          <p:nvPr/>
        </p:nvCxnSpPr>
        <p:spPr>
          <a:xfrm>
            <a:off x="1205915" y="1737568"/>
            <a:ext cx="389620" cy="2965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 rot="13920425">
            <a:off x="1805381" y="3162415"/>
            <a:ext cx="13389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800"/>
              <a:t>1. </a:t>
            </a:r>
            <a:r>
              <a:rPr lang="ko-KR" altLang="en-US" sz="800"/>
              <a:t>핸드폰 통화내용</a:t>
            </a:r>
          </a:p>
          <a:p>
            <a:pPr>
              <a:defRPr/>
            </a:pPr>
            <a:r>
              <a:rPr lang="en-US" altLang="ko-KR" sz="800"/>
              <a:t>2.</a:t>
            </a:r>
            <a:r>
              <a:rPr lang="ko-KR" altLang="en-US" sz="800"/>
              <a:t>가게 주문 음성</a:t>
            </a:r>
            <a:endParaRPr lang="en-US" altLang="ko-KR" sz="800"/>
          </a:p>
        </p:txBody>
      </p:sp>
      <p:sp>
        <p:nvSpPr>
          <p:cNvPr id="125" name="순서도: 자기 디스크 11"/>
          <p:cNvSpPr/>
          <p:nvPr/>
        </p:nvSpPr>
        <p:spPr>
          <a:xfrm>
            <a:off x="318368" y="3257830"/>
            <a:ext cx="691513" cy="446817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900">
                <a:solidFill>
                  <a:schemeClr val="dk1"/>
                </a:solidFill>
              </a:rPr>
              <a:t>Storage</a:t>
            </a:r>
          </a:p>
        </p:txBody>
      </p:sp>
      <p:cxnSp>
        <p:nvCxnSpPr>
          <p:cNvPr id="126" name="직선 화살표 연결선 61"/>
          <p:cNvCxnSpPr/>
          <p:nvPr/>
        </p:nvCxnSpPr>
        <p:spPr>
          <a:xfrm rot="10800000" flipV="1">
            <a:off x="673649" y="2380865"/>
            <a:ext cx="914716" cy="8198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화살표 연결선 61"/>
          <p:cNvCxnSpPr/>
          <p:nvPr/>
        </p:nvCxnSpPr>
        <p:spPr>
          <a:xfrm rot="10800000" flipV="1">
            <a:off x="808153" y="2505459"/>
            <a:ext cx="808980" cy="733801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순서도: 자기 디스크 67"/>
          <p:cNvSpPr/>
          <p:nvPr/>
        </p:nvSpPr>
        <p:spPr>
          <a:xfrm>
            <a:off x="3597853" y="5137526"/>
            <a:ext cx="1239307" cy="458941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>
                <a:solidFill>
                  <a:schemeClr val="tx1"/>
                </a:solidFill>
              </a:rPr>
              <a:t>Storage</a:t>
            </a:r>
          </a:p>
        </p:txBody>
      </p:sp>
      <p:cxnSp>
        <p:nvCxnSpPr>
          <p:cNvPr id="133" name="직선 화살표 연결선 63"/>
          <p:cNvCxnSpPr>
            <a:endCxn id="68" idx="2"/>
          </p:cNvCxnSpPr>
          <p:nvPr/>
        </p:nvCxnSpPr>
        <p:spPr>
          <a:xfrm>
            <a:off x="2400300" y="2428875"/>
            <a:ext cx="3369254" cy="3052422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95"/>
          <p:cNvSpPr txBox="1"/>
          <p:nvPr/>
        </p:nvSpPr>
        <p:spPr>
          <a:xfrm rot="13365525">
            <a:off x="2360422" y="3388738"/>
            <a:ext cx="207104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800"/>
              <a:t>히스토리</a:t>
            </a:r>
            <a:r>
              <a:rPr lang="en-US" altLang="ko-KR" sz="800"/>
              <a:t>(</a:t>
            </a:r>
            <a:r>
              <a:rPr lang="ko-KR" altLang="en-US" sz="800"/>
              <a:t>핸드폰 통화</a:t>
            </a:r>
            <a:r>
              <a:rPr lang="en-US" altLang="ko-KR" sz="800"/>
              <a:t>, </a:t>
            </a:r>
            <a:r>
              <a:rPr lang="ko-KR" altLang="en-US" sz="800"/>
              <a:t>가게 주문 음성</a:t>
            </a:r>
            <a:r>
              <a:rPr lang="en-US" altLang="ko-KR" sz="800"/>
              <a:t>)</a:t>
            </a:r>
          </a:p>
        </p:txBody>
      </p:sp>
      <p:cxnSp>
        <p:nvCxnSpPr>
          <p:cNvPr id="136" name="직선 화살표 연결선 135"/>
          <p:cNvCxnSpPr>
            <a:stCxn id="10" idx="2"/>
          </p:cNvCxnSpPr>
          <p:nvPr/>
        </p:nvCxnSpPr>
        <p:spPr>
          <a:xfrm>
            <a:off x="4808537" y="2827319"/>
            <a:ext cx="1177396" cy="2422014"/>
          </a:xfrm>
          <a:prstGeom prst="straightConnector1">
            <a:avLst/>
          </a:prstGeom>
          <a:ln>
            <a:solidFill>
              <a:srgbClr val="000000"/>
            </a:solidFill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화살표 연결선 137"/>
          <p:cNvCxnSpPr/>
          <p:nvPr/>
        </p:nvCxnSpPr>
        <p:spPr>
          <a:xfrm flipH="1">
            <a:off x="4111817" y="2877611"/>
            <a:ext cx="296141" cy="2254439"/>
          </a:xfrm>
          <a:prstGeom prst="straightConnector1">
            <a:avLst/>
          </a:prstGeom>
          <a:ln>
            <a:solidFill>
              <a:srgbClr val="0000FF"/>
            </a:solidFill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95"/>
          <p:cNvSpPr txBox="1"/>
          <p:nvPr/>
        </p:nvSpPr>
        <p:spPr>
          <a:xfrm rot="16692916">
            <a:off x="3658074" y="3353149"/>
            <a:ext cx="117538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800">
                <a:solidFill>
                  <a:srgbClr val="0000FF"/>
                </a:solidFill>
              </a:rPr>
              <a:t>가게 전화 통화내용</a:t>
            </a:r>
            <a:endParaRPr lang="en-US" altLang="ko-KR" sz="800">
              <a:solidFill>
                <a:srgbClr val="0000FF"/>
              </a:solidFill>
            </a:endParaRPr>
          </a:p>
        </p:txBody>
      </p:sp>
      <p:sp>
        <p:nvSpPr>
          <p:cNvPr id="86" name="TextBox 95"/>
          <p:cNvSpPr txBox="1"/>
          <p:nvPr/>
        </p:nvSpPr>
        <p:spPr>
          <a:xfrm rot="14706016">
            <a:off x="4210654" y="3923349"/>
            <a:ext cx="21640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800"/>
              <a:t>1.</a:t>
            </a:r>
            <a:r>
              <a:rPr lang="ko-KR" altLang="en-US" sz="800"/>
              <a:t>히스토리</a:t>
            </a:r>
            <a:r>
              <a:rPr lang="en-US" altLang="ko-KR" sz="800"/>
              <a:t>(</a:t>
            </a:r>
            <a:r>
              <a:rPr lang="ko-KR" altLang="en-US" sz="800"/>
              <a:t>가게통화</a:t>
            </a:r>
            <a:r>
              <a:rPr lang="en-US" altLang="ko-KR" sz="800"/>
              <a:t>,</a:t>
            </a:r>
            <a:r>
              <a:rPr lang="ko-KR" altLang="en-US" sz="800"/>
              <a:t>쇼핑몰</a:t>
            </a:r>
            <a:r>
              <a:rPr lang="en-US" altLang="ko-KR" sz="800"/>
              <a:t>,</a:t>
            </a:r>
            <a:r>
              <a:rPr lang="ko-KR" altLang="en-US" sz="800"/>
              <a:t>인터라넷</a:t>
            </a:r>
            <a:r>
              <a:rPr lang="en-US" altLang="ko-KR" sz="800"/>
              <a:t>)</a:t>
            </a:r>
          </a:p>
          <a:p>
            <a:pPr>
              <a:defRPr/>
            </a:pPr>
            <a:r>
              <a:rPr lang="en-US" altLang="ko-KR" sz="800"/>
              <a:t>2.</a:t>
            </a:r>
            <a:r>
              <a:rPr lang="ko-KR" altLang="en-US" sz="800"/>
              <a:t>주문내역</a:t>
            </a:r>
          </a:p>
        </p:txBody>
      </p:sp>
      <p:sp>
        <p:nvSpPr>
          <p:cNvPr id="20" name="자유형 19"/>
          <p:cNvSpPr/>
          <p:nvPr/>
        </p:nvSpPr>
        <p:spPr>
          <a:xfrm>
            <a:off x="6620933" y="2743200"/>
            <a:ext cx="3522134" cy="2810933"/>
          </a:xfrm>
          <a:custGeom>
            <a:avLst/>
            <a:gdLst>
              <a:gd name="connsiteX0" fmla="*/ 0 w 3522134"/>
              <a:gd name="connsiteY0" fmla="*/ 2971800 h 2972956"/>
              <a:gd name="connsiteX1" fmla="*/ 1058334 w 3522134"/>
              <a:gd name="connsiteY1" fmla="*/ 2921000 h 2972956"/>
              <a:gd name="connsiteX2" fmla="*/ 2125134 w 3522134"/>
              <a:gd name="connsiteY2" fmla="*/ 2692400 h 2972956"/>
              <a:gd name="connsiteX3" fmla="*/ 3522134 w 3522134"/>
              <a:gd name="connsiteY3" fmla="*/ 0 h 2972956"/>
              <a:gd name="connsiteX4" fmla="*/ 3522134 w 3522134"/>
              <a:gd name="connsiteY4" fmla="*/ 0 h 2972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22134" h="2972956">
                <a:moveTo>
                  <a:pt x="0" y="2971800"/>
                </a:moveTo>
                <a:cubicBezTo>
                  <a:pt x="352072" y="2969683"/>
                  <a:pt x="704145" y="2967567"/>
                  <a:pt x="1058334" y="2921000"/>
                </a:cubicBezTo>
                <a:cubicBezTo>
                  <a:pt x="1412523" y="2874433"/>
                  <a:pt x="1714501" y="3179233"/>
                  <a:pt x="2125134" y="2692400"/>
                </a:cubicBezTo>
                <a:cubicBezTo>
                  <a:pt x="2535767" y="2205567"/>
                  <a:pt x="3522134" y="0"/>
                  <a:pt x="3522134" y="0"/>
                </a:cubicBezTo>
                <a:lnTo>
                  <a:pt x="3522134" y="0"/>
                </a:lnTo>
              </a:path>
            </a:pathLst>
          </a:custGeom>
          <a:noFill/>
          <a:ln w="6350">
            <a:solidFill>
              <a:schemeClr val="tx1"/>
            </a:solidFill>
            <a:headEnd type="triangle" w="med" len="med"/>
            <a:tailEnd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" name="자유형 22"/>
          <p:cNvSpPr/>
          <p:nvPr/>
        </p:nvSpPr>
        <p:spPr>
          <a:xfrm>
            <a:off x="6595533" y="2709333"/>
            <a:ext cx="3420534" cy="2667000"/>
          </a:xfrm>
          <a:custGeom>
            <a:avLst/>
            <a:gdLst>
              <a:gd name="connsiteX0" fmla="*/ 0 w 3420534"/>
              <a:gd name="connsiteY0" fmla="*/ 2810934 h 2810934"/>
              <a:gd name="connsiteX1" fmla="*/ 685800 w 3420534"/>
              <a:gd name="connsiteY1" fmla="*/ 2785534 h 2810934"/>
              <a:gd name="connsiteX2" fmla="*/ 1879600 w 3420534"/>
              <a:gd name="connsiteY2" fmla="*/ 2667000 h 2810934"/>
              <a:gd name="connsiteX3" fmla="*/ 2446867 w 3420534"/>
              <a:gd name="connsiteY3" fmla="*/ 1811867 h 2810934"/>
              <a:gd name="connsiteX4" fmla="*/ 3420534 w 3420534"/>
              <a:gd name="connsiteY4" fmla="*/ 0 h 2810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0534" h="2810934">
                <a:moveTo>
                  <a:pt x="0" y="2810934"/>
                </a:moveTo>
                <a:cubicBezTo>
                  <a:pt x="186266" y="2810228"/>
                  <a:pt x="372533" y="2809523"/>
                  <a:pt x="685800" y="2785534"/>
                </a:cubicBezTo>
                <a:cubicBezTo>
                  <a:pt x="999067" y="2761545"/>
                  <a:pt x="1586089" y="2829278"/>
                  <a:pt x="1879600" y="2667000"/>
                </a:cubicBezTo>
                <a:cubicBezTo>
                  <a:pt x="2173111" y="2504722"/>
                  <a:pt x="2190045" y="2256367"/>
                  <a:pt x="2446867" y="1811867"/>
                </a:cubicBezTo>
                <a:cubicBezTo>
                  <a:pt x="2703689" y="1367367"/>
                  <a:pt x="3062111" y="683683"/>
                  <a:pt x="3420534" y="0"/>
                </a:cubicBezTo>
              </a:path>
            </a:pathLst>
          </a:custGeom>
          <a:noFill/>
          <a:ln w="6350">
            <a:solidFill>
              <a:schemeClr val="tx1"/>
            </a:solidFill>
            <a:headEnd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2" name="TextBox 101"/>
          <p:cNvSpPr txBox="1"/>
          <p:nvPr/>
        </p:nvSpPr>
        <p:spPr>
          <a:xfrm rot="17763278">
            <a:off x="9126555" y="4280785"/>
            <a:ext cx="67358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800"/>
              <a:t>1.</a:t>
            </a:r>
            <a:r>
              <a:rPr lang="ko-KR" altLang="en-US" sz="800"/>
              <a:t>회원정보</a:t>
            </a:r>
          </a:p>
          <a:p>
            <a:pPr algn="ctr">
              <a:defRPr/>
            </a:pPr>
            <a:r>
              <a:rPr lang="en-US" altLang="ko-KR" sz="800"/>
              <a:t>2.</a:t>
            </a:r>
            <a:r>
              <a:rPr lang="ko-KR" altLang="en-US" sz="800"/>
              <a:t>환경정보</a:t>
            </a:r>
          </a:p>
        </p:txBody>
      </p:sp>
      <p:cxnSp>
        <p:nvCxnSpPr>
          <p:cNvPr id="113" name="직선 화살표 연결선 112"/>
          <p:cNvCxnSpPr>
            <a:endCxn id="68" idx="1"/>
          </p:cNvCxnSpPr>
          <p:nvPr/>
        </p:nvCxnSpPr>
        <p:spPr>
          <a:xfrm>
            <a:off x="4941887" y="2760644"/>
            <a:ext cx="1240657" cy="2478482"/>
          </a:xfrm>
          <a:prstGeom prst="straightConnector1">
            <a:avLst/>
          </a:prstGeom>
          <a:ln>
            <a:solidFill>
              <a:srgbClr val="000000"/>
            </a:solidFill>
            <a:headEnd type="triangle" w="med" len="med"/>
            <a:tailEnd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화살표 연결선 114"/>
          <p:cNvCxnSpPr/>
          <p:nvPr/>
        </p:nvCxnSpPr>
        <p:spPr>
          <a:xfrm flipH="1">
            <a:off x="4330892" y="2887136"/>
            <a:ext cx="296141" cy="2254439"/>
          </a:xfrm>
          <a:prstGeom prst="straightConnector1">
            <a:avLst/>
          </a:prstGeom>
          <a:ln>
            <a:solidFill>
              <a:srgbClr val="0000FF"/>
            </a:solidFill>
            <a:headEnd type="triangle" w="med" len="med"/>
            <a:tailEnd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95"/>
          <p:cNvSpPr txBox="1"/>
          <p:nvPr/>
        </p:nvSpPr>
        <p:spPr>
          <a:xfrm rot="16692916">
            <a:off x="3783279" y="3826470"/>
            <a:ext cx="1767439" cy="334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800">
                <a:solidFill>
                  <a:srgbClr val="0000FF"/>
                </a:solidFill>
              </a:rPr>
              <a:t>1.</a:t>
            </a:r>
            <a:r>
              <a:rPr lang="ko-KR" altLang="en-US" sz="800">
                <a:solidFill>
                  <a:srgbClr val="0000FF"/>
                </a:solidFill>
              </a:rPr>
              <a:t>핸드폰</a:t>
            </a:r>
            <a:r>
              <a:rPr lang="en-US" altLang="ko-KR" sz="800">
                <a:solidFill>
                  <a:srgbClr val="0000FF"/>
                </a:solidFill>
              </a:rPr>
              <a:t>,</a:t>
            </a:r>
            <a:r>
              <a:rPr lang="ko-KR" altLang="en-US" sz="800">
                <a:solidFill>
                  <a:srgbClr val="0000FF"/>
                </a:solidFill>
              </a:rPr>
              <a:t> 가게전화 통화내용</a:t>
            </a:r>
          </a:p>
          <a:p>
            <a:pPr>
              <a:defRPr/>
            </a:pPr>
            <a:r>
              <a:rPr lang="en-US" altLang="ko-KR" sz="800">
                <a:solidFill>
                  <a:srgbClr val="0000FF"/>
                </a:solidFill>
              </a:rPr>
              <a:t>2..</a:t>
            </a:r>
            <a:r>
              <a:rPr lang="ko-KR" altLang="en-US" sz="800">
                <a:solidFill>
                  <a:srgbClr val="0000FF"/>
                </a:solidFill>
              </a:rPr>
              <a:t>가게 주문 음성</a:t>
            </a:r>
            <a:endParaRPr lang="en-US" altLang="ko-KR" sz="800">
              <a:solidFill>
                <a:srgbClr val="0000FF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 rot="17862356">
            <a:off x="8640233" y="4300007"/>
            <a:ext cx="286007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/>
              <a:t>핸드폰 통화내용</a:t>
            </a:r>
            <a:r>
              <a:rPr lang="en-US" altLang="ko-KR" sz="900"/>
              <a:t>, </a:t>
            </a:r>
            <a:r>
              <a:rPr lang="ko-KR" altLang="en-US" sz="900"/>
              <a:t>가게전화 통화내용</a:t>
            </a:r>
            <a:r>
              <a:rPr lang="en-US" altLang="ko-KR" sz="900"/>
              <a:t>. </a:t>
            </a:r>
            <a:r>
              <a:rPr lang="ko-KR" altLang="en-US" sz="900"/>
              <a:t>가게주문 음성</a:t>
            </a:r>
          </a:p>
        </p:txBody>
      </p:sp>
      <p:sp>
        <p:nvSpPr>
          <p:cNvPr id="117" name="TextBox 95"/>
          <p:cNvSpPr txBox="1"/>
          <p:nvPr/>
        </p:nvSpPr>
        <p:spPr>
          <a:xfrm rot="14581366">
            <a:off x="4658188" y="3865117"/>
            <a:ext cx="2199012" cy="33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800"/>
              <a:t>히스토리</a:t>
            </a:r>
            <a:r>
              <a:rPr lang="en-US" altLang="ko-KR" sz="800"/>
              <a:t>(</a:t>
            </a:r>
            <a:r>
              <a:rPr lang="ko-KR" altLang="en-US" sz="800"/>
              <a:t>핸드폰</a:t>
            </a:r>
            <a:r>
              <a:rPr lang="en-US" altLang="ko-KR" sz="800"/>
              <a:t>,</a:t>
            </a:r>
            <a:r>
              <a:rPr lang="ko-KR" altLang="en-US" sz="800"/>
              <a:t>가게 통화</a:t>
            </a:r>
            <a:r>
              <a:rPr lang="en-US" altLang="ko-KR" sz="800"/>
              <a:t>, </a:t>
            </a:r>
            <a:r>
              <a:rPr lang="ko-KR" altLang="en-US" sz="800"/>
              <a:t>가게 주문 음성</a:t>
            </a:r>
            <a:r>
              <a:rPr lang="en-US" altLang="ko-KR" sz="800"/>
              <a:t>,</a:t>
            </a:r>
            <a:r>
              <a:rPr lang="ko-KR" altLang="en-US" sz="800"/>
              <a:t> 쇼핑몰</a:t>
            </a:r>
            <a:r>
              <a:rPr lang="en-US" altLang="ko-KR" sz="800"/>
              <a:t>,</a:t>
            </a:r>
            <a:r>
              <a:rPr lang="ko-KR" altLang="en-US" sz="800"/>
              <a:t> 인터라넷</a:t>
            </a:r>
            <a:r>
              <a:rPr lang="en-US" altLang="ko-KR" sz="800"/>
              <a:t>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652747" y="5047560"/>
            <a:ext cx="31290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000">
                <a:solidFill>
                  <a:srgbClr val="FF0000"/>
                </a:solidFill>
              </a:rPr>
              <a:t>④</a:t>
            </a:r>
          </a:p>
        </p:txBody>
      </p:sp>
      <p:sp>
        <p:nvSpPr>
          <p:cNvPr id="119" name="TextBox 58"/>
          <p:cNvSpPr txBox="1"/>
          <p:nvPr/>
        </p:nvSpPr>
        <p:spPr>
          <a:xfrm>
            <a:off x="2858696" y="6239471"/>
            <a:ext cx="6014371" cy="4927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900"/>
              <a:t>‘B.</a:t>
            </a:r>
            <a:r>
              <a:rPr lang="ko-KR" altLang="en-US" sz="900"/>
              <a:t>실시간 주문 수집 및 입력</a:t>
            </a:r>
            <a:r>
              <a:rPr lang="en-US" altLang="ko-KR" sz="900"/>
              <a:t>(PC </a:t>
            </a:r>
            <a:r>
              <a:rPr lang="ko-KR" altLang="en-US" sz="900"/>
              <a:t>백그라운드 서비스</a:t>
            </a:r>
            <a:r>
              <a:rPr lang="en-US" altLang="ko-KR" sz="900"/>
              <a:t>)‘ </a:t>
            </a:r>
            <a:r>
              <a:rPr lang="ko-KR" altLang="en-US" sz="900"/>
              <a:t>업무처리순서</a:t>
            </a:r>
          </a:p>
          <a:p>
            <a:pPr marL="171450" indent="-171450">
              <a:buFontTx/>
              <a:buChar char="-"/>
              <a:defRPr/>
            </a:pPr>
            <a:r>
              <a:rPr lang="ko-KR" altLang="en-US" sz="900"/>
              <a:t>전화주문</a:t>
            </a:r>
            <a:r>
              <a:rPr lang="en-US" altLang="ko-KR" sz="900"/>
              <a:t>: ‘</a:t>
            </a:r>
            <a:r>
              <a:rPr lang="ko-KR" altLang="en-US" sz="900"/>
              <a:t>①</a:t>
            </a:r>
            <a:r>
              <a:rPr lang="en-US" altLang="ko-KR" sz="900"/>
              <a:t>’</a:t>
            </a:r>
            <a:r>
              <a:rPr lang="ko-KR" altLang="en-US" sz="900"/>
              <a:t> 주문 </a:t>
            </a:r>
            <a:r>
              <a:rPr lang="en-US" altLang="ko-KR" sz="900"/>
              <a:t>-&gt;</a:t>
            </a:r>
            <a:r>
              <a:rPr lang="ko-KR" altLang="en-US" sz="900"/>
              <a:t> </a:t>
            </a:r>
            <a:r>
              <a:rPr lang="en-US" altLang="ko-KR" sz="900"/>
              <a:t>‘</a:t>
            </a:r>
            <a:r>
              <a:rPr lang="ko-KR" altLang="en-US" sz="900"/>
              <a:t>②</a:t>
            </a:r>
            <a:r>
              <a:rPr lang="en-US" altLang="ko-KR" sz="900"/>
              <a:t>’</a:t>
            </a:r>
            <a:r>
              <a:rPr lang="ko-KR" altLang="en-US" sz="900"/>
              <a:t> 음성</a:t>
            </a:r>
            <a:r>
              <a:rPr lang="en-US" altLang="ko-KR" sz="900"/>
              <a:t>-</a:t>
            </a:r>
            <a:r>
              <a:rPr lang="ko-KR" altLang="en-US" sz="900"/>
              <a:t>텍스트 변환 </a:t>
            </a:r>
            <a:r>
              <a:rPr lang="en-US" altLang="ko-KR" sz="900"/>
              <a:t>-&gt; </a:t>
            </a:r>
            <a:r>
              <a:rPr lang="ko-KR" altLang="en-US" sz="900"/>
              <a:t> </a:t>
            </a:r>
            <a:r>
              <a:rPr lang="en-US" altLang="ko-KR" sz="900"/>
              <a:t>‘</a:t>
            </a:r>
            <a:r>
              <a:rPr lang="ko-KR" altLang="en-US" sz="900"/>
              <a:t>③</a:t>
            </a:r>
            <a:r>
              <a:rPr lang="en-US" altLang="ko-KR" sz="900"/>
              <a:t>’</a:t>
            </a:r>
            <a:r>
              <a:rPr lang="ko-KR" altLang="en-US" sz="900"/>
              <a:t> </a:t>
            </a:r>
            <a:r>
              <a:rPr lang="en-US" altLang="ko-KR" sz="900"/>
              <a:t>Gemini -&gt;‘</a:t>
            </a:r>
            <a:r>
              <a:rPr lang="ko-KR" altLang="en-US" sz="900"/>
              <a:t>④</a:t>
            </a:r>
            <a:r>
              <a:rPr lang="en-US" altLang="ko-KR" sz="900"/>
              <a:t>’</a:t>
            </a:r>
            <a:r>
              <a:rPr lang="ko-KR" altLang="en-US" sz="900"/>
              <a:t> </a:t>
            </a:r>
            <a:r>
              <a:rPr lang="en-US" altLang="ko-KR" sz="900">
                <a:ea typeface="맑은 고딕"/>
              </a:rPr>
              <a:t>’</a:t>
            </a:r>
            <a:r>
              <a:rPr lang="ko-KR" altLang="en-US" sz="900">
                <a:ea typeface="맑은 고딕"/>
              </a:rPr>
              <a:t>서버</a:t>
            </a:r>
            <a:r>
              <a:rPr lang="en-US" altLang="ko-KR" sz="900">
                <a:ea typeface="맑은 고딕"/>
              </a:rPr>
              <a:t>(DataBase) </a:t>
            </a:r>
            <a:r>
              <a:rPr lang="ko-KR" altLang="en-US" sz="900">
                <a:ea typeface="맑은 고딕"/>
              </a:rPr>
              <a:t>저장</a:t>
            </a:r>
            <a:r>
              <a:rPr lang="en-US" altLang="ko-KR" sz="900">
                <a:ea typeface="맑은 고딕"/>
              </a:rPr>
              <a:t>-&gt;</a:t>
            </a:r>
            <a:r>
              <a:rPr lang="en-US" altLang="ko-KR" sz="900"/>
              <a:t>’</a:t>
            </a:r>
            <a:r>
              <a:rPr lang="en-US" altLang="ko-KR" sz="900">
                <a:ea typeface="맑은 고딕"/>
              </a:rPr>
              <a:t>⑤’</a:t>
            </a:r>
            <a:r>
              <a:rPr lang="ko-KR" altLang="en-US" sz="900">
                <a:ea typeface="맑은 고딕"/>
              </a:rPr>
              <a:t> </a:t>
            </a:r>
            <a:r>
              <a:rPr lang="en-US" altLang="ko-KR" sz="900"/>
              <a:t>RPA </a:t>
            </a:r>
            <a:r>
              <a:rPr lang="ko-KR" altLang="en-US" sz="900"/>
              <a:t>실행</a:t>
            </a:r>
          </a:p>
          <a:p>
            <a:pPr marL="171450" indent="-171450">
              <a:buFontTx/>
              <a:buChar char="-"/>
              <a:defRPr/>
            </a:pPr>
            <a:r>
              <a:rPr lang="ko-KR" altLang="en-US" sz="900"/>
              <a:t>쇼핑몰</a:t>
            </a:r>
            <a:r>
              <a:rPr lang="en-US" altLang="ko-KR" sz="900"/>
              <a:t>, </a:t>
            </a:r>
            <a:r>
              <a:rPr lang="ko-KR" altLang="en-US" sz="900"/>
              <a:t>인터라넷 주문</a:t>
            </a:r>
            <a:r>
              <a:rPr lang="en-US" altLang="ko-KR" sz="900"/>
              <a:t>: ‘</a:t>
            </a:r>
            <a:r>
              <a:rPr lang="ko-KR" altLang="en-US" sz="900"/>
              <a:t>①</a:t>
            </a:r>
            <a:r>
              <a:rPr lang="en-US" altLang="ko-KR" sz="900"/>
              <a:t>’</a:t>
            </a:r>
            <a:r>
              <a:rPr lang="ko-KR" altLang="en-US" sz="900"/>
              <a:t> 주문</a:t>
            </a:r>
            <a:r>
              <a:rPr lang="en-US" altLang="ko-KR" sz="900"/>
              <a:t> -&gt;  ’</a:t>
            </a:r>
            <a:r>
              <a:rPr lang="ko-KR" altLang="en-US" sz="900"/>
              <a:t> ④</a:t>
            </a:r>
            <a:r>
              <a:rPr lang="en-US" altLang="ko-KR" sz="900"/>
              <a:t>’</a:t>
            </a:r>
            <a:r>
              <a:rPr lang="ko-KR" altLang="en-US" sz="900"/>
              <a:t>서버</a:t>
            </a:r>
            <a:r>
              <a:rPr lang="en-US" altLang="ko-KR" sz="900">
                <a:ea typeface="맑은 고딕"/>
              </a:rPr>
              <a:t> (DataBase) </a:t>
            </a:r>
            <a:r>
              <a:rPr lang="ko-KR" altLang="en-US" sz="900"/>
              <a:t>저장 </a:t>
            </a:r>
            <a:r>
              <a:rPr lang="en-US" altLang="ko-KR" sz="900"/>
              <a:t>-&gt;</a:t>
            </a:r>
            <a:r>
              <a:rPr lang="ko-KR" altLang="en-US" sz="900"/>
              <a:t> </a:t>
            </a:r>
            <a:r>
              <a:rPr lang="en-US" altLang="ko-KR" sz="900"/>
              <a:t>‘⑤’</a:t>
            </a:r>
            <a:r>
              <a:rPr lang="ko-KR" altLang="en-US" sz="900"/>
              <a:t> </a:t>
            </a:r>
            <a:r>
              <a:rPr lang="en-US" altLang="ko-KR" sz="900"/>
              <a:t>RPA </a:t>
            </a:r>
            <a:r>
              <a:rPr lang="ko-KR" altLang="en-US" sz="900"/>
              <a:t>실행</a:t>
            </a:r>
          </a:p>
        </p:txBody>
      </p:sp>
      <p:sp>
        <p:nvSpPr>
          <p:cNvPr id="33" name="자유형 32"/>
          <p:cNvSpPr/>
          <p:nvPr/>
        </p:nvSpPr>
        <p:spPr>
          <a:xfrm>
            <a:off x="4436533" y="2616200"/>
            <a:ext cx="6163734" cy="3319018"/>
          </a:xfrm>
          <a:custGeom>
            <a:avLst/>
            <a:gdLst>
              <a:gd name="connsiteX0" fmla="*/ 0 w 6163734"/>
              <a:gd name="connsiteY0" fmla="*/ 2980267 h 3319018"/>
              <a:gd name="connsiteX1" fmla="*/ 143934 w 6163734"/>
              <a:gd name="connsiteY1" fmla="*/ 3115733 h 3319018"/>
              <a:gd name="connsiteX2" fmla="*/ 635000 w 6163734"/>
              <a:gd name="connsiteY2" fmla="*/ 3268133 h 3319018"/>
              <a:gd name="connsiteX3" fmla="*/ 1244600 w 6163734"/>
              <a:gd name="connsiteY3" fmla="*/ 3310467 h 3319018"/>
              <a:gd name="connsiteX4" fmla="*/ 2463800 w 6163734"/>
              <a:gd name="connsiteY4" fmla="*/ 3302000 h 3319018"/>
              <a:gd name="connsiteX5" fmla="*/ 4064000 w 6163734"/>
              <a:gd name="connsiteY5" fmla="*/ 3141133 h 3319018"/>
              <a:gd name="connsiteX6" fmla="*/ 4859867 w 6163734"/>
              <a:gd name="connsiteY6" fmla="*/ 2683933 h 3319018"/>
              <a:gd name="connsiteX7" fmla="*/ 5664200 w 6163734"/>
              <a:gd name="connsiteY7" fmla="*/ 1312333 h 3319018"/>
              <a:gd name="connsiteX8" fmla="*/ 6163734 w 6163734"/>
              <a:gd name="connsiteY8" fmla="*/ 0 h 3319018"/>
              <a:gd name="connsiteX9" fmla="*/ 6163734 w 6163734"/>
              <a:gd name="connsiteY9" fmla="*/ 0 h 3319018"/>
              <a:gd name="connsiteX10" fmla="*/ 6163734 w 6163734"/>
              <a:gd name="connsiteY10" fmla="*/ 0 h 3319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163734" h="3319018">
                <a:moveTo>
                  <a:pt x="0" y="2980267"/>
                </a:moveTo>
                <a:cubicBezTo>
                  <a:pt x="19050" y="3024011"/>
                  <a:pt x="38101" y="3067755"/>
                  <a:pt x="143934" y="3115733"/>
                </a:cubicBezTo>
                <a:cubicBezTo>
                  <a:pt x="249767" y="3163711"/>
                  <a:pt x="451556" y="3235677"/>
                  <a:pt x="635000" y="3268133"/>
                </a:cubicBezTo>
                <a:cubicBezTo>
                  <a:pt x="818444" y="3300589"/>
                  <a:pt x="939800" y="3304823"/>
                  <a:pt x="1244600" y="3310467"/>
                </a:cubicBezTo>
                <a:cubicBezTo>
                  <a:pt x="1549400" y="3316111"/>
                  <a:pt x="1993900" y="3330222"/>
                  <a:pt x="2463800" y="3302000"/>
                </a:cubicBezTo>
                <a:cubicBezTo>
                  <a:pt x="2933700" y="3273778"/>
                  <a:pt x="3664656" y="3244144"/>
                  <a:pt x="4064000" y="3141133"/>
                </a:cubicBezTo>
                <a:cubicBezTo>
                  <a:pt x="4463344" y="3038122"/>
                  <a:pt x="4593167" y="2988733"/>
                  <a:pt x="4859867" y="2683933"/>
                </a:cubicBezTo>
                <a:cubicBezTo>
                  <a:pt x="5126567" y="2379133"/>
                  <a:pt x="5446889" y="1759655"/>
                  <a:pt x="5664200" y="1312333"/>
                </a:cubicBezTo>
                <a:cubicBezTo>
                  <a:pt x="5881511" y="865011"/>
                  <a:pt x="6163734" y="0"/>
                  <a:pt x="6163734" y="0"/>
                </a:cubicBezTo>
                <a:lnTo>
                  <a:pt x="6163734" y="0"/>
                </a:lnTo>
                <a:lnTo>
                  <a:pt x="6163734" y="0"/>
                </a:lnTo>
              </a:path>
            </a:pathLst>
          </a:custGeom>
          <a:noFill/>
          <a:ln w="6350">
            <a:solidFill>
              <a:schemeClr val="tx1"/>
            </a:solidFill>
            <a:headEnd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260985" y="196419"/>
            <a:ext cx="2687955" cy="36365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b="1"/>
              <a:t>3. DataBase &amp; Storage</a:t>
            </a:r>
          </a:p>
        </p:txBody>
      </p:sp>
      <p:graphicFrame>
        <p:nvGraphicFramePr>
          <p:cNvPr id="25" name="표 24"/>
          <p:cNvGraphicFramePr>
            <a:graphicFrameLocks noGrp="1"/>
          </p:cNvGraphicFramePr>
          <p:nvPr/>
        </p:nvGraphicFramePr>
        <p:xfrm>
          <a:off x="728133" y="1013303"/>
          <a:ext cx="10006542" cy="275336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7562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75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68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19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900"/>
                        <a:t>Table </a:t>
                      </a:r>
                      <a:r>
                        <a:rPr lang="ko-KR" altLang="en-US" sz="900"/>
                        <a:t>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900"/>
                        <a:t>Table </a:t>
                      </a:r>
                      <a:r>
                        <a:rPr lang="ko-KR" altLang="en-US" sz="900"/>
                        <a:t>간단 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900"/>
                        <a:t>Table </a:t>
                      </a:r>
                      <a:r>
                        <a:rPr lang="ko-KR" altLang="en-US" sz="900"/>
                        <a:t>저장 위치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/>
                        <a:t>사용 </a:t>
                      </a:r>
                      <a:r>
                        <a:rPr lang="en-US" altLang="ko-KR" sz="900"/>
                        <a:t>SW</a:t>
                      </a:r>
                    </a:p>
                    <a:p>
                      <a:pPr algn="ctr">
                        <a:defRPr/>
                      </a:pPr>
                      <a:r>
                        <a:rPr lang="en-US" altLang="ko-KR" sz="900"/>
                        <a:t>(R:Read, W:Write)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640">
                <a:tc rowSpan="5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900" b="1"/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900"/>
                        <a:t>server_call_histor</a:t>
                      </a:r>
                      <a:r>
                        <a:rPr lang="en-US" altLang="ko-KR" sz="900">
                          <a:solidFill>
                            <a:schemeClr val="dk1"/>
                          </a:solidFill>
                        </a:rPr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/>
                        <a:t>히스토리</a:t>
                      </a:r>
                      <a:r>
                        <a:rPr lang="en-US" altLang="ko-KR" sz="900"/>
                        <a:t>_</a:t>
                      </a:r>
                      <a:r>
                        <a:rPr lang="ko-KR" altLang="en-US" sz="900"/>
                        <a:t>서버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>
                          <a:solidFill>
                            <a:schemeClr val="dk1"/>
                          </a:solidFill>
                        </a:rPr>
                        <a:t>서버</a:t>
                      </a:r>
                      <a:endParaRPr lang="en-US" altLang="ko-KR" sz="900">
                        <a:solidFill>
                          <a:schemeClr val="dk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900"/>
                        <a:t>각 주문채널</a:t>
                      </a:r>
                      <a:r>
                        <a:rPr lang="en-US" altLang="ko-KR" sz="900"/>
                        <a:t>(</a:t>
                      </a:r>
                      <a:r>
                        <a:rPr lang="ko-KR" altLang="en-US" sz="900"/>
                        <a:t>핸드폰</a:t>
                      </a:r>
                      <a:r>
                        <a:rPr lang="en-US" altLang="ko-KR" sz="900"/>
                        <a:t>,</a:t>
                      </a:r>
                      <a:r>
                        <a:rPr lang="ko-KR" altLang="en-US" sz="900"/>
                        <a:t> 가게전화</a:t>
                      </a:r>
                      <a:r>
                        <a:rPr lang="en-US" altLang="ko-KR" sz="900"/>
                        <a:t>,</a:t>
                      </a:r>
                      <a:r>
                        <a:rPr lang="ko-KR" altLang="en-US" sz="900"/>
                        <a:t> 가게음성</a:t>
                      </a:r>
                      <a:r>
                        <a:rPr lang="en-US" altLang="ko-KR" sz="900"/>
                        <a:t>,</a:t>
                      </a:r>
                      <a:r>
                        <a:rPr lang="ko-KR" altLang="en-US" sz="900"/>
                        <a:t> 쇼핑몰</a:t>
                      </a:r>
                      <a:r>
                        <a:rPr lang="en-US" altLang="ko-KR" sz="900"/>
                        <a:t>,</a:t>
                      </a:r>
                      <a:r>
                        <a:rPr lang="ko-KR" altLang="en-US" sz="900"/>
                        <a:t> 인트라넷</a:t>
                      </a:r>
                      <a:r>
                        <a:rPr lang="en-US" altLang="ko-KR" sz="900"/>
                        <a:t>)</a:t>
                      </a:r>
                      <a:r>
                        <a:rPr lang="ko-KR" altLang="en-US" sz="900"/>
                        <a:t>로 부터 주문을 수집한 환경 정보</a:t>
                      </a:r>
                      <a:r>
                        <a:rPr lang="en-US" altLang="ko-KR" sz="900"/>
                        <a:t>(</a:t>
                      </a:r>
                      <a:r>
                        <a:rPr lang="ko-KR" altLang="en-US" sz="900"/>
                        <a:t>채널</a:t>
                      </a:r>
                      <a:r>
                        <a:rPr lang="en-US" altLang="ko-KR" sz="900"/>
                        <a:t>, </a:t>
                      </a:r>
                      <a:r>
                        <a:rPr lang="ko-KR" altLang="en-US" sz="900"/>
                        <a:t>일자</a:t>
                      </a:r>
                      <a:r>
                        <a:rPr lang="en-US" altLang="ko-KR" sz="900"/>
                        <a:t>, </a:t>
                      </a:r>
                      <a:r>
                        <a:rPr lang="ko-KR" altLang="en-US" sz="900"/>
                        <a:t>시간</a:t>
                      </a:r>
                      <a:r>
                        <a:rPr lang="en-US" altLang="ko-KR" sz="900"/>
                        <a:t>, </a:t>
                      </a:r>
                      <a:r>
                        <a:rPr lang="ko-KR" altLang="en-US" sz="900"/>
                        <a:t>고객전화번호</a:t>
                      </a:r>
                      <a:r>
                        <a:rPr lang="en-US" altLang="ko-KR" sz="900"/>
                        <a:t>…</a:t>
                      </a:r>
                      <a:r>
                        <a:rPr lang="ko-KR" altLang="en-US" sz="900"/>
                        <a:t> 등</a:t>
                      </a:r>
                      <a:r>
                        <a:rPr lang="en-US" altLang="ko-KR" sz="90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ggotAIhp(R,W)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ggotAIorder(R,W)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ggotAIya(R)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900"/>
                        <a:t>hp_call_history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/>
                        <a:t>히스토리</a:t>
                      </a:r>
                      <a:r>
                        <a:rPr lang="en-US" altLang="ko-KR" sz="900"/>
                        <a:t>_</a:t>
                      </a:r>
                      <a:r>
                        <a:rPr lang="ko-KR" altLang="en-US" sz="900"/>
                        <a:t>핸드폰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/>
                        <a:t>핸드폰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900"/>
                        <a:t>- </a:t>
                      </a:r>
                      <a:r>
                        <a:rPr lang="ko-KR" altLang="en-US" sz="900"/>
                        <a:t>핸드폰으로 부터 주문을 수집한 환경 정보</a:t>
                      </a:r>
                      <a:r>
                        <a:rPr lang="en-US" altLang="ko-KR" sz="900"/>
                        <a:t>(</a:t>
                      </a:r>
                      <a:r>
                        <a:rPr lang="ko-KR" altLang="en-US" sz="900"/>
                        <a:t>채널</a:t>
                      </a:r>
                      <a:r>
                        <a:rPr lang="en-US" altLang="ko-KR" sz="900"/>
                        <a:t>, </a:t>
                      </a:r>
                      <a:r>
                        <a:rPr lang="ko-KR" altLang="en-US" sz="900"/>
                        <a:t>일자</a:t>
                      </a:r>
                      <a:r>
                        <a:rPr lang="en-US" altLang="ko-KR" sz="900"/>
                        <a:t>, </a:t>
                      </a:r>
                      <a:r>
                        <a:rPr lang="ko-KR" altLang="en-US" sz="900"/>
                        <a:t>시간</a:t>
                      </a:r>
                      <a:r>
                        <a:rPr lang="en-US" altLang="ko-KR" sz="900"/>
                        <a:t>, </a:t>
                      </a:r>
                      <a:r>
                        <a:rPr lang="ko-KR" altLang="en-US" sz="900"/>
                        <a:t>고객전화번호</a:t>
                      </a:r>
                      <a:r>
                        <a:rPr lang="en-US" altLang="ko-KR" sz="900"/>
                        <a:t>…</a:t>
                      </a:r>
                      <a:r>
                        <a:rPr lang="ko-KR" altLang="en-US" sz="900"/>
                        <a:t> 등</a:t>
                      </a:r>
                      <a:r>
                        <a:rPr lang="en-US" altLang="ko-KR" sz="900"/>
                        <a:t>)</a:t>
                      </a:r>
                    </a:p>
                    <a:p>
                      <a:pPr algn="l">
                        <a:defRPr/>
                      </a:pPr>
                      <a:r>
                        <a:rPr lang="en-US" altLang="ko-KR" sz="900"/>
                        <a:t>- </a:t>
                      </a:r>
                      <a:r>
                        <a:rPr lang="ko-KR" altLang="en-US" sz="900"/>
                        <a:t>핸드폰에 저장하는 </a:t>
                      </a:r>
                      <a:r>
                        <a:rPr lang="en-US" altLang="ko-KR" sz="900"/>
                        <a:t>DataBase</a:t>
                      </a:r>
                    </a:p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</a:rPr>
                        <a:t>주기적으로 히스토리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</a:rPr>
                        <a:t>서버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</a:rPr>
                        <a:t>와 동기화 필요</a:t>
                      </a:r>
                      <a:endParaRPr lang="en-US" altLang="ko-KR" sz="90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ggotAIhp(R,W)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900"/>
                        <a:t>Order_details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/>
                        <a:t>주문내역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>
                          <a:solidFill>
                            <a:schemeClr val="dk1"/>
                          </a:solidFill>
                        </a:rPr>
                        <a:t>서버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900"/>
                        <a:t>각 채널</a:t>
                      </a:r>
                      <a:r>
                        <a:rPr lang="en-US" altLang="ko-KR" sz="900"/>
                        <a:t>(</a:t>
                      </a:r>
                      <a:r>
                        <a:rPr lang="ko-KR" altLang="en-US" sz="900"/>
                        <a:t>핸드폰</a:t>
                      </a:r>
                      <a:r>
                        <a:rPr lang="en-US" altLang="ko-KR" sz="900"/>
                        <a:t>,</a:t>
                      </a:r>
                      <a:r>
                        <a:rPr lang="ko-KR" altLang="en-US" sz="900"/>
                        <a:t> 가게전화</a:t>
                      </a:r>
                      <a:r>
                        <a:rPr lang="en-US" altLang="ko-KR" sz="900"/>
                        <a:t>,</a:t>
                      </a:r>
                      <a:r>
                        <a:rPr lang="ko-KR" altLang="en-US" sz="900"/>
                        <a:t> 가게음성</a:t>
                      </a:r>
                      <a:r>
                        <a:rPr lang="en-US" altLang="ko-KR" sz="900"/>
                        <a:t>,</a:t>
                      </a:r>
                      <a:r>
                        <a:rPr lang="ko-KR" altLang="en-US" sz="900"/>
                        <a:t> 쇼핑몰</a:t>
                      </a:r>
                      <a:r>
                        <a:rPr lang="en-US" altLang="ko-KR" sz="900"/>
                        <a:t>,</a:t>
                      </a:r>
                      <a:r>
                        <a:rPr lang="ko-KR" altLang="en-US" sz="900"/>
                        <a:t> 인털넷</a:t>
                      </a:r>
                      <a:r>
                        <a:rPr lang="en-US" altLang="ko-KR" sz="900"/>
                        <a:t>)</a:t>
                      </a:r>
                      <a:r>
                        <a:rPr lang="ko-KR" altLang="en-US" sz="900"/>
                        <a:t>로 부터 수집된 주문내역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ggotAIorder(R,W)</a:t>
                      </a:r>
                    </a:p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ggotAIya(R)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900"/>
                        <a:t>Setting_info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/>
                        <a:t>환경정보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>
                          <a:solidFill>
                            <a:schemeClr val="dk1"/>
                          </a:solidFill>
                        </a:rPr>
                        <a:t>서버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900"/>
                        <a:t>- ggotAI, ggotAIorder, ggotAIhp </a:t>
                      </a:r>
                      <a:r>
                        <a:rPr lang="ko-KR" altLang="en-US" sz="900"/>
                        <a:t>사용을 위한 환경정보</a:t>
                      </a:r>
                    </a:p>
                    <a:p>
                      <a:pPr algn="l">
                        <a:defRPr/>
                      </a:pPr>
                      <a:r>
                        <a:rPr lang="en-US" altLang="ko-KR" sz="900"/>
                        <a:t>- ggotAIhp </a:t>
                      </a:r>
                      <a:r>
                        <a:rPr lang="ko-KR" altLang="en-US" sz="900"/>
                        <a:t>사용 핸드폰</a:t>
                      </a:r>
                      <a:r>
                        <a:rPr lang="en-US" altLang="ko-KR" sz="900"/>
                        <a:t>, </a:t>
                      </a:r>
                      <a:r>
                        <a:rPr lang="ko-KR" altLang="en-US" sz="900"/>
                        <a:t>쇼핑몰 주소</a:t>
                      </a:r>
                      <a:r>
                        <a:rPr lang="en-US" altLang="ko-KR" sz="900"/>
                        <a:t>…</a:t>
                      </a:r>
                      <a:r>
                        <a:rPr lang="ko-KR" altLang="en-US" sz="900"/>
                        <a:t>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ggotAIhp(R)</a:t>
                      </a:r>
                    </a:p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ggotAIorder(R)</a:t>
                      </a:r>
                    </a:p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ggotAIya(R.W)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900"/>
                        <a:t>member_info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/>
                        <a:t>회원정보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>
                          <a:solidFill>
                            <a:schemeClr val="dk1"/>
                          </a:solidFill>
                        </a:rPr>
                        <a:t>서버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900"/>
                        <a:t>사용자</a:t>
                      </a:r>
                      <a:r>
                        <a:rPr lang="en-US" altLang="ko-KR" sz="900"/>
                        <a:t>(</a:t>
                      </a:r>
                      <a:r>
                        <a:rPr lang="ko-KR" altLang="en-US" sz="900"/>
                        <a:t>꽃집</a:t>
                      </a:r>
                      <a:r>
                        <a:rPr lang="en-US" altLang="ko-KR" sz="900"/>
                        <a:t>)</a:t>
                      </a:r>
                      <a:r>
                        <a:rPr lang="ko-KR" altLang="en-US" sz="900"/>
                        <a:t> 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ggotAIhp(R)</a:t>
                      </a:r>
                    </a:p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ggotAIorder(R)</a:t>
                      </a:r>
                    </a:p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ggotAIya(R,W)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" name="표 1"/>
          <p:cNvGraphicFramePr>
            <a:graphicFrameLocks noGrp="1"/>
          </p:cNvGraphicFramePr>
          <p:nvPr/>
        </p:nvGraphicFramePr>
        <p:xfrm>
          <a:off x="728133" y="4054472"/>
          <a:ext cx="10044642" cy="248412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7562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75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68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772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44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9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/>
                        <a:t>파일 이름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/>
                        <a:t>파일 간단 내용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/>
                        <a:t>저장 위치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/>
                        <a:t>사용 </a:t>
                      </a:r>
                      <a:r>
                        <a:rPr lang="en-US" altLang="ko-KR" sz="900"/>
                        <a:t>SW</a:t>
                      </a:r>
                    </a:p>
                    <a:p>
                      <a:pPr algn="ctr">
                        <a:defRPr/>
                      </a:pPr>
                      <a:r>
                        <a:rPr lang="en-US" altLang="ko-KR" sz="900"/>
                        <a:t>(R:Read, W:Write)</a:t>
                      </a:r>
                      <a:endParaRPr lang="ko-KR" altLang="en-US" sz="9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 rowSpan="5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900" b="1"/>
                        <a:t>Storage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/>
                        <a:t>핸드폰 통화내용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>
                          <a:solidFill>
                            <a:schemeClr val="dk1"/>
                          </a:solidFill>
                        </a:rPr>
                        <a:t>서버</a:t>
                      </a:r>
                      <a:endParaRPr lang="ko-KR" alt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900"/>
                        <a:t>주문 통화 내용</a:t>
                      </a:r>
                      <a:r>
                        <a:rPr lang="en-US" altLang="ko-KR" sz="900"/>
                        <a:t>(</a:t>
                      </a:r>
                      <a:r>
                        <a:rPr lang="ko-KR" altLang="en-US" sz="900"/>
                        <a:t>핸드폰</a:t>
                      </a:r>
                      <a:r>
                        <a:rPr lang="en-US" altLang="ko-KR" sz="900"/>
                        <a:t>, </a:t>
                      </a:r>
                      <a:r>
                        <a:rPr lang="ko-KR" altLang="en-US" sz="900"/>
                        <a:t>가게전화</a:t>
                      </a:r>
                      <a:r>
                        <a:rPr lang="en-US" altLang="ko-KR" sz="900"/>
                        <a:t>, </a:t>
                      </a:r>
                      <a:r>
                        <a:rPr lang="ko-KR" altLang="en-US" sz="900"/>
                        <a:t>가게 음성</a:t>
                      </a:r>
                      <a:r>
                        <a:rPr lang="en-US" altLang="ko-KR" sz="900"/>
                        <a:t>)</a:t>
                      </a:r>
                      <a:endParaRPr lang="ko-KR" alt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ggotAIhp(R,W)</a:t>
                      </a:r>
                    </a:p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ggotAIorder(R)</a:t>
                      </a:r>
                    </a:p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ggotAIya(R)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680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/>
                        <a:t>핸드폰 통화내용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/>
                        <a:t>핸드폰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900"/>
                        <a:t>-</a:t>
                      </a:r>
                      <a:r>
                        <a:rPr lang="ko-KR" altLang="en-US" sz="900"/>
                        <a:t>핸드폰 주문 통화 내용</a:t>
                      </a:r>
                      <a:r>
                        <a:rPr lang="en-US" altLang="ko-KR" sz="900"/>
                        <a:t>(</a:t>
                      </a:r>
                      <a:r>
                        <a:rPr lang="ko-KR" altLang="en-US" sz="900"/>
                        <a:t>핸드폰에 저장</a:t>
                      </a:r>
                      <a:r>
                        <a:rPr lang="en-US" altLang="ko-KR" sz="900"/>
                        <a:t>)</a:t>
                      </a:r>
                    </a:p>
                    <a:p>
                      <a:pPr algn="l">
                        <a:defRPr/>
                      </a:pPr>
                      <a:r>
                        <a:rPr lang="en-US" altLang="ko-KR" sz="900"/>
                        <a:t>-</a:t>
                      </a:r>
                      <a:r>
                        <a:rPr lang="ko-KR" altLang="en-US" sz="900"/>
                        <a:t>별도로 저장하지 않고 안드로이드 폰이 자동 저장함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ggotAIhp(R,W)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/>
                        <a:t>가게 전화 통화내용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/>
                        <a:t>서버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900"/>
                        <a:t>가게 전화의 주문 통화 내용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ggotAIorder(R,W)</a:t>
                      </a:r>
                    </a:p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ggotAIya(R)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/>
                        <a:t>가게 주문 음성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/>
                        <a:t>서버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900"/>
                        <a:t>가게의 음성 주문 내역</a:t>
                      </a:r>
                      <a:r>
                        <a:rPr lang="en-US" altLang="ko-KR" sz="900"/>
                        <a:t>(</a:t>
                      </a:r>
                      <a:r>
                        <a:rPr lang="ko-KR" altLang="en-US" sz="900"/>
                        <a:t>서버</a:t>
                      </a:r>
                      <a:r>
                        <a:rPr lang="en-US" altLang="ko-KR" sz="90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ggotAIhp(R.W)</a:t>
                      </a:r>
                    </a:p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ggotAIorder(R)</a:t>
                      </a:r>
                    </a:p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ggotAIya(R)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/>
                        <a:t>가게 주문 음성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/>
                        <a:t>핸드폰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900"/>
                        <a:t>가게의 음성 주문 내역</a:t>
                      </a:r>
                      <a:r>
                        <a:rPr lang="en-US" altLang="ko-KR" sz="900"/>
                        <a:t>_</a:t>
                      </a:r>
                      <a:r>
                        <a:rPr lang="ko-KR" altLang="en-US" sz="900"/>
                        <a:t>핸드폰에 저장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ggotAIhp(R,W)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60985" y="196419"/>
            <a:ext cx="2131417" cy="3693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b="1"/>
              <a:t>4. DataBase Table</a:t>
            </a:r>
            <a:endParaRPr lang="en-US" altLang="ko-KR" b="1"/>
          </a:p>
        </p:txBody>
      </p:sp>
      <p:sp>
        <p:nvSpPr>
          <p:cNvPr id="2" name="직사각형 1"/>
          <p:cNvSpPr/>
          <p:nvPr/>
        </p:nvSpPr>
        <p:spPr>
          <a:xfrm>
            <a:off x="400050" y="626983"/>
            <a:ext cx="11363325" cy="296203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900"/>
              <a:t>CREATE TABLE server_call_history (  </a:t>
            </a:r>
            <a:r>
              <a:rPr lang="en-US" altLang="ko-KR" sz="900"/>
              <a:t>--</a:t>
            </a:r>
            <a:r>
              <a:rPr lang="ko-KR" altLang="en-US" sz="900" b="1">
                <a:solidFill>
                  <a:srgbClr val="ff0000"/>
                </a:solidFill>
              </a:rPr>
              <a:t> 기존 </a:t>
            </a:r>
            <a:r>
              <a:rPr lang="en-US" altLang="ko-KR" sz="900" b="1">
                <a:solidFill>
                  <a:srgbClr val="ff0000"/>
                </a:solidFill>
              </a:rPr>
              <a:t>Supabase</a:t>
            </a:r>
            <a:r>
              <a:rPr lang="ko-KR" altLang="en-US" sz="900" b="1">
                <a:solidFill>
                  <a:srgbClr val="ff0000"/>
                </a:solidFill>
              </a:rPr>
              <a:t>의 </a:t>
            </a:r>
            <a:r>
              <a:rPr lang="en-US" altLang="ko-KR" sz="900" b="1">
                <a:solidFill>
                  <a:srgbClr val="ff0000"/>
                </a:solidFill>
              </a:rPr>
              <a:t>Server_call_history Table </a:t>
            </a:r>
            <a:r>
              <a:rPr lang="ko-KR" altLang="en-US" sz="900" b="1">
                <a:solidFill>
                  <a:srgbClr val="ff0000"/>
                </a:solidFill>
              </a:rPr>
              <a:t>수정해야 됨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id SERIAL PRIMARY KEY,                         -- 고유 ID (자동 증가) 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channel_order VARCHAR(20) DEFAULT '기타',      -- 주문 수집 채널 ('핸드폰', '가게전화', '쇼핑몰', '인터라넷', '가게음성', '기타') 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channel_classification VARCHAR(255) NOT NULL, -- 채널별 상세 정보 (전화번호, 쇼핑몰 주소, 인트라넷 주소 등) 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shop_key INT NOT NULL,                         -- 꽃가게 고유 KEY (member_info 테이블의 id와 매핑) 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shop_name VARCHAR(50) NOT NULL,                -- 꽃가게 이름 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customer_phone_number VARCHAR(20) DEFAULT ' ',  -- 전화를 건 '고객'의 전화번호 (쇼핑몰/인터라넷은 공백 문자) 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customer_name VARCHAR(50) DEFAULT '신규',       -- 고객명 (전화번호부 연동명, 없을 시 '신규' / 쇼핑몰/인터라넷은 공백 문자) 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call_date DATE NOT NULL,                       -- 통화/수집 날짜 (YYYY-MM-DD) 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call_time TIME NOT NULL,                       -- 통화/수집 시간 (HH:mm:ss) 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duration_seconds INT DEFAULT 0,                -- 통화 시간(초 단위, 텍스트 채널은 0) 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audio_file_name VARCHAR(255) DEFAULT NULL,     -- 서버 스토리지에 저장된 음성 파일명 (텍스트 채널은 NULL) 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-- 성능 최적화를 위해 파일명 대신 텍스트 원본을 DB에 직접 저장하도록 수정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stt_text TEXT DEFAULT NULL,                    -- Whisper가 변환한 비정형 주문 텍스트 원본 (쇼핑몰/인터라넷은 스크래핑 원문) 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is_order CHAR(1) DEFAULT 'N',                  -- </a:t>
            </a:r>
            <a:r>
              <a:rPr lang="en-US" altLang="ko-KR" sz="900"/>
              <a:t>Gemini</a:t>
            </a:r>
            <a:r>
              <a:rPr lang="ko-KR" altLang="en-US" sz="900"/>
              <a:t>(LLM)가 판별한 최종 주문 여부 ('Y' 또는 'N') 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created_at TIMESTAMP DEFAULT NOW(),            -- 데이터 생성 일시 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FOREIGN KEY (shop_key) REFERENCES member_info(id) ON DELETE CASCADE -- 회원 정보와 유기적 연동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); </a:t>
            </a:r>
            <a:endParaRPr lang="ko-KR" altLang="en-US" sz="900" b="1">
              <a:solidFill>
                <a:srgbClr val="ff0000"/>
              </a:solidFill>
            </a:endParaRPr>
          </a:p>
        </p:txBody>
      </p:sp>
      <p:sp>
        <p:nvSpPr>
          <p:cNvPr id="7" name="직사각형 1"/>
          <p:cNvSpPr/>
          <p:nvPr/>
        </p:nvSpPr>
        <p:spPr>
          <a:xfrm>
            <a:off x="400048" y="3703557"/>
            <a:ext cx="11363326" cy="310491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900"/>
              <a:t>CREATE TABLE order_details (</a:t>
            </a:r>
            <a:r>
              <a:rPr lang="ko-KR" altLang="en-US" sz="900"/>
              <a:t> </a:t>
            </a:r>
            <a:r>
              <a:rPr lang="en-US" altLang="ko-KR" sz="900"/>
              <a:t> --</a:t>
            </a:r>
            <a:r>
              <a:rPr lang="ko-KR" altLang="en-US" sz="900" b="1">
                <a:solidFill>
                  <a:srgbClr val="ff0000"/>
                </a:solidFill>
              </a:rPr>
              <a:t> 신규 생성해야 함</a:t>
            </a:r>
            <a:endParaRPr lang="ko-KR" altLang="en-US" sz="900"/>
          </a:p>
          <a:p>
            <a:pPr lvl="0">
              <a:defRPr/>
            </a:pPr>
            <a:r>
              <a:rPr lang="en-US" altLang="ko-KR" sz="900"/>
              <a:t>    id SERIAL PRIMARY KEY,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call_history_id INT NOT NULL,                  -- 어떤 통화/채널에서 온 주문인지 매핑 (외래키)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shop_key INT NOT NULL,                         -- 꽃가게 고유 KEY [cite: 852]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shop_name VARCHAR(50) NOT NULL,                -- 꽃가게 이름 [cite: 854]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customer_name VARCHAR(50) DEFAULT '신규',       -- 고객명 [cite: 854]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customer_phone_number VARCHAR(20) NOT NULL,    -- 고객전화번호 [cite: 855]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product_name VARCHAR(150) NOT NULL,            -- 상품명 [cite: 856]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quantity INT DEFAULT 1,                        -- 수량 [cite: 857]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price INT DEFAULT 0,                           -- 가격 [cite: 858]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delivery_at TIMESTAMP NOT NULL,                -- 배달일시 [cite: 859]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delivery_place VARCHAR(255) NOT NULL,          -- 배달장소 [cite: 860]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receiver_name VARCHAR(50) NOT NULL,            -- 받는사람 이름 [cite: 861]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receiver_phone_number VARCHAR(20) NOT NULL,    -- 받는사람 전화번호 [cite: 862]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ribbon_sender TEXT,                            -- 리본문구_보내는사람 [cite: 863]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ribbon_congratulations TEXT,                   -- 리본문구 경조사어 [cite: 864]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card_message TEXT,                             -- 카드메세지 [cite: 865]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rpa_status VARCHAR(20) DEFAULT 'ready',        -- RPA 처리 상태 ('ready', 'success', 'fail')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created_at TIMESTAMP DEFAULT NOW(),            -- [cite: 866]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FOREIGN KEY (call_history_id) REFERENCES server_call_history(id) ON DELETE CASCADE</a:t>
            </a:r>
            <a:endParaRPr lang="en-US" altLang="ko-KR" sz="900"/>
          </a:p>
          <a:p>
            <a:pPr>
              <a:defRPr/>
            </a:pPr>
            <a:r>
              <a:rPr lang="en-US" altLang="ko-KR" sz="900"/>
              <a:t>);</a:t>
            </a:r>
            <a:endParaRPr lang="ko-KR" altLang="en-US" sz="900" b="1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1"/>
          <p:cNvSpPr/>
          <p:nvPr/>
        </p:nvSpPr>
        <p:spPr>
          <a:xfrm>
            <a:off x="414336" y="4619881"/>
            <a:ext cx="11363326" cy="200761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900"/>
              <a:t>CREATE TABLE member_info (</a:t>
            </a:r>
            <a:r>
              <a:rPr lang="ko-KR" altLang="en-US" sz="900"/>
              <a:t> </a:t>
            </a:r>
            <a:r>
              <a:rPr lang="en-US" altLang="ko-KR" sz="900"/>
              <a:t>--</a:t>
            </a:r>
            <a:r>
              <a:rPr lang="ko-KR" altLang="en-US" sz="900" b="1">
                <a:solidFill>
                  <a:srgbClr val="ff0000"/>
                </a:solidFill>
              </a:rPr>
              <a:t> 기존 </a:t>
            </a:r>
            <a:r>
              <a:rPr lang="en-US" altLang="ko-KR" sz="900" b="1">
                <a:solidFill>
                  <a:srgbClr val="ff0000"/>
                </a:solidFill>
              </a:rPr>
              <a:t>Supabase</a:t>
            </a:r>
            <a:r>
              <a:rPr lang="ko-KR" altLang="en-US" sz="900" b="1">
                <a:solidFill>
                  <a:srgbClr val="ff0000"/>
                </a:solidFill>
              </a:rPr>
              <a:t>의 </a:t>
            </a:r>
            <a:r>
              <a:rPr lang="en-US" altLang="ko-KR" sz="900" b="1">
                <a:solidFill>
                  <a:srgbClr val="ff0000"/>
                </a:solidFill>
              </a:rPr>
              <a:t>member_info Table </a:t>
            </a:r>
            <a:r>
              <a:rPr lang="ko-KR" altLang="en-US" sz="900" b="1">
                <a:solidFill>
                  <a:srgbClr val="ff0000"/>
                </a:solidFill>
              </a:rPr>
              <a:t>수정해야 됨</a:t>
            </a:r>
            <a:endParaRPr lang="ko-KR" altLang="en-US" sz="900"/>
          </a:p>
          <a:p>
            <a:pPr lvl="0">
              <a:defRPr/>
            </a:pPr>
            <a:r>
              <a:rPr lang="en-US" altLang="ko-KR" sz="900"/>
              <a:t>    id SERIAL PRIMARY KEY,                         -- 고유 KEY값 (이 값이 다른 테이블의 shop_key가 됨) 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username VARCHAR(50) NOT NULL UNIQUE,          -- 아이디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password VARCHAR(255) NOT NULL,                -- 비밀번호 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shop_name VARCHAR(50) NOT NULL,                -- 꽃집이름 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representative_name VARCHAR(50) NOT NULL,      -- 대표자 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landline_number VARCHAR(20) DEFAULT NULL,      -- 가게전화 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mobile_number VARCHAR(20) NOT NULL,            -- 대표 핸드폰 번호 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email VARCHAR(100) DEFAULT NULL,               -- 이메일 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address VARCHAR(255) DEFAULT NULL,             -- 주소 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address_detail VARCHAR(50) DEFAULT NULL,       -- 상세주소 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is_approved CHAR(1) DEFAULT 'N',               -- 회원가입 승인 여부 ('Y' 또는 'N')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created_at TIMESTAMP DEFAULT NOW()             -- </a:t>
            </a:r>
            <a:endParaRPr lang="en-US" altLang="ko-KR" sz="900"/>
          </a:p>
          <a:p>
            <a:pPr>
              <a:defRPr/>
            </a:pPr>
            <a:r>
              <a:rPr lang="en-US" altLang="ko-KR" sz="900"/>
              <a:t>); </a:t>
            </a:r>
            <a:endParaRPr lang="ko-KR" altLang="en-US" sz="900" b="1">
              <a:solidFill>
                <a:srgbClr val="ff0000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408517" y="440715"/>
            <a:ext cx="11363325" cy="40722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900"/>
              <a:t>CREATE TABLE setting_info (</a:t>
            </a:r>
            <a:r>
              <a:rPr lang="ko-KR" altLang="en-US" sz="900"/>
              <a:t> </a:t>
            </a:r>
            <a:r>
              <a:rPr lang="en-US" altLang="ko-KR" sz="900"/>
              <a:t> --</a:t>
            </a:r>
            <a:r>
              <a:rPr lang="ko-KR" altLang="en-US" sz="900" b="1">
                <a:solidFill>
                  <a:srgbClr val="ff0000"/>
                </a:solidFill>
              </a:rPr>
              <a:t> 신규 생성해야 함</a:t>
            </a:r>
            <a:endParaRPr lang="ko-KR" altLang="en-US" sz="900"/>
          </a:p>
          <a:p>
            <a:pPr lvl="0">
              <a:defRPr/>
            </a:pPr>
            <a:r>
              <a:rPr lang="en-US" altLang="ko-KR" sz="900"/>
              <a:t>    id SERIAL PRIMARY KEY,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shop_key INT NOT NULL UNIQUE,                        -- 꽃가게 고유 KEY (회원정보와 1:1 매핑)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-- [알림 시스템 필드 설정]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use_notification CHAR(1) DEFAULT 'Y',                -- 알림톡/문자 발송 여부 ('Y' 또는 'N')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notification_phone_number VARCHAR(20) DEFAULT NULL,  -- ★ 알림을 수신할 사장님 핸드폰 번호 (국번 포함)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rpa_success_message TEXT DEFAULT '{channel} 주문 {count}건 꽃가게 관리 프로그램에 입력 완료했습니다.', -- 성공 보고 문구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rpa_fail_message TEXT DEFAULT '[ggotAI 경고] {channel} 주문 자동 입력 실패! 수동 확인 바랍니다.',       -- 실패 경고 문구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-- [기기 및 채널 설정]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order_hp_1 VARCHAR(20) NOT NULL,                     -- 주문핸드폰1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order_hp_2 VARCHAR(20) DEFAULT NULL,                 -- 주문핸드폰2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order_landline_1 VARCHAR(20) DEFAULT NULL,           -- 주문일반전화1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order_landline_2 VARCHAR(20) DEFAULT NULL,           -- 주문일반전화2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-- [외부 연동 설정]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shopping_mall_url VARCHAR(255) DEFAULT NULL,         -- 쇼핑몰 관리자주소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shopping_mall_id VARCHAR(50) DEFAULT NULL,           -- 쇼핑몰 아이디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shopping_mall_password VARCHAR(255) DEFAULT NULL,    -- 쇼핑몰 패스워드 (암호화 저장)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intranet_url VARCHAR(255) DEFAULT NULL,              -- 인트라넷주소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intranet_id VARCHAR(50) DEFAULT NULL,                -- 인트라넷 아이디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intranet_password VARCHAR(255) DEFAULT NULL,         -- 인트라넷 패스워드 (암호화 저장)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shopping_mall_check_interval INT DEFAULT 10; -- </a:t>
            </a:r>
            <a:r>
              <a:rPr lang="ko-KR" altLang="en-US" sz="900"/>
              <a:t>쇼핑몰 확인 간격 </a:t>
            </a:r>
            <a:r>
              <a:rPr lang="en-US" altLang="ko-KR" sz="900"/>
              <a:t>(</a:t>
            </a:r>
            <a:r>
              <a:rPr lang="ko-KR" altLang="en-US" sz="900"/>
              <a:t>분 단위</a:t>
            </a:r>
            <a:r>
              <a:rPr lang="en-US" altLang="ko-KR" sz="900"/>
              <a:t>) [cite: 3559]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intranet_check_interval INT DEFAULT 30;      -- </a:t>
            </a:r>
            <a:r>
              <a:rPr lang="ko-KR" altLang="en-US" sz="900"/>
              <a:t>인트라넷 확인 간격 </a:t>
            </a:r>
            <a:r>
              <a:rPr lang="en-US" altLang="ko-KR" sz="900"/>
              <a:t>(</a:t>
            </a:r>
            <a:r>
              <a:rPr lang="ko-KR" altLang="en-US" sz="900"/>
              <a:t>분 단위</a:t>
            </a:r>
            <a:r>
              <a:rPr lang="en-US" altLang="ko-KR" sz="900"/>
              <a:t>) [cite: 3561]</a:t>
            </a:r>
            <a:endParaRPr lang="en-US" altLang="ko-KR" sz="900"/>
          </a:p>
          <a:p>
            <a:pPr lvl="0">
              <a:defRPr/>
            </a:pPr>
            <a:endParaRPr lang="en-US" altLang="ko-KR" sz="900"/>
          </a:p>
          <a:p>
            <a:pPr lvl="0">
              <a:defRPr/>
            </a:pPr>
            <a:r>
              <a:rPr lang="en-US" altLang="ko-KR" sz="900"/>
              <a:t>    created_at TIMESTAMP DEFAULT NOW()</a:t>
            </a:r>
            <a:endParaRPr lang="en-US" altLang="ko-KR" sz="900"/>
          </a:p>
          <a:p>
            <a:pPr>
              <a:defRPr/>
            </a:pPr>
            <a:r>
              <a:rPr lang="en-US" altLang="ko-KR" sz="900"/>
              <a:t>); </a:t>
            </a:r>
            <a:endParaRPr lang="ko-KR" altLang="en-US" sz="900" b="1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2426327"/>
            <a:ext cx="1219200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6000" b="1">
                <a:latin typeface="맑은 고딕"/>
                <a:ea typeface="맑은 고딕"/>
              </a:rPr>
              <a:t>Ⅱ. </a:t>
            </a:r>
            <a:r>
              <a:rPr lang="en-US" altLang="ko-KR" sz="6000" b="1"/>
              <a:t>ggotAIorder</a:t>
            </a:r>
          </a:p>
          <a:p>
            <a:pPr lvl="0" algn="ctr">
              <a:defRPr/>
            </a:pPr>
            <a:r>
              <a:rPr lang="en-US" altLang="ko-KR"/>
              <a:t>(B.</a:t>
            </a:r>
            <a:r>
              <a:rPr lang="ko-KR" altLang="en-US"/>
              <a:t>실시간 주문 수집 및 입력</a:t>
            </a:r>
            <a:r>
              <a:rPr lang="en-US" altLang="ko-KR"/>
              <a:t>(PC </a:t>
            </a:r>
            <a:r>
              <a:rPr lang="ko-KR" altLang="en-US"/>
              <a:t>백그라운드 서비스</a:t>
            </a:r>
            <a:r>
              <a:rPr lang="en-US" altLang="ko-KR"/>
              <a:t>))</a:t>
            </a:r>
            <a:endParaRPr lang="ko-KR" altLang="en-US" b="1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2" name="직선 연결선 121"/>
          <p:cNvCxnSpPr/>
          <p:nvPr/>
        </p:nvCxnSpPr>
        <p:spPr>
          <a:xfrm flipH="1" flipV="1">
            <a:off x="13629633" y="2047246"/>
            <a:ext cx="1" cy="2887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/>
          <p:cNvCxnSpPr/>
          <p:nvPr/>
        </p:nvCxnSpPr>
        <p:spPr>
          <a:xfrm flipH="1" flipV="1">
            <a:off x="15448908" y="2046707"/>
            <a:ext cx="1" cy="2887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4"/>
          <p:cNvSpPr txBox="1"/>
          <p:nvPr/>
        </p:nvSpPr>
        <p:spPr>
          <a:xfrm>
            <a:off x="478699" y="726794"/>
            <a:ext cx="7498352" cy="149271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000"/>
              <a:t>(1) </a:t>
            </a:r>
            <a:r>
              <a:rPr lang="ko-KR" altLang="en-US" sz="1000"/>
              <a:t>실행</a:t>
            </a:r>
            <a:endParaRPr lang="ko-KR" altLang="en-US" sz="1000"/>
          </a:p>
          <a:p>
            <a:pPr lvl="0">
              <a:defRPr/>
            </a:pPr>
            <a:r>
              <a:rPr lang="ko-KR" altLang="ko-KR" sz="1100">
                <a:latin typeface="Arial Unicode MS"/>
              </a:rPr>
              <a:t>ggotAlorder</a:t>
            </a:r>
            <a:r>
              <a:rPr lang="ko-KR" altLang="ko-KR" sz="1000"/>
              <a:t>는 윈도우 OS가 켜질 때 자동으로 시작되는 독립적인 '윈도우 백그라운드 서비스' </a:t>
            </a:r>
            <a:endParaRPr lang="ko-KR" altLang="ko-KR" sz="1000"/>
          </a:p>
          <a:p>
            <a:pPr lvl="0">
              <a:defRPr/>
            </a:pPr>
            <a:endParaRPr lang="en-US" altLang="ko-KR" sz="1000"/>
          </a:p>
          <a:p>
            <a:pPr>
              <a:defRPr/>
            </a:pPr>
            <a:r>
              <a:rPr lang="en-US" altLang="ko-KR" sz="1000"/>
              <a:t>(2) </a:t>
            </a:r>
            <a:r>
              <a:rPr lang="ko-KR" altLang="en-US" sz="1000"/>
              <a:t>작동중임을 확인하는 아이콘</a:t>
            </a:r>
            <a:endParaRPr lang="ko-KR" altLang="en-US" sz="1000"/>
          </a:p>
          <a:p>
            <a:pPr>
              <a:defRPr/>
            </a:pPr>
            <a:r>
              <a:rPr lang="en-US" altLang="ko-KR" sz="1000"/>
              <a:t>- ‘ggotAIorder’ </a:t>
            </a:r>
            <a:r>
              <a:rPr lang="ko-KR" altLang="en-US" sz="1000"/>
              <a:t>실행 ➔ 윈도우 시계 옆</a:t>
            </a:r>
            <a:r>
              <a:rPr lang="en-US" altLang="ko-KR" sz="1000"/>
              <a:t>(</a:t>
            </a:r>
            <a:r>
              <a:rPr lang="ko-KR" altLang="en-US" sz="1000"/>
              <a:t>트레이</a:t>
            </a:r>
            <a:r>
              <a:rPr lang="en-US" altLang="ko-KR" sz="1000"/>
              <a:t>)</a:t>
            </a:r>
            <a:r>
              <a:rPr lang="ko-KR" altLang="en-US" sz="1000"/>
              <a:t>에 가벼운 </a:t>
            </a:r>
            <a:r>
              <a:rPr lang="en-US" altLang="ko-KR" sz="1000"/>
              <a:t>'ggotAI </a:t>
            </a:r>
            <a:r>
              <a:rPr lang="ko-KR" altLang="en-US" sz="1000"/>
              <a:t>아이콘</a:t>
            </a:r>
            <a:r>
              <a:rPr lang="en-US" altLang="ko-KR" sz="1000"/>
              <a:t>' </a:t>
            </a:r>
            <a:r>
              <a:rPr lang="ko-KR" altLang="en-US" sz="1000"/>
              <a:t>상주 </a:t>
            </a:r>
            <a:r>
              <a:rPr lang="en-US" altLang="ko-KR" sz="1000"/>
              <a:t>(</a:t>
            </a:r>
            <a:r>
              <a:rPr lang="ko-KR" altLang="en-US" sz="1000"/>
              <a:t>작동 중임을 알리는 용도</a:t>
            </a:r>
            <a:r>
              <a:rPr lang="en-US" altLang="ko-KR" sz="1000"/>
              <a:t>) </a:t>
            </a:r>
            <a:endParaRPr lang="en-US" altLang="ko-KR" sz="1000"/>
          </a:p>
          <a:p>
            <a:pPr>
              <a:defRPr/>
            </a:pPr>
            <a:r>
              <a:rPr lang="en-US" altLang="ko-KR" sz="1000"/>
              <a:t>- </a:t>
            </a:r>
            <a:r>
              <a:rPr lang="ko-KR" altLang="en-US" sz="1000"/>
              <a:t>사장님이 그 아이콘을 </a:t>
            </a:r>
            <a:r>
              <a:rPr lang="en-US" altLang="ko-KR" sz="1000"/>
              <a:t>[</a:t>
            </a:r>
            <a:r>
              <a:rPr lang="ko-KR" altLang="en-US" sz="1000"/>
              <a:t>더블 클릭</a:t>
            </a:r>
            <a:r>
              <a:rPr lang="en-US" altLang="ko-KR" sz="1000"/>
              <a:t>] </a:t>
            </a:r>
            <a:r>
              <a:rPr lang="ko-KR" altLang="en-US" sz="1000"/>
              <a:t>하면</a:t>
            </a:r>
            <a:r>
              <a:rPr lang="en-US" altLang="ko-KR" sz="1000"/>
              <a:t>, '</a:t>
            </a:r>
            <a:r>
              <a:rPr lang="en-US" altLang="ko-KR" sz="1000" b="1"/>
              <a:t>ggotAIya’ </a:t>
            </a:r>
            <a:r>
              <a:rPr lang="ko-KR" altLang="en-US" sz="1000" b="1"/>
              <a:t>를</a:t>
            </a:r>
            <a:r>
              <a:rPr lang="ko-KR" altLang="en-US" sz="1000"/>
              <a:t> 자동으로 가동하면서 </a:t>
            </a:r>
            <a:r>
              <a:rPr lang="en-US" altLang="ko-KR" sz="1000"/>
              <a:t>'</a:t>
            </a:r>
            <a:r>
              <a:rPr lang="ko-KR" altLang="en-US" sz="1000"/>
              <a:t>상황판 탭</a:t>
            </a:r>
            <a:r>
              <a:rPr lang="en-US" altLang="ko-KR" sz="1000"/>
              <a:t>'</a:t>
            </a:r>
            <a:r>
              <a:rPr lang="ko-KR" altLang="en-US" sz="1000"/>
              <a:t>을 바로 열어줌</a:t>
            </a:r>
            <a:r>
              <a:rPr lang="en-US" altLang="ko-KR" sz="1000"/>
              <a:t>.</a:t>
            </a:r>
            <a:endParaRPr lang="en-US" altLang="ko-KR" sz="1000"/>
          </a:p>
          <a:p>
            <a:pPr>
              <a:defRPr/>
            </a:pPr>
            <a:endParaRPr lang="en-US" altLang="ko-KR" sz="1000"/>
          </a:p>
          <a:p>
            <a:pPr>
              <a:defRPr/>
            </a:pPr>
            <a:r>
              <a:rPr lang="en-US" altLang="ko-KR" sz="1000"/>
              <a:t>(3)</a:t>
            </a:r>
            <a:r>
              <a:rPr lang="ko-KR" altLang="en-US" sz="1000"/>
              <a:t> </a:t>
            </a:r>
            <a:r>
              <a:rPr lang="en-US" altLang="ko-KR" sz="1000"/>
              <a:t>‘</a:t>
            </a:r>
            <a:r>
              <a:rPr lang="ko-KR" altLang="en-US" sz="1000"/>
              <a:t>주문수집중단</a:t>
            </a:r>
            <a:r>
              <a:rPr lang="en-US" altLang="ko-KR" sz="1000"/>
              <a:t>’</a:t>
            </a:r>
            <a:r>
              <a:rPr lang="ko-KR" altLang="en-US" sz="1000"/>
              <a:t> 및 </a:t>
            </a:r>
            <a:r>
              <a:rPr lang="en-US" altLang="ko-KR" sz="1000"/>
              <a:t>‘</a:t>
            </a:r>
            <a:r>
              <a:rPr lang="ko-KR" altLang="en-US" sz="1000"/>
              <a:t>주문수집시작</a:t>
            </a:r>
            <a:r>
              <a:rPr lang="en-US" altLang="ko-KR" sz="1000"/>
              <a:t>’</a:t>
            </a:r>
            <a:r>
              <a:rPr lang="ko-KR" altLang="en-US" sz="1000"/>
              <a:t>은 </a:t>
            </a:r>
            <a:r>
              <a:rPr lang="en-US" altLang="ko-KR" sz="1000"/>
              <a:t>“C. </a:t>
            </a:r>
            <a:r>
              <a:rPr lang="ko-KR" altLang="en-US" sz="1000"/>
              <a:t>관리용 </a:t>
            </a:r>
            <a:r>
              <a:rPr lang="en-US" altLang="ko-KR" sz="1000"/>
              <a:t>UI </a:t>
            </a:r>
            <a:r>
              <a:rPr lang="ko-KR" altLang="en-US" sz="1000"/>
              <a:t>애플리케이션</a:t>
            </a:r>
            <a:r>
              <a:rPr lang="en-US" altLang="ko-KR" sz="1000"/>
              <a:t>(PC </a:t>
            </a:r>
            <a:r>
              <a:rPr lang="ko-KR" altLang="en-US" sz="1000"/>
              <a:t>포그라운드 액티비티</a:t>
            </a:r>
            <a:r>
              <a:rPr lang="en-US" altLang="ko-KR" sz="1000"/>
              <a:t>) ggotAIya”</a:t>
            </a:r>
            <a:r>
              <a:rPr lang="ko-KR" altLang="en-US" sz="1000"/>
              <a:t>의 상환판에서 제어함</a:t>
            </a:r>
            <a:r>
              <a:rPr lang="en-US" altLang="ko-KR" sz="1000"/>
              <a:t>.</a:t>
            </a:r>
            <a:endParaRPr lang="en-US" altLang="ko-KR" sz="1000"/>
          </a:p>
          <a:p>
            <a:pPr>
              <a:defRPr/>
            </a:pPr>
            <a:r>
              <a:rPr lang="ko-KR" altLang="en-US" sz="1000"/>
              <a:t>기본적으로는 </a:t>
            </a:r>
            <a:r>
              <a:rPr lang="ko-KR" altLang="ko-KR" sz="1000">
                <a:latin typeface="Arial Unicode MS"/>
              </a:rPr>
              <a:t>ggotAlorder</a:t>
            </a:r>
            <a:r>
              <a:rPr lang="ko-KR" altLang="en-US" sz="1000">
                <a:latin typeface="Arial Unicode MS"/>
              </a:rPr>
              <a:t>가 실행되면 주문수집가능 상태로 됨</a:t>
            </a:r>
            <a:endParaRPr lang="en-US" altLang="ko-KR" sz="1000"/>
          </a:p>
        </p:txBody>
      </p:sp>
      <p:sp>
        <p:nvSpPr>
          <p:cNvPr id="10" name="TextBox 9"/>
          <p:cNvSpPr txBox="1"/>
          <p:nvPr/>
        </p:nvSpPr>
        <p:spPr>
          <a:xfrm>
            <a:off x="260985" y="196419"/>
            <a:ext cx="4569328" cy="3693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b="1"/>
              <a:t>1. ggotAIorder</a:t>
            </a:r>
            <a:r>
              <a:rPr lang="en-US" altLang="ko-KR" sz="900"/>
              <a:t>(B.</a:t>
            </a:r>
            <a:r>
              <a:rPr lang="ko-KR" altLang="en-US" sz="900"/>
              <a:t>실시간 주문 수집 및 입력</a:t>
            </a:r>
            <a:r>
              <a:rPr lang="en-US" altLang="ko-KR" sz="900"/>
              <a:t>(PC </a:t>
            </a:r>
            <a:r>
              <a:rPr lang="ko-KR" altLang="en-US" sz="900"/>
              <a:t>백그라운드 서비스</a:t>
            </a:r>
            <a:r>
              <a:rPr lang="en-US" altLang="ko-KR" sz="900"/>
              <a:t>))</a:t>
            </a:r>
            <a:endParaRPr lang="en-US" altLang="ko-KR" b="1"/>
          </a:p>
        </p:txBody>
      </p:sp>
      <p:sp>
        <p:nvSpPr>
          <p:cNvPr id="2" name="직사각형 1"/>
          <p:cNvSpPr/>
          <p:nvPr/>
        </p:nvSpPr>
        <p:spPr>
          <a:xfrm>
            <a:off x="469077" y="2312071"/>
            <a:ext cx="10648950" cy="3416320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900"/>
              <a:t>아래 지시사항과 첨부된 ggotAIorder 설계 문서를 바탕으로, Python 기반의 PC 백그라운드 주문 수집 서비스인 'ggotAIorder'의 전체 코어 엔진 아키텍처와 패키지 구조를 설계하고 핵심 코드를 작성해줘.</a:t>
            </a:r>
            <a:endParaRPr lang="ko-KR" altLang="en-US" sz="900"/>
          </a:p>
          <a:p>
            <a:pPr lvl="0">
              <a:defRPr/>
            </a:pPr>
            <a:endParaRPr lang="ko-KR" altLang="en-US" sz="900"/>
          </a:p>
          <a:p>
            <a:pPr lvl="0">
              <a:defRPr/>
            </a:pPr>
            <a:r>
              <a:rPr lang="ko-KR" altLang="en-US" sz="900"/>
              <a:t>1. 프로세스 생명주기 및 윈도우 서비스 (7~8페이지):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- 본 프로그램은 Windows Service 형태로 백그라운드에서 독립 구동되며, 윈도우 트레이 아이콘으로 상주해. 자체 종료는 없고 포그라운드 UI(ggotAlya)의 명령(net stop ggotAIorder)으로 제어되는 구조의 뼈대를 만들어줘. 트레이 아이콘 더블클릭 시 ggotAlya를 가동하는 통신 핸들러를 포함해줘.</a:t>
            </a:r>
            <a:endParaRPr lang="ko-KR" altLang="en-US" sz="900"/>
          </a:p>
          <a:p>
            <a:pPr lvl="0">
              <a:defRPr/>
            </a:pPr>
            <a:endParaRPr lang="ko-KR" altLang="en-US" sz="900"/>
          </a:p>
          <a:p>
            <a:pPr lvl="0">
              <a:defRPr/>
            </a:pPr>
            <a:r>
              <a:rPr lang="ko-KR" altLang="en-US" sz="900"/>
              <a:t>2. 수신 채널별 데이터 인제스션 연동 (11~13페이지):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- [가게전화]: FastAPI 기반 엔드포인트(/api/v1/gate-phone/upload)를 열어, 통신사 서버로부터 Webhook(POST Multipart)으로 넘어오는 음성 파일과 발신자 정보를 비동기로 수신하는 코드를 작성해줘.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- [핸드폰/가게음성]: supabase-py 라이브러리를 활용해 'server_call_history' 테이블의 INSERT 이벤트를 Realtime(웹소켓)으로 24시간 감시하다가, 신규 데이터 유입 즉시 'on_new_call_received' 콜백을 구동하는 구조를 빌드해줘.</a:t>
            </a:r>
            <a:endParaRPr lang="ko-KR" altLang="en-US" sz="900"/>
          </a:p>
          <a:p>
            <a:pPr lvl="0">
              <a:defRPr/>
            </a:pPr>
            <a:endParaRPr lang="ko-KR" altLang="en-US" sz="900"/>
          </a:p>
          <a:p>
            <a:pPr lvl="0">
              <a:defRPr/>
            </a:pPr>
            <a:r>
              <a:rPr lang="ko-KR" altLang="en-US" sz="900"/>
              <a:t>3. 파이프라인 이원화 및 AI 분석 엔진 (9, 17~18페이지):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- 음성 채널 수신 시, faster-whisper 모델을 연동하여 STT를 수행하고, 추출된 비정형 텍스트를 Gemini API에 주입하여 11가지 정형화 양식(JSON)을 추출해줘. 11가지 항목 중 공백이 3개 이상이면 꽃 주문이 아닌 것으로 판단(is_order='N')하여 서버 임시 음성 파일을 삭제하고, 성공 시에는 order_details에 적재해줘.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- 텍스트 채널(쇼핑몰/인터라넷) 수신 시에는 Whisper/Gemini 단계를 완전히 패스하고 즉시 order_details에 rpa_status='ready'로 다이렉트 적재하는 분기 로직을 구현해줘.</a:t>
            </a:r>
            <a:endParaRPr lang="ko-KR" altLang="en-US" sz="900"/>
          </a:p>
          <a:p>
            <a:pPr lvl="0">
              <a:defRPr/>
            </a:pPr>
            <a:endParaRPr lang="ko-KR" altLang="en-US" sz="900"/>
          </a:p>
          <a:p>
            <a:pPr lvl="0">
              <a:defRPr/>
            </a:pPr>
            <a:r>
              <a:rPr lang="ko-KR" altLang="en-US" sz="900"/>
              <a:t>4. 인터라넷 크롤링 및 RPA 동기화 큐 (15~16, 18페이지):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- Playwright 라이브러리를 활용해 setting_info의 체크 간격 주기에 따라 headless 모드로 자동 로그인 및 목록 스크래핑을 수행하는 스케줄러 뼈대를 작성해줘.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- 다중 채널에서 동시다발적으로 유입되는 주문을 처리할 때 윈도우 제어가 꼬이지 않도록 'asyncio.Lock()'을 진입점에 걸어 순차적으로 실행되는 싱글턴 RPA 호출 큐를 구현해줘. 만약 PC 내에 꽃집 관리 프로그램 창이 활성화되어 있지 않다면 자동으로 엑셀 파일 및 인수증을 생성하여 디스크에 보존하는 예외 로직을 포함해줘.</a:t>
            </a:r>
            <a:endParaRPr lang="ko-KR" altLang="en-US" sz="900"/>
          </a:p>
          <a:p>
            <a:pPr lvl="0">
              <a:defRPr/>
            </a:pPr>
            <a:endParaRPr lang="ko-KR" altLang="en-US" sz="900"/>
          </a:p>
          <a:p>
            <a:pPr lvl="0">
              <a:defRPr/>
            </a:pPr>
            <a:r>
              <a:rPr lang="ko-KR" altLang="en-US" sz="900"/>
              <a:t>5. 결과 보고 알림톡 (6, 8페이지):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- RPA 수행 완료 후, setting_info의 'use_notification'이 'Y'이면 'notification_phone_number'로, 누락 시 member_info의 'mobile_number'로 알림 메시지를 전송해줘. 메시지 발송 시 원본 문구 내의 '{channel}'과 '{count}' 변수를 실시간 치환(Replace)하여 발송 모듈로 토스하는 파이썬 정형화 함수를 작성해줘.</a:t>
            </a:r>
            <a:endParaRPr lang="ko-KR" altLang="en-US" sz="900"/>
          </a:p>
        </p:txBody>
      </p:sp>
      <p:sp>
        <p:nvSpPr>
          <p:cNvPr id="131" name=""/>
          <p:cNvSpPr txBox="1"/>
          <p:nvPr/>
        </p:nvSpPr>
        <p:spPr>
          <a:xfrm>
            <a:off x="464846" y="5801339"/>
            <a:ext cx="6182690" cy="76900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p>
            <a:pPr>
              <a:defRPr/>
            </a:pPr>
            <a:r>
              <a:rPr lang="ko-KR" altLang="en-US" sz="900"/>
              <a:t>4개의 Table중에서 2개는 신규생성하고, 2개는 수정해야됨</a:t>
            </a:r>
            <a:endParaRPr lang="ko-KR" altLang="en-US" sz="900"/>
          </a:p>
          <a:p>
            <a:pPr>
              <a:defRPr/>
            </a:pPr>
            <a:r>
              <a:rPr lang="ko-KR" altLang="en-US" sz="900"/>
              <a:t>1. server_call_history : 기존 Supabase의 Server_call_history Table 수정해야 됨</a:t>
            </a:r>
            <a:endParaRPr lang="ko-KR" altLang="en-US" sz="900"/>
          </a:p>
          <a:p>
            <a:pPr>
              <a:defRPr/>
            </a:pPr>
            <a:r>
              <a:rPr lang="ko-KR" altLang="en-US" sz="900"/>
              <a:t>2. member_info:  기존Supabase의 member_info Table 수정해야 됨</a:t>
            </a:r>
            <a:endParaRPr lang="ko-KR" altLang="en-US" sz="900"/>
          </a:p>
          <a:p>
            <a:pPr>
              <a:defRPr/>
            </a:pPr>
            <a:r>
              <a:rPr lang="ko-KR" altLang="en-US" sz="900"/>
              <a:t>3. order_details: 신규 생성해야 함</a:t>
            </a:r>
            <a:endParaRPr lang="ko-KR" altLang="en-US" sz="900"/>
          </a:p>
          <a:p>
            <a:pPr>
              <a:defRPr/>
            </a:pPr>
            <a:r>
              <a:rPr lang="ko-KR" altLang="en-US" sz="900"/>
              <a:t>4. setting_info: 신규 생성해야 함</a:t>
            </a:r>
            <a:endParaRPr lang="ko-KR" alt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2" name="직선 연결선 121"/>
          <p:cNvCxnSpPr/>
          <p:nvPr/>
        </p:nvCxnSpPr>
        <p:spPr>
          <a:xfrm flipH="1" flipV="1">
            <a:off x="13629633" y="2047246"/>
            <a:ext cx="1" cy="2887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/>
          <p:cNvCxnSpPr/>
          <p:nvPr/>
        </p:nvCxnSpPr>
        <p:spPr>
          <a:xfrm flipH="1" flipV="1">
            <a:off x="15448908" y="2046707"/>
            <a:ext cx="1" cy="2887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689129" y="1700728"/>
            <a:ext cx="80182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900"/>
              <a:t>가게전화</a:t>
            </a:r>
          </a:p>
          <a:p>
            <a:pPr algn="ctr">
              <a:defRPr/>
            </a:pPr>
            <a:r>
              <a:rPr lang="ko-KR" altLang="en-US" sz="900"/>
              <a:t>이벤트 발생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4992" y="983486"/>
            <a:ext cx="1483098" cy="2308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900"/>
              <a:t>PC </a:t>
            </a:r>
            <a:r>
              <a:rPr lang="ko-KR" altLang="en-US" sz="900"/>
              <a:t>백그라운드 대기 상태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9803" y="4895059"/>
            <a:ext cx="2238112" cy="2308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900"/>
              <a:t>서버 디스크</a:t>
            </a:r>
            <a:r>
              <a:rPr lang="en-US" altLang="ko-KR" sz="900"/>
              <a:t>/</a:t>
            </a:r>
            <a:r>
              <a:rPr lang="ko-KR" altLang="en-US" sz="900"/>
              <a:t>스토리지에 음성 최종 저장</a:t>
            </a:r>
          </a:p>
        </p:txBody>
      </p:sp>
      <p:cxnSp>
        <p:nvCxnSpPr>
          <p:cNvPr id="18" name="직선 화살표 연결선 17"/>
          <p:cNvCxnSpPr/>
          <p:nvPr/>
        </p:nvCxnSpPr>
        <p:spPr>
          <a:xfrm flipH="1">
            <a:off x="7571729" y="1212860"/>
            <a:ext cx="1" cy="234000"/>
          </a:xfrm>
          <a:prstGeom prst="straightConnector1">
            <a:avLst/>
          </a:prstGeom>
          <a:ln>
            <a:solidFill>
              <a:schemeClr val="tx1"/>
            </a:solidFill>
            <a:headEnd w="med" len="med"/>
            <a:tailEnd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22"/>
          <p:cNvSpPr txBox="1"/>
          <p:nvPr/>
        </p:nvSpPr>
        <p:spPr>
          <a:xfrm>
            <a:off x="4872900" y="2535219"/>
            <a:ext cx="1689885" cy="2308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900"/>
              <a:t>음성파일 및 메타데이터 수신</a:t>
            </a:r>
            <a:endParaRPr lang="en-US" altLang="ko-KR" sz="900"/>
          </a:p>
        </p:txBody>
      </p:sp>
      <p:sp>
        <p:nvSpPr>
          <p:cNvPr id="48" name="TextBox 22"/>
          <p:cNvSpPr txBox="1"/>
          <p:nvPr/>
        </p:nvSpPr>
        <p:spPr>
          <a:xfrm>
            <a:off x="4624434" y="2996611"/>
            <a:ext cx="218681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900"/>
              <a:t>STT (Whisper) </a:t>
            </a:r>
            <a:r>
              <a:rPr lang="ko-KR" altLang="en-US" sz="900"/>
              <a:t>가동</a:t>
            </a:r>
          </a:p>
          <a:p>
            <a:pPr algn="ctr">
              <a:defRPr/>
            </a:pPr>
            <a:r>
              <a:rPr lang="en-US" altLang="ko-KR" sz="900"/>
              <a:t>(</a:t>
            </a:r>
            <a:r>
              <a:rPr lang="ko-KR" altLang="en-US" sz="900"/>
              <a:t>비정형 음성을 텍스트 원본으로 변환</a:t>
            </a:r>
            <a:r>
              <a:rPr lang="en-US" altLang="ko-KR" sz="900"/>
              <a:t>)</a:t>
            </a:r>
            <a:r>
              <a:rPr lang="ko-KR" altLang="en-US" sz="900"/>
              <a:t> </a:t>
            </a:r>
            <a:endParaRPr lang="en-US" altLang="ko-KR" sz="900"/>
          </a:p>
        </p:txBody>
      </p:sp>
      <p:cxnSp>
        <p:nvCxnSpPr>
          <p:cNvPr id="4" name="직선 연결선 3"/>
          <p:cNvCxnSpPr/>
          <p:nvPr/>
        </p:nvCxnSpPr>
        <p:spPr>
          <a:xfrm>
            <a:off x="5090044" y="1454021"/>
            <a:ext cx="48387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/>
          <p:cNvCxnSpPr/>
          <p:nvPr/>
        </p:nvCxnSpPr>
        <p:spPr>
          <a:xfrm flipH="1">
            <a:off x="5085705" y="1454021"/>
            <a:ext cx="1" cy="234000"/>
          </a:xfrm>
          <a:prstGeom prst="straightConnector1">
            <a:avLst/>
          </a:prstGeom>
          <a:ln>
            <a:solidFill>
              <a:schemeClr val="tx1"/>
            </a:solidFill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5892780" y="1700728"/>
            <a:ext cx="80182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900"/>
              <a:t>핸드폰 통화</a:t>
            </a:r>
          </a:p>
          <a:p>
            <a:pPr algn="ctr">
              <a:defRPr/>
            </a:pPr>
            <a:r>
              <a:rPr lang="ko-KR" altLang="en-US" sz="900"/>
              <a:t>이벤트 발생</a:t>
            </a:r>
          </a:p>
        </p:txBody>
      </p:sp>
      <p:cxnSp>
        <p:nvCxnSpPr>
          <p:cNvPr id="64" name="직선 화살표 연결선 63"/>
          <p:cNvCxnSpPr/>
          <p:nvPr/>
        </p:nvCxnSpPr>
        <p:spPr>
          <a:xfrm flipH="1">
            <a:off x="6289354" y="1454021"/>
            <a:ext cx="1" cy="234000"/>
          </a:xfrm>
          <a:prstGeom prst="straightConnector1">
            <a:avLst/>
          </a:prstGeom>
          <a:ln>
            <a:solidFill>
              <a:schemeClr val="tx1"/>
            </a:solidFill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8328068" y="1700728"/>
            <a:ext cx="80182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900"/>
              <a:t>쇼핑몰</a:t>
            </a:r>
          </a:p>
          <a:p>
            <a:pPr algn="ctr">
              <a:defRPr/>
            </a:pPr>
            <a:r>
              <a:rPr lang="ko-KR" altLang="en-US" sz="900"/>
              <a:t>이벤트 발생</a:t>
            </a:r>
          </a:p>
        </p:txBody>
      </p:sp>
      <p:cxnSp>
        <p:nvCxnSpPr>
          <p:cNvPr id="72" name="직선 화살표 연결선 71"/>
          <p:cNvCxnSpPr/>
          <p:nvPr/>
        </p:nvCxnSpPr>
        <p:spPr>
          <a:xfrm flipH="1">
            <a:off x="8724643" y="1454021"/>
            <a:ext cx="1" cy="234000"/>
          </a:xfrm>
          <a:prstGeom prst="straightConnector1">
            <a:avLst/>
          </a:prstGeom>
          <a:ln>
            <a:solidFill>
              <a:schemeClr val="tx1"/>
            </a:solidFill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9531718" y="1700728"/>
            <a:ext cx="801822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900"/>
              <a:t>인터라넷</a:t>
            </a:r>
          </a:p>
          <a:p>
            <a:pPr algn="ctr">
              <a:defRPr/>
            </a:pPr>
            <a:r>
              <a:rPr lang="ko-KR" altLang="en-US" sz="900"/>
              <a:t>이벤트 발생</a:t>
            </a:r>
          </a:p>
        </p:txBody>
      </p:sp>
      <p:cxnSp>
        <p:nvCxnSpPr>
          <p:cNvPr id="76" name="직선 화살표 연결선 75"/>
          <p:cNvCxnSpPr/>
          <p:nvPr/>
        </p:nvCxnSpPr>
        <p:spPr>
          <a:xfrm flipH="1">
            <a:off x="9928292" y="1454021"/>
            <a:ext cx="1" cy="234000"/>
          </a:xfrm>
          <a:prstGeom prst="straightConnector1">
            <a:avLst/>
          </a:prstGeom>
          <a:ln>
            <a:solidFill>
              <a:schemeClr val="tx1"/>
            </a:solidFill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/>
          <p:cNvCxnSpPr/>
          <p:nvPr/>
        </p:nvCxnSpPr>
        <p:spPr>
          <a:xfrm flipH="1">
            <a:off x="5085705" y="2078861"/>
            <a:ext cx="1" cy="234000"/>
          </a:xfrm>
          <a:prstGeom prst="straightConnector1">
            <a:avLst/>
          </a:prstGeom>
          <a:ln>
            <a:solidFill>
              <a:schemeClr val="tx1"/>
            </a:solidFill>
            <a:headEnd w="med" len="med"/>
            <a:tailEnd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/>
          <p:cNvCxnSpPr/>
          <p:nvPr/>
        </p:nvCxnSpPr>
        <p:spPr>
          <a:xfrm flipH="1">
            <a:off x="6289354" y="2078861"/>
            <a:ext cx="1" cy="234000"/>
          </a:xfrm>
          <a:prstGeom prst="straightConnector1">
            <a:avLst/>
          </a:prstGeom>
          <a:ln>
            <a:solidFill>
              <a:schemeClr val="tx1"/>
            </a:solidFill>
            <a:headEnd w="med" len="med"/>
            <a:tailEnd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5088139" y="2307461"/>
            <a:ext cx="12115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/>
          <p:cNvCxnSpPr/>
          <p:nvPr/>
        </p:nvCxnSpPr>
        <p:spPr>
          <a:xfrm flipH="1">
            <a:off x="5710235" y="2315081"/>
            <a:ext cx="1" cy="216000"/>
          </a:xfrm>
          <a:prstGeom prst="straightConnector1">
            <a:avLst/>
          </a:prstGeom>
          <a:ln>
            <a:solidFill>
              <a:schemeClr val="tx1"/>
            </a:solidFill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5731120" y="2314695"/>
            <a:ext cx="102784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900"/>
              <a:t>(</a:t>
            </a:r>
            <a:r>
              <a:rPr lang="ko-KR" altLang="en-US" sz="900"/>
              <a:t>음성 채널 라인</a:t>
            </a:r>
            <a:r>
              <a:rPr lang="en-US" altLang="ko-KR" sz="900"/>
              <a:t>)</a:t>
            </a:r>
            <a:endParaRPr lang="ko-KR" altLang="en-US" sz="900"/>
          </a:p>
        </p:txBody>
      </p:sp>
      <p:cxnSp>
        <p:nvCxnSpPr>
          <p:cNvPr id="81" name="직선 화살표 연결선 80"/>
          <p:cNvCxnSpPr/>
          <p:nvPr/>
        </p:nvCxnSpPr>
        <p:spPr>
          <a:xfrm flipH="1">
            <a:off x="5710235" y="2775544"/>
            <a:ext cx="1" cy="216000"/>
          </a:xfrm>
          <a:prstGeom prst="straightConnector1">
            <a:avLst/>
          </a:prstGeom>
          <a:ln>
            <a:solidFill>
              <a:schemeClr val="tx1"/>
            </a:solidFill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/>
          <p:cNvCxnSpPr/>
          <p:nvPr/>
        </p:nvCxnSpPr>
        <p:spPr>
          <a:xfrm flipH="1">
            <a:off x="5710235" y="3365547"/>
            <a:ext cx="1" cy="216000"/>
          </a:xfrm>
          <a:prstGeom prst="straightConnector1">
            <a:avLst/>
          </a:prstGeom>
          <a:ln>
            <a:solidFill>
              <a:schemeClr val="tx1"/>
            </a:solidFill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22"/>
          <p:cNvSpPr txBox="1"/>
          <p:nvPr/>
        </p:nvSpPr>
        <p:spPr>
          <a:xfrm>
            <a:off x="4635661" y="3588325"/>
            <a:ext cx="2164375" cy="5078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900" dirty="0" smtClean="0"/>
              <a:t>Gemini(LLM</a:t>
            </a:r>
            <a:r>
              <a:rPr lang="en-US" altLang="ko-KR" sz="900" dirty="0"/>
              <a:t>) </a:t>
            </a:r>
            <a:r>
              <a:rPr lang="ko-KR" altLang="en-US" sz="900" dirty="0"/>
              <a:t>분석</a:t>
            </a:r>
            <a:r>
              <a:rPr lang="en-US" altLang="ko-KR" sz="900" dirty="0"/>
              <a:t> </a:t>
            </a:r>
            <a:r>
              <a:rPr lang="ko-KR" altLang="en-US" sz="900" dirty="0"/>
              <a:t>구동</a:t>
            </a:r>
          </a:p>
          <a:p>
            <a:pPr>
              <a:defRPr/>
            </a:pPr>
            <a:r>
              <a:rPr lang="en-US" altLang="ko-KR" sz="900" dirty="0"/>
              <a:t>- </a:t>
            </a:r>
            <a:r>
              <a:rPr lang="ko-KR" altLang="en-US" sz="900" dirty="0"/>
              <a:t>주문 여부 판별</a:t>
            </a:r>
            <a:r>
              <a:rPr lang="en-US" altLang="ko-KR" sz="900" dirty="0"/>
              <a:t>(</a:t>
            </a:r>
            <a:r>
              <a:rPr lang="en-US" altLang="ko-KR" sz="900" dirty="0" err="1"/>
              <a:t>is_Order</a:t>
            </a:r>
            <a:r>
              <a:rPr lang="en-US" altLang="ko-KR" sz="900" dirty="0"/>
              <a:t>: Y/N)</a:t>
            </a:r>
          </a:p>
          <a:p>
            <a:pPr>
              <a:defRPr/>
            </a:pPr>
            <a:r>
              <a:rPr lang="en-US" altLang="ko-KR" sz="900" dirty="0"/>
              <a:t>- </a:t>
            </a:r>
            <a:r>
              <a:rPr lang="ko-KR" altLang="en-US" sz="900" dirty="0"/>
              <a:t>비정형 텍스트에서 주문서 양식 추출</a:t>
            </a:r>
            <a:endParaRPr lang="en-US" altLang="ko-KR" sz="900" dirty="0"/>
          </a:p>
        </p:txBody>
      </p:sp>
      <p:cxnSp>
        <p:nvCxnSpPr>
          <p:cNvPr id="88" name="직선 화살표 연결선 87"/>
          <p:cNvCxnSpPr/>
          <p:nvPr/>
        </p:nvCxnSpPr>
        <p:spPr>
          <a:xfrm flipH="1">
            <a:off x="5710235" y="4102041"/>
            <a:ext cx="1" cy="216000"/>
          </a:xfrm>
          <a:prstGeom prst="straightConnector1">
            <a:avLst/>
          </a:prstGeom>
          <a:ln>
            <a:solidFill>
              <a:schemeClr val="tx1"/>
            </a:solidFill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다이아몬드 88"/>
          <p:cNvSpPr/>
          <p:nvPr/>
        </p:nvSpPr>
        <p:spPr>
          <a:xfrm>
            <a:off x="4922234" y="4330132"/>
            <a:ext cx="1590845" cy="333144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900" dirty="0" err="1">
                <a:solidFill>
                  <a:schemeClr val="tx1"/>
                </a:solidFill>
              </a:rPr>
              <a:t>꽃주문인가</a:t>
            </a:r>
            <a:r>
              <a:rPr lang="en-US" altLang="ko-KR" sz="900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89752" y="4642207"/>
            <a:ext cx="36260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900"/>
              <a:t>Yes</a:t>
            </a:r>
            <a:endParaRPr lang="ko-KR" altLang="en-US" sz="900"/>
          </a:p>
        </p:txBody>
      </p:sp>
      <p:cxnSp>
        <p:nvCxnSpPr>
          <p:cNvPr id="91" name="직선 화살표 연결선 90"/>
          <p:cNvCxnSpPr/>
          <p:nvPr/>
        </p:nvCxnSpPr>
        <p:spPr>
          <a:xfrm flipH="1">
            <a:off x="5710235" y="4670895"/>
            <a:ext cx="1" cy="216000"/>
          </a:xfrm>
          <a:prstGeom prst="straightConnector1">
            <a:avLst/>
          </a:prstGeom>
          <a:ln>
            <a:solidFill>
              <a:schemeClr val="tx1"/>
            </a:solidFill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 flipH="1" flipV="1">
            <a:off x="4599993" y="4495635"/>
            <a:ext cx="360000" cy="1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7359459" y="498297"/>
            <a:ext cx="415499" cy="2308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900"/>
              <a:t>실행</a:t>
            </a:r>
          </a:p>
        </p:txBody>
      </p:sp>
      <p:cxnSp>
        <p:nvCxnSpPr>
          <p:cNvPr id="93" name="직선 화살표 연결선 92"/>
          <p:cNvCxnSpPr/>
          <p:nvPr/>
        </p:nvCxnSpPr>
        <p:spPr>
          <a:xfrm flipH="1">
            <a:off x="7571729" y="737001"/>
            <a:ext cx="1" cy="234000"/>
          </a:xfrm>
          <a:prstGeom prst="straightConnector1">
            <a:avLst/>
          </a:prstGeom>
          <a:ln>
            <a:solidFill>
              <a:schemeClr val="tx1"/>
            </a:solidFill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4647063" y="4262294"/>
            <a:ext cx="34176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900"/>
              <a:t>No</a:t>
            </a:r>
            <a:endParaRPr lang="ko-KR" altLang="en-US" sz="900"/>
          </a:p>
        </p:txBody>
      </p:sp>
      <p:sp>
        <p:nvSpPr>
          <p:cNvPr id="105" name="TextBox 104"/>
          <p:cNvSpPr txBox="1"/>
          <p:nvPr/>
        </p:nvSpPr>
        <p:spPr>
          <a:xfrm>
            <a:off x="2730215" y="4312730"/>
            <a:ext cx="186461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900"/>
              <a:t>서버 음성 파일 즉시 삭제</a:t>
            </a:r>
          </a:p>
          <a:p>
            <a:pPr algn="ctr">
              <a:defRPr/>
            </a:pPr>
            <a:r>
              <a:rPr lang="ko-KR" altLang="en-US" sz="900"/>
              <a:t>및 수신 이력 </a:t>
            </a:r>
            <a:r>
              <a:rPr lang="en-US" altLang="ko-KR" sz="900"/>
              <a:t>‘</a:t>
            </a:r>
            <a:r>
              <a:rPr lang="ko-KR" altLang="en-US" sz="900"/>
              <a:t>주문 외 통화</a:t>
            </a:r>
            <a:r>
              <a:rPr lang="en-US" altLang="ko-KR" sz="900"/>
              <a:t>’</a:t>
            </a:r>
            <a:r>
              <a:rPr lang="ko-KR" altLang="en-US" sz="900"/>
              <a:t> 마킹</a:t>
            </a:r>
            <a:endParaRPr lang="en-US" altLang="ko-KR" sz="900"/>
          </a:p>
        </p:txBody>
      </p:sp>
      <p:cxnSp>
        <p:nvCxnSpPr>
          <p:cNvPr id="108" name="직선 화살표 연결선 107"/>
          <p:cNvCxnSpPr/>
          <p:nvPr/>
        </p:nvCxnSpPr>
        <p:spPr>
          <a:xfrm flipH="1">
            <a:off x="8724643" y="2078861"/>
            <a:ext cx="1" cy="234000"/>
          </a:xfrm>
          <a:prstGeom prst="straightConnector1">
            <a:avLst/>
          </a:prstGeom>
          <a:ln>
            <a:solidFill>
              <a:schemeClr val="tx1"/>
            </a:solidFill>
            <a:headEnd w="med" len="med"/>
            <a:tailEnd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화살표 연결선 108"/>
          <p:cNvCxnSpPr/>
          <p:nvPr/>
        </p:nvCxnSpPr>
        <p:spPr>
          <a:xfrm flipH="1">
            <a:off x="9928292" y="2078861"/>
            <a:ext cx="1" cy="234000"/>
          </a:xfrm>
          <a:prstGeom prst="straightConnector1">
            <a:avLst/>
          </a:prstGeom>
          <a:ln>
            <a:solidFill>
              <a:schemeClr val="tx1"/>
            </a:solidFill>
            <a:headEnd w="med" len="med"/>
            <a:tailEnd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/>
          <p:cNvCxnSpPr/>
          <p:nvPr/>
        </p:nvCxnSpPr>
        <p:spPr>
          <a:xfrm>
            <a:off x="8727076" y="2316792"/>
            <a:ext cx="12115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9351395" y="2324026"/>
            <a:ext cx="114326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900"/>
              <a:t>(</a:t>
            </a:r>
            <a:r>
              <a:rPr lang="ko-KR" altLang="en-US" sz="900"/>
              <a:t>텍스트 채널 라인</a:t>
            </a:r>
            <a:r>
              <a:rPr lang="en-US" altLang="ko-KR" sz="900"/>
              <a:t>)</a:t>
            </a:r>
            <a:endParaRPr lang="ko-KR" altLang="en-US" sz="900"/>
          </a:p>
        </p:txBody>
      </p:sp>
      <p:sp>
        <p:nvSpPr>
          <p:cNvPr id="113" name="TextBox 112"/>
          <p:cNvSpPr txBox="1"/>
          <p:nvPr/>
        </p:nvSpPr>
        <p:spPr>
          <a:xfrm>
            <a:off x="4451927" y="5357747"/>
            <a:ext cx="2526654" cy="5078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900"/>
              <a:t>call_order_history </a:t>
            </a:r>
            <a:r>
              <a:rPr lang="ko-KR" altLang="en-US" sz="900"/>
              <a:t>및 주문 </a:t>
            </a:r>
            <a:r>
              <a:rPr lang="en-US" altLang="ko-KR" sz="900"/>
              <a:t>DB </a:t>
            </a:r>
            <a:r>
              <a:rPr lang="ko-KR" altLang="en-US" sz="900"/>
              <a:t>입력</a:t>
            </a:r>
          </a:p>
          <a:p>
            <a:pPr>
              <a:defRPr/>
            </a:pPr>
            <a:r>
              <a:rPr lang="en-US" altLang="ko-KR" sz="900"/>
              <a:t>- </a:t>
            </a:r>
            <a:r>
              <a:rPr lang="ko-KR" altLang="en-US" sz="900"/>
              <a:t>배송지</a:t>
            </a:r>
            <a:r>
              <a:rPr lang="en-US" altLang="ko-KR" sz="900"/>
              <a:t>, </a:t>
            </a:r>
            <a:r>
              <a:rPr lang="ko-KR" altLang="en-US" sz="900"/>
              <a:t>리본문구</a:t>
            </a:r>
            <a:r>
              <a:rPr lang="en-US" altLang="ko-KR" sz="900"/>
              <a:t>, </a:t>
            </a:r>
            <a:r>
              <a:rPr lang="ko-KR" altLang="en-US" sz="900"/>
              <a:t>수량 등 정형 데이터 적재</a:t>
            </a:r>
          </a:p>
          <a:p>
            <a:pPr>
              <a:defRPr/>
            </a:pPr>
            <a:r>
              <a:rPr lang="en-US" altLang="ko-KR" sz="900"/>
              <a:t>- rpa_status = 'ready' </a:t>
            </a:r>
            <a:r>
              <a:rPr lang="ko-KR" altLang="en-US" sz="900"/>
              <a:t>설정</a:t>
            </a:r>
            <a:endParaRPr lang="en-US" altLang="ko-KR" sz="900"/>
          </a:p>
        </p:txBody>
      </p:sp>
      <p:cxnSp>
        <p:nvCxnSpPr>
          <p:cNvPr id="114" name="직선 화살표 연결선 113"/>
          <p:cNvCxnSpPr/>
          <p:nvPr/>
        </p:nvCxnSpPr>
        <p:spPr>
          <a:xfrm flipH="1">
            <a:off x="5710235" y="5118762"/>
            <a:ext cx="1" cy="216000"/>
          </a:xfrm>
          <a:prstGeom prst="straightConnector1">
            <a:avLst/>
          </a:prstGeom>
          <a:ln>
            <a:solidFill>
              <a:schemeClr val="tx1"/>
            </a:solidFill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화살표 연결선 114"/>
          <p:cNvCxnSpPr/>
          <p:nvPr/>
        </p:nvCxnSpPr>
        <p:spPr>
          <a:xfrm flipH="1">
            <a:off x="5710235" y="5874540"/>
            <a:ext cx="1" cy="216000"/>
          </a:xfrm>
          <a:prstGeom prst="straightConnector1">
            <a:avLst/>
          </a:prstGeom>
          <a:ln>
            <a:solidFill>
              <a:schemeClr val="tx1"/>
            </a:solidFill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4613029" y="6113528"/>
            <a:ext cx="220445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900"/>
              <a:t>RPA </a:t>
            </a:r>
            <a:r>
              <a:rPr lang="ko-KR" altLang="en-US" sz="900"/>
              <a:t>호출 실행</a:t>
            </a:r>
          </a:p>
          <a:p>
            <a:pPr algn="ctr">
              <a:defRPr/>
            </a:pPr>
            <a:r>
              <a:rPr lang="en-US" altLang="ko-KR" sz="900"/>
              <a:t>- </a:t>
            </a:r>
            <a:r>
              <a:rPr lang="ko-KR" altLang="en-US" sz="900"/>
              <a:t>꽃집 업무 관리 프로그램에 자동 입력</a:t>
            </a:r>
            <a:endParaRPr lang="en-US" altLang="ko-KR" sz="900"/>
          </a:p>
        </p:txBody>
      </p:sp>
      <p:cxnSp>
        <p:nvCxnSpPr>
          <p:cNvPr id="118" name="직선 화살표 연결선 117"/>
          <p:cNvCxnSpPr/>
          <p:nvPr/>
        </p:nvCxnSpPr>
        <p:spPr>
          <a:xfrm flipH="1" flipV="1">
            <a:off x="2360647" y="4495635"/>
            <a:ext cx="360000" cy="1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3" name="그룹 102"/>
          <p:cNvGrpSpPr/>
          <p:nvPr/>
        </p:nvGrpSpPr>
        <p:grpSpPr>
          <a:xfrm>
            <a:off x="2337570" y="839293"/>
            <a:ext cx="5217949" cy="5857737"/>
            <a:chOff x="2337570" y="568702"/>
            <a:chExt cx="5217949" cy="5857737"/>
          </a:xfrm>
        </p:grpSpPr>
        <p:cxnSp>
          <p:nvCxnSpPr>
            <p:cNvPr id="22" name="직선 연결선 21"/>
            <p:cNvCxnSpPr/>
            <p:nvPr/>
          </p:nvCxnSpPr>
          <p:spPr>
            <a:xfrm flipV="1">
              <a:off x="2337570" y="569169"/>
              <a:ext cx="0" cy="584096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351314" y="568702"/>
              <a:ext cx="5204205" cy="0"/>
            </a:xfrm>
            <a:prstGeom prst="line">
              <a:avLst/>
            </a:prstGeom>
            <a:ln>
              <a:solidFill>
                <a:schemeClr val="tx1"/>
              </a:solidFill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직선 화살표 연결선 122"/>
            <p:cNvCxnSpPr/>
            <p:nvPr/>
          </p:nvCxnSpPr>
          <p:spPr>
            <a:xfrm flipH="1">
              <a:off x="5710235" y="6210439"/>
              <a:ext cx="1" cy="216000"/>
            </a:xfrm>
            <a:prstGeom prst="straightConnector1">
              <a:avLst/>
            </a:prstGeom>
            <a:ln>
              <a:solidFill>
                <a:schemeClr val="tx1"/>
              </a:solidFill>
              <a:headEnd w="med" len="med"/>
              <a:tailEnd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직선 연결선 95"/>
            <p:cNvCxnSpPr/>
            <p:nvPr/>
          </p:nvCxnSpPr>
          <p:spPr>
            <a:xfrm flipH="1">
              <a:off x="2341984" y="6419461"/>
              <a:ext cx="3368351" cy="0"/>
            </a:xfrm>
            <a:prstGeom prst="line">
              <a:avLst/>
            </a:prstGeom>
            <a:ln>
              <a:solidFill>
                <a:schemeClr val="tx1"/>
              </a:solidFill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그룹 101"/>
          <p:cNvGrpSpPr/>
          <p:nvPr/>
        </p:nvGrpSpPr>
        <p:grpSpPr>
          <a:xfrm>
            <a:off x="5719665" y="2324412"/>
            <a:ext cx="3629608" cy="2882073"/>
            <a:chOff x="5719665" y="2053821"/>
            <a:chExt cx="3629608" cy="2882073"/>
          </a:xfrm>
        </p:grpSpPr>
        <p:cxnSp>
          <p:nvCxnSpPr>
            <p:cNvPr id="111" name="직선 화살표 연결선 110"/>
            <p:cNvCxnSpPr/>
            <p:nvPr/>
          </p:nvCxnSpPr>
          <p:spPr>
            <a:xfrm flipH="1">
              <a:off x="9349174" y="2053821"/>
              <a:ext cx="1" cy="2882073"/>
            </a:xfrm>
            <a:prstGeom prst="straightConnector1">
              <a:avLst/>
            </a:prstGeom>
            <a:ln>
              <a:solidFill>
                <a:schemeClr val="tx1"/>
              </a:solidFill>
              <a:headEnd w="med" len="med"/>
              <a:tailEnd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직선 연결선 99"/>
            <p:cNvCxnSpPr/>
            <p:nvPr/>
          </p:nvCxnSpPr>
          <p:spPr>
            <a:xfrm flipH="1">
              <a:off x="5719665" y="4926565"/>
              <a:ext cx="3629608" cy="0"/>
            </a:xfrm>
            <a:prstGeom prst="line">
              <a:avLst/>
            </a:prstGeom>
            <a:ln>
              <a:solidFill>
                <a:schemeClr val="tx1"/>
              </a:solidFill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TextBox 54"/>
          <p:cNvSpPr txBox="1"/>
          <p:nvPr/>
        </p:nvSpPr>
        <p:spPr>
          <a:xfrm>
            <a:off x="260985" y="196419"/>
            <a:ext cx="5314725" cy="3693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b="1" dirty="0" smtClean="0"/>
              <a:t>2. </a:t>
            </a:r>
            <a:r>
              <a:rPr lang="en-US" altLang="ko-KR" b="1" dirty="0" err="1" smtClean="0"/>
              <a:t>ggotAIorder</a:t>
            </a:r>
            <a:r>
              <a:rPr lang="en-US" altLang="ko-KR" sz="900" dirty="0" smtClean="0"/>
              <a:t>(B.</a:t>
            </a:r>
            <a:r>
              <a:rPr lang="ko-KR" altLang="en-US" sz="900" dirty="0" smtClean="0"/>
              <a:t>실시간 </a:t>
            </a:r>
            <a:r>
              <a:rPr lang="ko-KR" altLang="en-US" sz="900" dirty="0"/>
              <a:t>주문 수집 및 입력</a:t>
            </a:r>
            <a:r>
              <a:rPr lang="en-US" altLang="ko-KR" sz="900" dirty="0"/>
              <a:t>(PC </a:t>
            </a:r>
            <a:r>
              <a:rPr lang="ko-KR" altLang="en-US" sz="900" dirty="0"/>
              <a:t>백그라운드 서비스</a:t>
            </a:r>
            <a:r>
              <a:rPr lang="en-US" altLang="ko-KR" sz="900" dirty="0" smtClean="0"/>
              <a:t>))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순서도</a:t>
            </a:r>
            <a:endParaRPr lang="en-US" altLang="ko-KR" b="1" dirty="0" smtClean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2" name="직선 연결선 121"/>
          <p:cNvCxnSpPr/>
          <p:nvPr/>
        </p:nvCxnSpPr>
        <p:spPr>
          <a:xfrm flipH="1" flipV="1">
            <a:off x="13629633" y="2047246"/>
            <a:ext cx="1" cy="2887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/>
          <p:cNvCxnSpPr/>
          <p:nvPr/>
        </p:nvCxnSpPr>
        <p:spPr>
          <a:xfrm flipH="1" flipV="1">
            <a:off x="15448908" y="2046707"/>
            <a:ext cx="1" cy="2887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/>
          <p:cNvSpPr/>
          <p:nvPr/>
        </p:nvSpPr>
        <p:spPr>
          <a:xfrm>
            <a:off x="513805" y="576335"/>
            <a:ext cx="7132320" cy="203132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900" dirty="0" smtClean="0"/>
              <a:t>1. [</a:t>
            </a:r>
            <a:r>
              <a:rPr lang="ko-KR" altLang="en-US" sz="900" dirty="0"/>
              <a:t>가게 전화 채널</a:t>
            </a:r>
            <a:r>
              <a:rPr lang="en-US" altLang="ko-KR" sz="900" dirty="0"/>
              <a:t>]: </a:t>
            </a:r>
            <a:r>
              <a:rPr lang="ko-KR" altLang="en-US" sz="900" dirty="0"/>
              <a:t>물리적 </a:t>
            </a:r>
            <a:r>
              <a:rPr lang="en-US" altLang="ko-KR" sz="900" dirty="0"/>
              <a:t>PC-</a:t>
            </a:r>
            <a:r>
              <a:rPr lang="ko-KR" altLang="en-US" sz="900" dirty="0"/>
              <a:t>전화 연결을 배제하고</a:t>
            </a:r>
            <a:r>
              <a:rPr lang="en-US" altLang="ko-KR" sz="900" dirty="0"/>
              <a:t>, </a:t>
            </a:r>
            <a:r>
              <a:rPr lang="ko-KR" altLang="en-US" sz="900" dirty="0"/>
              <a:t>인터넷전화</a:t>
            </a:r>
            <a:r>
              <a:rPr lang="en-US" altLang="ko-KR" sz="900" dirty="0"/>
              <a:t>(VoIP) CTI </a:t>
            </a:r>
            <a:r>
              <a:rPr lang="ko-KR" altLang="en-US" sz="900" dirty="0" smtClean="0"/>
              <a:t>인프라를 </a:t>
            </a:r>
            <a:r>
              <a:rPr lang="ko-KR" altLang="en-US" sz="900" dirty="0"/>
              <a:t>연동한다</a:t>
            </a:r>
            <a:r>
              <a:rPr lang="en-US" altLang="ko-KR" sz="900" dirty="0"/>
              <a:t>. </a:t>
            </a:r>
            <a:endParaRPr lang="en-US" altLang="ko-KR" sz="900" dirty="0" smtClean="0"/>
          </a:p>
          <a:p>
            <a:r>
              <a:rPr lang="en-US" altLang="ko-KR" sz="900" dirty="0"/>
              <a:t> </a:t>
            </a:r>
            <a:r>
              <a:rPr lang="en-US" altLang="ko-KR" sz="900" dirty="0" smtClean="0"/>
              <a:t>  </a:t>
            </a:r>
            <a:r>
              <a:rPr lang="ko-KR" altLang="en-US" sz="900" dirty="0" smtClean="0"/>
              <a:t>통신사 </a:t>
            </a:r>
            <a:r>
              <a:rPr lang="ko-KR" altLang="en-US" sz="900" dirty="0"/>
              <a:t>서버가 녹음한 음성 파일과 발신자 정보를 </a:t>
            </a:r>
            <a:r>
              <a:rPr lang="ko-KR" altLang="en-US" sz="900" dirty="0" err="1"/>
              <a:t>백엔드</a:t>
            </a:r>
            <a:r>
              <a:rPr lang="ko-KR" altLang="en-US" sz="900" dirty="0"/>
              <a:t> 웹 </a:t>
            </a:r>
            <a:r>
              <a:rPr lang="en-US" altLang="ko-KR" sz="900" dirty="0"/>
              <a:t>API</a:t>
            </a:r>
            <a:r>
              <a:rPr lang="ko-KR" altLang="en-US" sz="900" dirty="0"/>
              <a:t>로 다이렉트 수신</a:t>
            </a:r>
            <a:r>
              <a:rPr lang="en-US" altLang="ko-KR" sz="900" dirty="0"/>
              <a:t>(</a:t>
            </a:r>
            <a:r>
              <a:rPr lang="en-US" altLang="ko-KR" sz="900" dirty="0" err="1"/>
              <a:t>WebHook</a:t>
            </a:r>
            <a:r>
              <a:rPr lang="en-US" altLang="ko-KR" sz="900" dirty="0"/>
              <a:t>)</a:t>
            </a:r>
            <a:r>
              <a:rPr lang="ko-KR" altLang="en-US" sz="900" dirty="0"/>
              <a:t>하도록 구현한다</a:t>
            </a:r>
            <a:r>
              <a:rPr lang="en-US" altLang="ko-KR" sz="900" dirty="0"/>
              <a:t>. </a:t>
            </a:r>
            <a:endParaRPr lang="en-US" altLang="ko-KR" sz="900" dirty="0" smtClean="0"/>
          </a:p>
          <a:p>
            <a:endParaRPr lang="en-US" altLang="ko-KR" sz="900" dirty="0" smtClean="0"/>
          </a:p>
          <a:p>
            <a:r>
              <a:rPr lang="en-US" altLang="ko-KR" sz="900" dirty="0" smtClean="0"/>
              <a:t>2</a:t>
            </a:r>
            <a:r>
              <a:rPr lang="en-US" altLang="ko-KR" sz="900" dirty="0"/>
              <a:t>. [</a:t>
            </a:r>
            <a:r>
              <a:rPr lang="ko-KR" altLang="en-US" sz="900" dirty="0"/>
              <a:t>핸드폰 앱 채널</a:t>
            </a:r>
            <a:r>
              <a:rPr lang="en-US" altLang="ko-KR" sz="900" dirty="0"/>
              <a:t>]: </a:t>
            </a:r>
            <a:r>
              <a:rPr lang="ko-KR" altLang="en-US" sz="900" dirty="0"/>
              <a:t>단말 앱</a:t>
            </a:r>
            <a:r>
              <a:rPr lang="en-US" altLang="ko-KR" sz="900" dirty="0"/>
              <a:t>(</a:t>
            </a:r>
            <a:r>
              <a:rPr lang="en-US" altLang="ko-KR" sz="900" dirty="0" err="1"/>
              <a:t>ggotAIhp</a:t>
            </a:r>
            <a:r>
              <a:rPr lang="en-US" altLang="ko-KR" sz="900" dirty="0"/>
              <a:t>)</a:t>
            </a:r>
            <a:r>
              <a:rPr lang="ko-KR" altLang="en-US" sz="900" dirty="0"/>
              <a:t>이 통화 종료 후 </a:t>
            </a:r>
            <a:r>
              <a:rPr lang="ko-KR" altLang="en-US" sz="900" dirty="0" smtClean="0"/>
              <a:t>서버</a:t>
            </a:r>
            <a:r>
              <a:rPr lang="en-US" altLang="ko-KR" sz="900" dirty="0" smtClean="0"/>
              <a:t>(</a:t>
            </a:r>
            <a:r>
              <a:rPr lang="en-US" altLang="ko-KR" sz="900" dirty="0" err="1" smtClean="0"/>
              <a:t>supabase</a:t>
            </a:r>
            <a:r>
              <a:rPr lang="en-US" altLang="ko-KR" sz="900" dirty="0" smtClean="0"/>
              <a:t>)</a:t>
            </a:r>
            <a:r>
              <a:rPr lang="ko-KR" altLang="en-US" sz="900" dirty="0" smtClean="0"/>
              <a:t>에 </a:t>
            </a:r>
            <a:r>
              <a:rPr lang="ko-KR" altLang="en-US" sz="900" dirty="0"/>
              <a:t>파일 및 </a:t>
            </a:r>
            <a:r>
              <a:rPr lang="ko-KR" altLang="en-US" sz="900" dirty="0" smtClean="0"/>
              <a:t>통화음성파일을 적재하면</a:t>
            </a:r>
            <a:r>
              <a:rPr lang="en-US" altLang="ko-KR" sz="900" dirty="0"/>
              <a:t>, </a:t>
            </a:r>
            <a:endParaRPr lang="en-US" altLang="ko-KR" sz="900" dirty="0" smtClean="0"/>
          </a:p>
          <a:p>
            <a:r>
              <a:rPr lang="en-US" altLang="ko-KR" sz="900" dirty="0"/>
              <a:t> </a:t>
            </a:r>
            <a:r>
              <a:rPr lang="en-US" altLang="ko-KR" sz="900" dirty="0" smtClean="0"/>
              <a:t>  </a:t>
            </a:r>
            <a:r>
              <a:rPr lang="ko-KR" altLang="en-US" sz="900" dirty="0" smtClean="0"/>
              <a:t>서버는 </a:t>
            </a:r>
            <a:r>
              <a:rPr lang="en-US" altLang="ko-KR" sz="900" dirty="0" err="1" smtClean="0"/>
              <a:t>ggotAIorder</a:t>
            </a:r>
            <a:r>
              <a:rPr lang="ko-KR" altLang="en-US" sz="900" dirty="0" smtClean="0"/>
              <a:t>에 </a:t>
            </a:r>
            <a:r>
              <a:rPr lang="ko-KR" altLang="en-US" sz="900" dirty="0"/>
              <a:t>실시간 신호를 전송하여 </a:t>
            </a:r>
            <a:r>
              <a:rPr lang="en-US" altLang="ko-KR" sz="900" dirty="0"/>
              <a:t>Whisper(STT) </a:t>
            </a:r>
            <a:r>
              <a:rPr lang="ko-KR" altLang="en-US" sz="900" dirty="0"/>
              <a:t>및 </a:t>
            </a:r>
            <a:r>
              <a:rPr lang="en-US" altLang="ko-KR" sz="900" dirty="0" smtClean="0"/>
              <a:t>Gemini(LLM</a:t>
            </a:r>
            <a:r>
              <a:rPr lang="en-US" altLang="ko-KR" sz="900" dirty="0"/>
              <a:t>) </a:t>
            </a:r>
            <a:r>
              <a:rPr lang="ko-KR" altLang="en-US" sz="900" dirty="0"/>
              <a:t>파이프라인을 즉시 구동한다</a:t>
            </a:r>
            <a:r>
              <a:rPr lang="en-US" altLang="ko-KR" sz="900" dirty="0"/>
              <a:t>. </a:t>
            </a:r>
            <a:endParaRPr lang="en-US" altLang="ko-KR" sz="900" dirty="0" smtClean="0"/>
          </a:p>
          <a:p>
            <a:endParaRPr lang="en-US" altLang="ko-KR" sz="900" dirty="0"/>
          </a:p>
          <a:p>
            <a:r>
              <a:rPr lang="en-US" altLang="ko-KR" sz="900" dirty="0" smtClean="0"/>
              <a:t>3</a:t>
            </a:r>
            <a:r>
              <a:rPr lang="en-US" altLang="ko-KR" sz="900" dirty="0"/>
              <a:t>. [</a:t>
            </a:r>
            <a:r>
              <a:rPr lang="ko-KR" altLang="en-US" sz="900" dirty="0" smtClean="0"/>
              <a:t>쇼핑몰 </a:t>
            </a:r>
            <a:r>
              <a:rPr lang="ko-KR" altLang="en-US" sz="900" dirty="0"/>
              <a:t>채널</a:t>
            </a:r>
            <a:r>
              <a:rPr lang="en-US" altLang="ko-KR" sz="900" dirty="0"/>
              <a:t>]: </a:t>
            </a:r>
            <a:r>
              <a:rPr lang="ko-KR" altLang="en-US" sz="900" dirty="0"/>
              <a:t>화면 </a:t>
            </a:r>
            <a:r>
              <a:rPr lang="ko-KR" altLang="en-US" sz="900" dirty="0" err="1"/>
              <a:t>크롤링</a:t>
            </a:r>
            <a:r>
              <a:rPr lang="ko-KR" altLang="en-US" sz="900" dirty="0"/>
              <a:t> 방식을 지양하고</a:t>
            </a:r>
            <a:r>
              <a:rPr lang="en-US" altLang="ko-KR" sz="900" dirty="0"/>
              <a:t>, </a:t>
            </a:r>
            <a:r>
              <a:rPr lang="ko-KR" altLang="en-US" sz="900" dirty="0"/>
              <a:t>주문 접수 시 발송되는 이메일</a:t>
            </a:r>
            <a:r>
              <a:rPr lang="en-US" altLang="ko-KR" sz="900" dirty="0"/>
              <a:t>(SMTP) </a:t>
            </a:r>
            <a:r>
              <a:rPr lang="ko-KR" altLang="en-US" sz="900" dirty="0"/>
              <a:t>알림 인터셉트 </a:t>
            </a:r>
            <a:r>
              <a:rPr lang="ko-KR" altLang="en-US" sz="900" dirty="0" err="1"/>
              <a:t>파싱</a:t>
            </a:r>
            <a:r>
              <a:rPr lang="ko-KR" altLang="en-US" sz="900" dirty="0"/>
              <a:t> 엔진 또는 </a:t>
            </a:r>
            <a:endParaRPr lang="en-US" altLang="ko-KR" sz="900" dirty="0" smtClean="0"/>
          </a:p>
          <a:p>
            <a:r>
              <a:rPr lang="en-US" altLang="ko-KR" sz="900" dirty="0"/>
              <a:t> </a:t>
            </a:r>
            <a:r>
              <a:rPr lang="en-US" altLang="ko-KR" sz="900" dirty="0" smtClean="0"/>
              <a:t>  </a:t>
            </a:r>
            <a:r>
              <a:rPr lang="ko-KR" altLang="en-US" sz="900" dirty="0" smtClean="0"/>
              <a:t>공식 </a:t>
            </a:r>
            <a:r>
              <a:rPr lang="ko-KR" altLang="en-US" sz="900" dirty="0"/>
              <a:t>주문 수집 </a:t>
            </a:r>
            <a:r>
              <a:rPr lang="en-US" altLang="ko-KR" sz="900" dirty="0"/>
              <a:t>API </a:t>
            </a:r>
            <a:r>
              <a:rPr lang="ko-KR" altLang="en-US" sz="900" dirty="0"/>
              <a:t>연동 모듈을 구현하여 외부 사이트 변동에 따른 유지보수</a:t>
            </a:r>
            <a:r>
              <a:rPr lang="en-US" altLang="ko-KR" sz="900" dirty="0"/>
              <a:t>(A/S) </a:t>
            </a:r>
            <a:r>
              <a:rPr lang="ko-KR" altLang="en-US" sz="900" dirty="0"/>
              <a:t>리스크를 최소화한다</a:t>
            </a:r>
            <a:r>
              <a:rPr lang="en-US" altLang="ko-KR" sz="900" dirty="0"/>
              <a:t>. </a:t>
            </a:r>
            <a:endParaRPr lang="en-US" altLang="ko-KR" sz="900" dirty="0" smtClean="0"/>
          </a:p>
          <a:p>
            <a:endParaRPr lang="en-US" altLang="ko-KR" sz="900" dirty="0"/>
          </a:p>
          <a:p>
            <a:r>
              <a:rPr lang="en-US" altLang="ko-KR" sz="900" dirty="0" smtClean="0"/>
              <a:t>4. [</a:t>
            </a:r>
            <a:r>
              <a:rPr lang="ko-KR" altLang="en-US" sz="900" dirty="0" err="1" smtClean="0"/>
              <a:t>인터라넷</a:t>
            </a:r>
            <a:r>
              <a:rPr lang="ko-KR" altLang="en-US" sz="900" dirty="0" smtClean="0"/>
              <a:t> </a:t>
            </a:r>
            <a:r>
              <a:rPr lang="ko-KR" altLang="en-US" sz="900" dirty="0"/>
              <a:t>채널</a:t>
            </a:r>
            <a:r>
              <a:rPr lang="en-US" altLang="ko-KR" sz="900" dirty="0"/>
              <a:t>]: </a:t>
            </a:r>
            <a:r>
              <a:rPr lang="ko-KR" altLang="en-US" sz="900" dirty="0"/>
              <a:t>화면 </a:t>
            </a:r>
            <a:r>
              <a:rPr lang="ko-KR" altLang="en-US" sz="900" dirty="0" err="1"/>
              <a:t>크롤링</a:t>
            </a:r>
            <a:r>
              <a:rPr lang="ko-KR" altLang="en-US" sz="900" dirty="0"/>
              <a:t> </a:t>
            </a:r>
            <a:r>
              <a:rPr lang="ko-KR" altLang="en-US" sz="900" dirty="0" smtClean="0"/>
              <a:t>방식으로 주문을 수집한다</a:t>
            </a:r>
            <a:r>
              <a:rPr lang="en-US" altLang="ko-KR" sz="900" dirty="0" smtClean="0"/>
              <a:t>.</a:t>
            </a:r>
          </a:p>
          <a:p>
            <a:endParaRPr lang="en-US" altLang="ko-KR" sz="900" dirty="0"/>
          </a:p>
          <a:p>
            <a:r>
              <a:rPr lang="en-US" altLang="ko-KR" sz="900" dirty="0" smtClean="0"/>
              <a:t>5. </a:t>
            </a:r>
            <a:r>
              <a:rPr lang="en-US" altLang="ko-KR" sz="900" dirty="0"/>
              <a:t>[</a:t>
            </a:r>
            <a:r>
              <a:rPr lang="ko-KR" altLang="en-US" sz="900" dirty="0"/>
              <a:t>가게 현장 음성 채널</a:t>
            </a:r>
            <a:r>
              <a:rPr lang="en-US" altLang="ko-KR" sz="900" dirty="0"/>
              <a:t>]: PC</a:t>
            </a:r>
            <a:r>
              <a:rPr lang="ko-KR" altLang="en-US" sz="900" dirty="0"/>
              <a:t>에 물리 마이크를 세팅하지 않는다</a:t>
            </a:r>
            <a:r>
              <a:rPr lang="en-US" altLang="ko-KR" sz="900" dirty="0"/>
              <a:t>. </a:t>
            </a:r>
            <a:endParaRPr lang="en-US" altLang="ko-KR" sz="900" dirty="0" smtClean="0"/>
          </a:p>
          <a:p>
            <a:r>
              <a:rPr lang="en-US" altLang="ko-KR" sz="900" dirty="0"/>
              <a:t> </a:t>
            </a:r>
            <a:r>
              <a:rPr lang="en-US" altLang="ko-KR" sz="900" dirty="0" smtClean="0"/>
              <a:t>  </a:t>
            </a:r>
            <a:r>
              <a:rPr lang="ko-KR" altLang="en-US" sz="900" dirty="0" smtClean="0"/>
              <a:t>이미 </a:t>
            </a:r>
            <a:r>
              <a:rPr lang="ko-KR" altLang="en-US" sz="900" dirty="0"/>
              <a:t>개발된 스마트폰 앱</a:t>
            </a:r>
            <a:r>
              <a:rPr lang="en-US" altLang="ko-KR" sz="900" dirty="0"/>
              <a:t>(</a:t>
            </a:r>
            <a:r>
              <a:rPr lang="en-US" altLang="ko-KR" sz="900" dirty="0" err="1"/>
              <a:t>ggotAIhp</a:t>
            </a:r>
            <a:r>
              <a:rPr lang="en-US" altLang="ko-KR" sz="900" dirty="0"/>
              <a:t>) </a:t>
            </a:r>
            <a:r>
              <a:rPr lang="ko-KR" altLang="en-US" sz="900" dirty="0"/>
              <a:t>내에 </a:t>
            </a:r>
            <a:r>
              <a:rPr lang="en-US" altLang="ko-KR" sz="900" dirty="0"/>
              <a:t>'</a:t>
            </a:r>
            <a:r>
              <a:rPr lang="ko-KR" altLang="en-US" sz="900" dirty="0"/>
              <a:t>현장 주문 녹음</a:t>
            </a:r>
            <a:r>
              <a:rPr lang="en-US" altLang="ko-KR" sz="900" dirty="0"/>
              <a:t>' </a:t>
            </a:r>
            <a:r>
              <a:rPr lang="ko-KR" altLang="en-US" sz="900" dirty="0"/>
              <a:t>간이 </a:t>
            </a:r>
            <a:r>
              <a:rPr lang="en-US" altLang="ko-KR" sz="900" dirty="0"/>
              <a:t>UI</a:t>
            </a:r>
            <a:r>
              <a:rPr lang="ko-KR" altLang="en-US" sz="900" dirty="0"/>
              <a:t>를 추가하여</a:t>
            </a:r>
            <a:r>
              <a:rPr lang="en-US" altLang="ko-KR" sz="900" dirty="0"/>
              <a:t>, </a:t>
            </a:r>
            <a:r>
              <a:rPr lang="ko-KR" altLang="en-US" sz="900" dirty="0"/>
              <a:t>사장님이 폰에 대고 말한 음성 파일을 </a:t>
            </a:r>
            <a:endParaRPr lang="en-US" altLang="ko-KR" sz="900" dirty="0" smtClean="0"/>
          </a:p>
          <a:p>
            <a:r>
              <a:rPr lang="en-US" altLang="ko-KR" sz="900" dirty="0"/>
              <a:t> </a:t>
            </a:r>
            <a:r>
              <a:rPr lang="en-US" altLang="ko-KR" sz="900" dirty="0" smtClean="0"/>
              <a:t>  </a:t>
            </a:r>
            <a:r>
              <a:rPr lang="ko-KR" altLang="en-US" sz="900" dirty="0" smtClean="0"/>
              <a:t>기존 </a:t>
            </a:r>
            <a:r>
              <a:rPr lang="ko-KR" altLang="en-US" sz="900" dirty="0"/>
              <a:t>핸드폰 통화 전송 </a:t>
            </a:r>
            <a:r>
              <a:rPr lang="en-US" altLang="ko-KR" sz="900" dirty="0"/>
              <a:t>API</a:t>
            </a:r>
            <a:r>
              <a:rPr lang="ko-KR" altLang="en-US" sz="900" dirty="0"/>
              <a:t>와 동일한 포맷으로 서버 </a:t>
            </a:r>
            <a:r>
              <a:rPr lang="en-US" altLang="ko-KR" sz="900" dirty="0"/>
              <a:t>DB</a:t>
            </a:r>
            <a:r>
              <a:rPr lang="ko-KR" altLang="en-US" sz="900" dirty="0"/>
              <a:t>에 적재 및 처리하도록 단일화한다</a:t>
            </a:r>
            <a:r>
              <a:rPr lang="en-US" altLang="ko-KR" sz="900" dirty="0"/>
              <a:t>.</a:t>
            </a:r>
            <a:endParaRPr lang="ko-KR" altLang="en-US" sz="900" dirty="0"/>
          </a:p>
        </p:txBody>
      </p:sp>
      <p:sp>
        <p:nvSpPr>
          <p:cNvPr id="9" name="TextBox 8"/>
          <p:cNvSpPr txBox="1"/>
          <p:nvPr/>
        </p:nvSpPr>
        <p:spPr>
          <a:xfrm>
            <a:off x="260985" y="196419"/>
            <a:ext cx="6680290" cy="3693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b="1" dirty="0" smtClean="0"/>
              <a:t>3. </a:t>
            </a:r>
            <a:r>
              <a:rPr lang="ko-KR" altLang="en-US" b="1" dirty="0"/>
              <a:t>웹</a:t>
            </a:r>
            <a:r>
              <a:rPr lang="en-US" altLang="ko-KR" b="1" dirty="0"/>
              <a:t>(Back-end)</a:t>
            </a:r>
            <a:r>
              <a:rPr lang="ko-KR" altLang="en-US" b="1" dirty="0"/>
              <a:t>의 </a:t>
            </a:r>
            <a:r>
              <a:rPr lang="ko-KR" altLang="en-US" b="1" dirty="0" err="1"/>
              <a:t>채널별</a:t>
            </a:r>
            <a:r>
              <a:rPr lang="ko-KR" altLang="en-US" b="1" dirty="0"/>
              <a:t> 데이터 수집 규격 </a:t>
            </a:r>
            <a:r>
              <a:rPr lang="en-US" altLang="ko-KR" b="1" dirty="0"/>
              <a:t>(Data Ingestion) </a:t>
            </a:r>
            <a:endParaRPr lang="en-US" altLang="ko-KR" b="1" dirty="0" smtClean="0"/>
          </a:p>
        </p:txBody>
      </p:sp>
    </p:spTree>
    <p:extLst>
      <p:ext uri="{BB962C8B-B14F-4D97-AF65-F5344CB8AC3E}">
        <p14:creationId xmlns:p14="http://schemas.microsoft.com/office/powerpoint/2010/main" val="2801933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2" name="직선 연결선 121"/>
          <p:cNvCxnSpPr/>
          <p:nvPr/>
        </p:nvCxnSpPr>
        <p:spPr>
          <a:xfrm flipH="1" flipV="1">
            <a:off x="13629633" y="2047246"/>
            <a:ext cx="1" cy="2887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/>
          <p:cNvCxnSpPr/>
          <p:nvPr/>
        </p:nvCxnSpPr>
        <p:spPr>
          <a:xfrm flipH="1" flipV="1">
            <a:off x="15448908" y="2046707"/>
            <a:ext cx="1" cy="2887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>
            <a:spLocks noChangeArrowheads="1"/>
          </p:cNvSpPr>
          <p:nvPr/>
        </p:nvSpPr>
        <p:spPr>
          <a:xfrm>
            <a:off x="435431" y="699463"/>
            <a:ext cx="9379491" cy="54476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0" rIns="91440" bIns="45720" anchor="ctr" anchorCtr="0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ko-KR" altLang="ko-KR" sz="900" b="1" i="0" u="none" strike="noStrike" cap="none" normalizeH="0" baseline="0" dirty="0">
                <a:solidFill>
                  <a:schemeClr val="tx1"/>
                </a:solidFill>
                <a:effectLst/>
                <a:latin typeface="Arial"/>
                <a:ea typeface="Google Sans"/>
              </a:rPr>
              <a:t>음성 파일 업로드 완료(</a:t>
            </a:r>
            <a:r>
              <a:rPr kumimoji="0" lang="ko-KR" altLang="ko-KR" sz="900" b="1" i="0" u="none" strike="noStrike" cap="none" normalizeH="0" baseline="0" dirty="0" err="1">
                <a:solidFill>
                  <a:schemeClr val="tx1"/>
                </a:solidFill>
                <a:effectLst/>
                <a:latin typeface="Arial"/>
                <a:ea typeface="Google Sans"/>
              </a:rPr>
              <a:t>Webhook</a:t>
            </a:r>
            <a:r>
              <a:rPr kumimoji="0" lang="ko-KR" altLang="ko-KR" sz="900" b="1" i="0" u="none" strike="noStrike" cap="none" normalizeH="0" baseline="0" dirty="0">
                <a:solidFill>
                  <a:schemeClr val="tx1"/>
                </a:solidFill>
                <a:effectLst/>
                <a:latin typeface="Arial"/>
                <a:ea typeface="Google Sans"/>
              </a:rPr>
              <a:t>) 자체를 신호로 인식</a:t>
            </a:r>
          </a:p>
          <a:p>
            <a:pPr marL="0" marR="0" lvl="0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ko-KR" altLang="ko-KR" sz="900" b="0" i="0" u="none" strike="noStrike" cap="none" normalizeH="0" baseline="0" dirty="0">
                <a:solidFill>
                  <a:schemeClr val="tx1"/>
                </a:solidFill>
                <a:effectLst/>
                <a:latin typeface="Arial"/>
                <a:ea typeface="Google Sans Text"/>
              </a:rPr>
              <a:t>대부분의 기업용 </a:t>
            </a:r>
            <a:r>
              <a:rPr kumimoji="0" lang="ko-KR" altLang="ko-KR" sz="900" b="0" i="0" u="none" strike="noStrike" cap="none" normalizeH="0" baseline="0" dirty="0" err="1">
                <a:solidFill>
                  <a:schemeClr val="tx1"/>
                </a:solidFill>
                <a:effectLst/>
                <a:latin typeface="Arial"/>
                <a:ea typeface="Google Sans Text"/>
              </a:rPr>
              <a:t>VoIP</a:t>
            </a:r>
            <a:r>
              <a:rPr kumimoji="0" lang="ko-KR" altLang="ko-KR" sz="900" b="0" i="0" u="none" strike="noStrike" cap="none" normalizeH="0" baseline="0" dirty="0">
                <a:solidFill>
                  <a:schemeClr val="tx1"/>
                </a:solidFill>
                <a:effectLst/>
                <a:latin typeface="Arial"/>
                <a:ea typeface="Google Sans Text"/>
              </a:rPr>
              <a:t> CTI 녹음 서비스는 </a:t>
            </a:r>
            <a:r>
              <a:rPr kumimoji="0" lang="ko-KR" altLang="ko-KR" sz="900" b="1" i="0" u="none" strike="noStrike" cap="none" normalizeH="0" baseline="0" dirty="0">
                <a:solidFill>
                  <a:schemeClr val="tx1"/>
                </a:solidFill>
                <a:effectLst/>
                <a:latin typeface="Arial"/>
                <a:ea typeface="Google Sans Text"/>
              </a:rPr>
              <a:t>통화가 종료되는 즉시 녹음 파일을 생성</a:t>
            </a:r>
            <a:r>
              <a:rPr kumimoji="0" lang="ko-KR" altLang="ko-KR" sz="900" b="0" i="0" u="none" strike="noStrike" cap="none" normalizeH="0" baseline="0" dirty="0">
                <a:solidFill>
                  <a:schemeClr val="tx1"/>
                </a:solidFill>
                <a:effectLst/>
                <a:latin typeface="Arial"/>
                <a:ea typeface="Google Sans Text"/>
              </a:rPr>
              <a:t>하도록 설계되어 있습니다.</a:t>
            </a:r>
          </a:p>
          <a:p>
            <a:pPr marL="0" marR="0" lvl="0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ko-KR" altLang="ko-KR" sz="900" b="0" i="0" u="none" strike="noStrike" cap="none" normalizeH="0" baseline="0" dirty="0">
                <a:solidFill>
                  <a:schemeClr val="tx1"/>
                </a:solidFill>
                <a:effectLst/>
                <a:latin typeface="Arial"/>
                <a:ea typeface="Google Sans Text"/>
              </a:rPr>
              <a:t>따라서 </a:t>
            </a:r>
            <a:r>
              <a:rPr kumimoji="0" lang="ko-KR" altLang="ko-KR" sz="900" b="0" i="0" u="none" strike="noStrike" cap="none" normalizeH="0" baseline="0" dirty="0" err="1">
                <a:solidFill>
                  <a:schemeClr val="tx1"/>
                </a:solidFill>
                <a:effectLst/>
                <a:latin typeface="Arial"/>
                <a:ea typeface="Google Sans Text"/>
              </a:rPr>
              <a:t>백엔드</a:t>
            </a:r>
            <a:r>
              <a:rPr kumimoji="0" lang="ko-KR" altLang="ko-KR" sz="900" b="0" i="0" u="none" strike="noStrike" cap="none" normalizeH="0" baseline="0" dirty="0">
                <a:solidFill>
                  <a:schemeClr val="tx1"/>
                </a:solidFill>
                <a:effectLst/>
                <a:latin typeface="Arial"/>
                <a:ea typeface="Google Sans Text"/>
              </a:rPr>
              <a:t> 웹 서버 입장에서는 "통신사 녹음 서버로부터 음성 파일 업로드 요청(POST)이 들어온 </a:t>
            </a:r>
            <a:r>
              <a:rPr kumimoji="0" lang="ko-KR" altLang="ko-KR" sz="900" b="0" i="0" u="none" strike="noStrike" cap="none" normalizeH="0" baseline="0" dirty="0" err="1">
                <a:solidFill>
                  <a:schemeClr val="tx1"/>
                </a:solidFill>
                <a:effectLst/>
                <a:latin typeface="Arial"/>
                <a:ea typeface="Google Sans Text"/>
              </a:rPr>
              <a:t>시점"을</a:t>
            </a:r>
            <a:r>
              <a:rPr kumimoji="0" lang="ko-KR" altLang="ko-KR" sz="900" b="0" i="0" u="none" strike="noStrike" cap="none" normalizeH="0" baseline="0" dirty="0">
                <a:solidFill>
                  <a:schemeClr val="tx1"/>
                </a:solidFill>
                <a:effectLst/>
                <a:latin typeface="Arial"/>
                <a:ea typeface="Google Sans Text"/>
              </a:rPr>
              <a:t> 곧 통화 종료 시점으로 판단합니다.</a:t>
            </a:r>
          </a:p>
          <a:p>
            <a:pPr marL="0" marR="0" lvl="0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ko-KR" altLang="ko-KR" sz="900" b="1" i="0" u="none" strike="noStrike" cap="none" normalizeH="0" baseline="0" dirty="0">
                <a:solidFill>
                  <a:schemeClr val="tx1"/>
                </a:solidFill>
                <a:effectLst/>
                <a:latin typeface="Arial"/>
                <a:ea typeface="Google Sans"/>
              </a:rPr>
              <a:t>️ 실제 작동 프로세스</a:t>
            </a:r>
          </a:p>
          <a:p>
            <a:pPr marL="0" marR="0" lvl="0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/>
              <a:defRPr/>
            </a:pPr>
            <a:r>
              <a:rPr kumimoji="0" lang="ko-KR" altLang="ko-KR" sz="900" b="0" i="0" u="none" strike="noStrike" cap="none" normalizeH="0" baseline="0" dirty="0">
                <a:solidFill>
                  <a:schemeClr val="tx1"/>
                </a:solidFill>
                <a:effectLst/>
                <a:latin typeface="Arial"/>
                <a:ea typeface="Google Sans Text"/>
              </a:rPr>
              <a:t>고객과 사장님이 일반전화(인터넷전화)로 통화를 합니다. </a:t>
            </a:r>
          </a:p>
          <a:p>
            <a:pPr marL="0" marR="0" lvl="0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2"/>
              <a:defRPr/>
            </a:pPr>
            <a:r>
              <a:rPr kumimoji="0" lang="ko-KR" altLang="ko-KR" sz="900" b="0" i="0" u="none" strike="noStrike" cap="none" normalizeH="0" baseline="0" dirty="0">
                <a:solidFill>
                  <a:schemeClr val="tx1"/>
                </a:solidFill>
                <a:effectLst/>
                <a:latin typeface="Arial"/>
                <a:ea typeface="Google Sans Text"/>
              </a:rPr>
              <a:t>두 사람이 전화를 끊으면, 통신사 교환기 시스템이 자동으로 통화 녹음을 마감하고 </a:t>
            </a:r>
            <a:r>
              <a:rPr kumimoji="0" lang="ko-KR" altLang="ko-KR" sz="900" b="0" i="0" u="none" strike="noStrike" cap="none" normalizeH="0" baseline="0" dirty="0">
                <a:solidFill>
                  <a:schemeClr val="tx1"/>
                </a:solidFill>
                <a:effectLst/>
                <a:latin typeface="Arial Unicode MS"/>
                <a:ea typeface="Google Sans Text"/>
              </a:rPr>
              <a:t>.</a:t>
            </a:r>
            <a:r>
              <a:rPr kumimoji="0" lang="ko-KR" altLang="ko-KR" sz="900" b="0" i="0" u="none" strike="noStrike" cap="none" normalizeH="0" baseline="0" dirty="0" err="1">
                <a:solidFill>
                  <a:schemeClr val="tx1"/>
                </a:solidFill>
                <a:effectLst/>
                <a:latin typeface="Arial Unicode MS"/>
                <a:ea typeface="Google Sans Text"/>
              </a:rPr>
              <a:t>wav</a:t>
            </a:r>
            <a:r>
              <a:rPr kumimoji="0" lang="ko-KR" altLang="ko-KR" sz="900" b="0" i="0" u="none" strike="noStrike" cap="none" normalizeH="0" baseline="0" dirty="0">
                <a:solidFill>
                  <a:schemeClr val="tx1"/>
                </a:solidFill>
                <a:effectLst/>
                <a:ea typeface="Google Sans Text"/>
              </a:rPr>
              <a:t> 또는 </a:t>
            </a:r>
            <a:r>
              <a:rPr kumimoji="0" lang="ko-KR" altLang="ko-KR" sz="900" b="0" i="0" u="none" strike="noStrike" cap="none" normalizeH="0" baseline="0" dirty="0">
                <a:solidFill>
                  <a:schemeClr val="tx1"/>
                </a:solidFill>
                <a:effectLst/>
                <a:latin typeface="Arial Unicode MS"/>
                <a:ea typeface="Google Sans Text"/>
              </a:rPr>
              <a:t>.mp3</a:t>
            </a:r>
            <a:r>
              <a:rPr kumimoji="0" lang="ko-KR" altLang="ko-KR" sz="900" b="0" i="0" u="none" strike="noStrike" cap="none" normalizeH="0" baseline="0" dirty="0">
                <a:solidFill>
                  <a:schemeClr val="tx1"/>
                </a:solidFill>
                <a:effectLst/>
                <a:ea typeface="Google Sans Text"/>
              </a:rPr>
              <a:t> 파일로 저장합니다.</a:t>
            </a:r>
          </a:p>
          <a:p>
            <a:pPr marL="0" marR="0" lvl="0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3"/>
              <a:defRPr/>
            </a:pPr>
            <a:r>
              <a:rPr kumimoji="0" lang="ko-KR" altLang="ko-KR" sz="900" b="0" i="0" u="none" strike="noStrike" cap="none" normalizeH="0" baseline="0" dirty="0">
                <a:solidFill>
                  <a:schemeClr val="tx1"/>
                </a:solidFill>
                <a:effectLst/>
                <a:latin typeface="Arial"/>
                <a:ea typeface="Google Sans Text"/>
              </a:rPr>
              <a:t>파일 저장이 끝나자마자 통신사 서버가 </a:t>
            </a:r>
            <a:r>
              <a:rPr kumimoji="0" lang="ko-KR" altLang="ko-KR" sz="900" b="0" i="0" u="none" strike="noStrike" cap="none" normalizeH="0" baseline="0" dirty="0" err="1">
                <a:solidFill>
                  <a:schemeClr val="tx1"/>
                </a:solidFill>
                <a:effectLst/>
                <a:latin typeface="Arial"/>
                <a:ea typeface="Google Sans Text"/>
              </a:rPr>
              <a:t>ggotAI</a:t>
            </a:r>
            <a:r>
              <a:rPr kumimoji="0" lang="ko-KR" altLang="ko-KR" sz="900" b="0" i="0" u="none" strike="noStrike" cap="none" normalizeH="0" baseline="0" dirty="0">
                <a:solidFill>
                  <a:schemeClr val="tx1"/>
                </a:solidFill>
                <a:effectLst/>
                <a:latin typeface="Arial"/>
                <a:ea typeface="Google Sans Text"/>
              </a:rPr>
              <a:t> </a:t>
            </a:r>
            <a:r>
              <a:rPr kumimoji="0" lang="ko-KR" altLang="ko-KR" sz="900" b="0" i="0" u="none" strike="noStrike" cap="none" normalizeH="0" baseline="0" dirty="0" err="1">
                <a:solidFill>
                  <a:schemeClr val="tx1"/>
                </a:solidFill>
                <a:effectLst/>
                <a:latin typeface="Arial"/>
                <a:ea typeface="Google Sans Text"/>
              </a:rPr>
              <a:t>백엔드</a:t>
            </a:r>
            <a:r>
              <a:rPr kumimoji="0" lang="ko-KR" altLang="ko-KR" sz="900" b="0" i="0" u="none" strike="noStrike" cap="none" normalizeH="0" baseline="0" dirty="0">
                <a:solidFill>
                  <a:schemeClr val="tx1"/>
                </a:solidFill>
                <a:effectLst/>
                <a:latin typeface="Arial"/>
                <a:ea typeface="Google Sans Text"/>
              </a:rPr>
              <a:t> API(</a:t>
            </a:r>
            <a:r>
              <a:rPr kumimoji="0" lang="ko-KR" altLang="ko-KR" sz="900" b="0" i="0" u="none" strike="noStrike" cap="none" normalizeH="0" baseline="0" dirty="0">
                <a:solidFill>
                  <a:schemeClr val="tx1"/>
                </a:solidFill>
                <a:effectLst/>
                <a:latin typeface="Arial Unicode MS"/>
                <a:ea typeface="Google Sans Text"/>
              </a:rPr>
              <a:t>/</a:t>
            </a:r>
            <a:r>
              <a:rPr kumimoji="0" lang="ko-KR" altLang="ko-KR" sz="900" b="0" i="0" u="none" strike="noStrike" cap="none" normalizeH="0" baseline="0" dirty="0" err="1">
                <a:solidFill>
                  <a:schemeClr val="tx1"/>
                </a:solidFill>
                <a:effectLst/>
                <a:latin typeface="Arial Unicode MS"/>
                <a:ea typeface="Google Sans Text"/>
              </a:rPr>
              <a:t>api</a:t>
            </a:r>
            <a:r>
              <a:rPr kumimoji="0" lang="ko-KR" altLang="ko-KR" sz="900" b="0" i="0" u="none" strike="noStrike" cap="none" normalizeH="0" baseline="0" dirty="0">
                <a:solidFill>
                  <a:schemeClr val="tx1"/>
                </a:solidFill>
                <a:effectLst/>
                <a:latin typeface="Arial Unicode MS"/>
                <a:ea typeface="Google Sans Text"/>
              </a:rPr>
              <a:t>/v1/</a:t>
            </a:r>
            <a:r>
              <a:rPr kumimoji="0" lang="ko-KR" altLang="ko-KR" sz="900" b="0" i="0" u="none" strike="noStrike" cap="none" normalizeH="0" baseline="0" dirty="0" err="1">
                <a:solidFill>
                  <a:schemeClr val="tx1"/>
                </a:solidFill>
                <a:effectLst/>
                <a:latin typeface="Arial Unicode MS"/>
                <a:ea typeface="Google Sans Text"/>
              </a:rPr>
              <a:t>gate-phone</a:t>
            </a:r>
            <a:r>
              <a:rPr kumimoji="0" lang="ko-KR" altLang="ko-KR" sz="900" b="0" i="0" u="none" strike="noStrike" cap="none" normalizeH="0" baseline="0" dirty="0">
                <a:solidFill>
                  <a:schemeClr val="tx1"/>
                </a:solidFill>
                <a:effectLst/>
                <a:latin typeface="Arial Unicode MS"/>
                <a:ea typeface="Google Sans Text"/>
              </a:rPr>
              <a:t>/</a:t>
            </a:r>
            <a:r>
              <a:rPr kumimoji="0" lang="ko-KR" altLang="ko-KR" sz="900" b="0" i="0" u="none" strike="noStrike" cap="none" normalizeH="0" baseline="0" dirty="0" err="1">
                <a:solidFill>
                  <a:schemeClr val="tx1"/>
                </a:solidFill>
                <a:effectLst/>
                <a:latin typeface="Arial Unicode MS"/>
                <a:ea typeface="Google Sans Text"/>
              </a:rPr>
              <a:t>upload</a:t>
            </a:r>
            <a:r>
              <a:rPr kumimoji="0" lang="ko-KR" altLang="ko-KR" sz="900" b="0" i="0" u="none" strike="noStrike" cap="none" normalizeH="0" baseline="0" dirty="0">
                <a:solidFill>
                  <a:schemeClr val="tx1"/>
                </a:solidFill>
                <a:effectLst/>
                <a:ea typeface="Google Sans Text"/>
              </a:rPr>
              <a:t>)로 </a:t>
            </a:r>
            <a:r>
              <a:rPr kumimoji="0" lang="ko-KR" altLang="ko-KR" sz="900" b="1" i="0" u="none" strike="noStrike" cap="none" normalizeH="0" baseline="0" dirty="0">
                <a:solidFill>
                  <a:schemeClr val="tx1"/>
                </a:solidFill>
                <a:effectLst/>
                <a:latin typeface="Arial"/>
                <a:ea typeface="Google Sans Text"/>
              </a:rPr>
              <a:t>음성 파일과 발신자 번호 정보를 담아 </a:t>
            </a:r>
            <a:r>
              <a:rPr kumimoji="0" lang="ko-KR" altLang="ko-KR" sz="900" b="1" i="0" u="none" strike="noStrike" cap="none" normalizeH="0" baseline="0" dirty="0" err="1">
                <a:solidFill>
                  <a:schemeClr val="tx1"/>
                </a:solidFill>
                <a:effectLst/>
                <a:latin typeface="Arial"/>
                <a:ea typeface="Google Sans Text"/>
              </a:rPr>
              <a:t>Multipart</a:t>
            </a:r>
            <a:r>
              <a:rPr kumimoji="0" lang="ko-KR" altLang="ko-KR" sz="900" b="1" i="0" u="none" strike="noStrike" cap="none" normalizeH="0" baseline="0" dirty="0">
                <a:solidFill>
                  <a:schemeClr val="tx1"/>
                </a:solidFill>
                <a:effectLst/>
                <a:latin typeface="Arial"/>
                <a:ea typeface="Google Sans Text"/>
              </a:rPr>
              <a:t> 업로드 요청</a:t>
            </a:r>
            <a:r>
              <a:rPr kumimoji="0" lang="ko-KR" altLang="ko-KR" sz="900" b="0" i="0" u="none" strike="noStrike" cap="none" normalizeH="0" baseline="0" dirty="0">
                <a:solidFill>
                  <a:schemeClr val="tx1"/>
                </a:solidFill>
                <a:effectLst/>
                <a:latin typeface="Arial"/>
                <a:ea typeface="Google Sans Text"/>
              </a:rPr>
              <a:t>을 보냅니다.</a:t>
            </a:r>
          </a:p>
          <a:p>
            <a:pPr marL="0" marR="0" lvl="0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4"/>
              <a:defRPr/>
            </a:pPr>
            <a:r>
              <a:rPr kumimoji="0" lang="ko-KR" altLang="ko-KR" sz="900" b="0" i="0" u="none" strike="noStrike" cap="none" normalizeH="0" baseline="0" dirty="0" err="1">
                <a:solidFill>
                  <a:schemeClr val="tx1"/>
                </a:solidFill>
                <a:effectLst/>
                <a:latin typeface="Arial"/>
                <a:ea typeface="Google Sans Text"/>
              </a:rPr>
              <a:t>백엔드</a:t>
            </a:r>
            <a:r>
              <a:rPr kumimoji="0" lang="ko-KR" altLang="ko-KR" sz="900" b="0" i="0" u="none" strike="noStrike" cap="none" normalizeH="0" baseline="0" dirty="0">
                <a:solidFill>
                  <a:schemeClr val="tx1"/>
                </a:solidFill>
                <a:effectLst/>
                <a:latin typeface="Arial"/>
                <a:ea typeface="Google Sans Text"/>
              </a:rPr>
              <a:t> 웹은 이 파일 업로드 </a:t>
            </a:r>
            <a:r>
              <a:rPr kumimoji="0" lang="ko-KR" altLang="ko-KR" sz="900" b="0" i="0" u="none" strike="noStrike" cap="none" normalizeH="0" baseline="0" dirty="0" err="1">
                <a:solidFill>
                  <a:schemeClr val="tx1"/>
                </a:solidFill>
                <a:effectLst/>
                <a:latin typeface="Arial"/>
                <a:ea typeface="Google Sans Text"/>
              </a:rPr>
              <a:t>API가</a:t>
            </a:r>
            <a:r>
              <a:rPr kumimoji="0" lang="ko-KR" altLang="ko-KR" sz="900" b="0" i="0" u="none" strike="noStrike" cap="none" normalizeH="0" baseline="0" dirty="0">
                <a:solidFill>
                  <a:schemeClr val="tx1"/>
                </a:solidFill>
                <a:effectLst/>
                <a:latin typeface="Arial"/>
                <a:ea typeface="Google Sans Text"/>
              </a:rPr>
              <a:t> 호출되는 순간 "통화가 끝났으니 파일이 </a:t>
            </a:r>
            <a:r>
              <a:rPr kumimoji="0" lang="ko-KR" altLang="ko-KR" sz="900" b="0" i="0" u="none" strike="noStrike" cap="none" normalizeH="0" baseline="0" dirty="0" err="1">
                <a:solidFill>
                  <a:schemeClr val="tx1"/>
                </a:solidFill>
                <a:effectLst/>
                <a:latin typeface="Arial"/>
                <a:ea typeface="Google Sans Text"/>
              </a:rPr>
              <a:t>넘어왔구나"라고</a:t>
            </a:r>
            <a:r>
              <a:rPr kumimoji="0" lang="ko-KR" altLang="ko-KR" sz="900" b="0" i="0" u="none" strike="noStrike" cap="none" normalizeH="0" baseline="0" dirty="0">
                <a:solidFill>
                  <a:schemeClr val="tx1"/>
                </a:solidFill>
                <a:effectLst/>
                <a:latin typeface="Arial"/>
                <a:ea typeface="Google Sans Text"/>
              </a:rPr>
              <a:t> 인지하고, 즉시 다음 단계인 </a:t>
            </a:r>
            <a:r>
              <a:rPr kumimoji="0" lang="ko-KR" altLang="ko-KR" sz="900" b="0" i="0" u="none" strike="noStrike" cap="none" normalizeH="0" baseline="0" dirty="0" err="1">
                <a:solidFill>
                  <a:schemeClr val="tx1"/>
                </a:solidFill>
                <a:effectLst/>
                <a:latin typeface="Arial"/>
                <a:ea typeface="Google Sans Text"/>
              </a:rPr>
              <a:t>Whisper</a:t>
            </a:r>
            <a:r>
              <a:rPr kumimoji="0" lang="ko-KR" altLang="ko-KR" sz="900" b="0" i="0" u="none" strike="noStrike" cap="none" normalizeH="0" baseline="0" dirty="0">
                <a:solidFill>
                  <a:schemeClr val="tx1"/>
                </a:solidFill>
                <a:effectLst/>
                <a:latin typeface="Arial"/>
                <a:ea typeface="Google Sans Text"/>
              </a:rPr>
              <a:t>(STT)와 </a:t>
            </a:r>
            <a:r>
              <a:rPr kumimoji="0" lang="en-US" altLang="ko-KR" sz="900" b="0" i="0" u="none" strike="noStrike" cap="none" normalizeH="0" baseline="0" dirty="0" smtClean="0">
                <a:solidFill>
                  <a:schemeClr val="tx1"/>
                </a:solidFill>
                <a:effectLst/>
                <a:latin typeface="Arial"/>
                <a:ea typeface="Google Sans Text"/>
              </a:rPr>
              <a:t>Gemini</a:t>
            </a:r>
            <a:r>
              <a:rPr kumimoji="0" lang="ko-KR" altLang="ko-KR" sz="900" b="0" i="0" u="none" strike="noStrike" cap="none" normalizeH="0" baseline="0" dirty="0" smtClean="0">
                <a:solidFill>
                  <a:schemeClr val="tx1"/>
                </a:solidFill>
                <a:effectLst/>
                <a:latin typeface="Arial"/>
                <a:ea typeface="Google Sans Text"/>
              </a:rPr>
              <a:t>(LLM</a:t>
            </a:r>
            <a:r>
              <a:rPr kumimoji="0" lang="ko-KR" altLang="ko-KR" sz="900" b="0" i="0" u="none" strike="noStrike" cap="none" normalizeH="0" baseline="0" dirty="0">
                <a:solidFill>
                  <a:schemeClr val="tx1"/>
                </a:solidFill>
                <a:effectLst/>
                <a:latin typeface="Arial"/>
                <a:ea typeface="Google Sans Text"/>
              </a:rPr>
              <a:t>) 라인을 실행합니다. </a:t>
            </a:r>
          </a:p>
          <a:p>
            <a:pPr marL="0" marR="0" lvl="0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0" lang="ko-KR" altLang="ko-KR" sz="900" b="1" i="0" u="none" strike="noStrike" cap="none" normalizeH="0" baseline="0" dirty="0">
              <a:solidFill>
                <a:schemeClr val="tx1"/>
              </a:solidFill>
              <a:effectLst/>
              <a:latin typeface="Arial"/>
              <a:ea typeface="Google Sans"/>
            </a:endParaRPr>
          </a:p>
          <a:p>
            <a:pPr marL="0" marR="0" lvl="0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ko-KR" altLang="ko-KR" sz="900" b="1" i="0" u="none" strike="noStrike" cap="none" normalizeH="0" baseline="0" dirty="0">
                <a:solidFill>
                  <a:schemeClr val="tx1"/>
                </a:solidFill>
                <a:effectLst/>
                <a:latin typeface="Arial"/>
                <a:ea typeface="Google Sans"/>
              </a:rPr>
              <a:t>🤖 </a:t>
            </a:r>
            <a:r>
              <a:rPr kumimoji="0" lang="ko-KR" altLang="ko-KR" sz="900" b="1" i="0" u="none" strike="noStrike" cap="none" normalizeH="0" baseline="0" dirty="0" err="1">
                <a:solidFill>
                  <a:schemeClr val="tx1"/>
                </a:solidFill>
                <a:effectLst/>
                <a:latin typeface="Arial"/>
                <a:ea typeface="Google Sans"/>
              </a:rPr>
              <a:t>바이브</a:t>
            </a:r>
            <a:r>
              <a:rPr kumimoji="0" lang="ko-KR" altLang="ko-KR" sz="900" b="1" i="0" u="none" strike="noStrike" cap="none" normalizeH="0" baseline="0" dirty="0">
                <a:solidFill>
                  <a:schemeClr val="tx1"/>
                </a:solidFill>
                <a:effectLst/>
                <a:latin typeface="Arial"/>
                <a:ea typeface="Google Sans"/>
              </a:rPr>
              <a:t> 코딩 시 </a:t>
            </a:r>
            <a:r>
              <a:rPr kumimoji="0" lang="ko-KR" altLang="ko-KR" sz="900" b="1" i="0" u="none" strike="noStrike" cap="none" normalizeH="0" baseline="0" dirty="0" err="1">
                <a:solidFill>
                  <a:schemeClr val="tx1"/>
                </a:solidFill>
                <a:effectLst/>
                <a:latin typeface="Arial"/>
                <a:ea typeface="Google Sans"/>
              </a:rPr>
              <a:t>AI에게</a:t>
            </a:r>
            <a:r>
              <a:rPr kumimoji="0" lang="ko-KR" altLang="ko-KR" sz="900" b="1" i="0" u="none" strike="noStrike" cap="none" normalizeH="0" baseline="0" dirty="0">
                <a:solidFill>
                  <a:schemeClr val="tx1"/>
                </a:solidFill>
                <a:effectLst/>
                <a:latin typeface="Arial"/>
                <a:ea typeface="Google Sans"/>
              </a:rPr>
              <a:t> 주입할 </a:t>
            </a:r>
            <a:r>
              <a:rPr kumimoji="0" lang="ko-KR" altLang="ko-KR" sz="900" b="1" i="0" u="none" strike="noStrike" cap="none" normalizeH="0" baseline="0" dirty="0" err="1">
                <a:solidFill>
                  <a:schemeClr val="tx1"/>
                </a:solidFill>
                <a:effectLst/>
                <a:latin typeface="Arial"/>
                <a:ea typeface="Google Sans"/>
              </a:rPr>
              <a:t>백엔드</a:t>
            </a:r>
            <a:r>
              <a:rPr kumimoji="0" lang="ko-KR" altLang="ko-KR" sz="900" b="1" i="0" u="none" strike="noStrike" cap="none" normalizeH="0" baseline="0" dirty="0">
                <a:solidFill>
                  <a:schemeClr val="tx1"/>
                </a:solidFill>
                <a:effectLst/>
                <a:latin typeface="Arial"/>
                <a:ea typeface="Google Sans"/>
              </a:rPr>
              <a:t>(</a:t>
            </a:r>
            <a:r>
              <a:rPr kumimoji="0" lang="ko-KR" altLang="ko-KR" sz="900" b="1" i="0" u="none" strike="noStrike" cap="none" normalizeH="0" baseline="0" dirty="0" err="1">
                <a:solidFill>
                  <a:schemeClr val="tx1"/>
                </a:solidFill>
                <a:effectLst/>
                <a:latin typeface="Arial"/>
                <a:ea typeface="Google Sans"/>
              </a:rPr>
              <a:t>FastAPI</a:t>
            </a:r>
            <a:r>
              <a:rPr kumimoji="0" lang="ko-KR" altLang="ko-KR" sz="900" b="1" i="0" u="none" strike="noStrike" cap="none" normalizeH="0" baseline="0" dirty="0">
                <a:solidFill>
                  <a:schemeClr val="tx1"/>
                </a:solidFill>
                <a:effectLst/>
                <a:latin typeface="Arial"/>
                <a:ea typeface="Google Sans"/>
              </a:rPr>
              <a:t>) 개념</a:t>
            </a:r>
          </a:p>
          <a:p>
            <a:pPr marL="0" marR="0" lvl="0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ko-KR" altLang="ko-KR" sz="900" b="0" i="0" u="none" strike="noStrike" cap="none" normalizeH="0" baseline="0" dirty="0" err="1">
                <a:solidFill>
                  <a:schemeClr val="tx1"/>
                </a:solidFill>
                <a:effectLst/>
                <a:latin typeface="Arial"/>
                <a:ea typeface="Google Sans Text"/>
              </a:rPr>
              <a:t>바이브</a:t>
            </a:r>
            <a:r>
              <a:rPr kumimoji="0" lang="ko-KR" altLang="ko-KR" sz="900" b="0" i="0" u="none" strike="noStrike" cap="none" normalizeH="0" baseline="0" dirty="0">
                <a:solidFill>
                  <a:schemeClr val="tx1"/>
                </a:solidFill>
                <a:effectLst/>
                <a:latin typeface="Arial"/>
                <a:ea typeface="Google Sans Text"/>
              </a:rPr>
              <a:t> 코딩으로 </a:t>
            </a:r>
            <a:r>
              <a:rPr kumimoji="0" lang="ko-KR" altLang="ko-KR" sz="900" b="0" i="0" u="none" strike="noStrike" cap="none" normalizeH="0" baseline="0" dirty="0" err="1">
                <a:solidFill>
                  <a:schemeClr val="tx1"/>
                </a:solidFill>
                <a:effectLst/>
                <a:latin typeface="Arial"/>
                <a:ea typeface="Google Sans Text"/>
              </a:rPr>
              <a:t>백엔드</a:t>
            </a:r>
            <a:r>
              <a:rPr kumimoji="0" lang="ko-KR" altLang="ko-KR" sz="900" b="0" i="0" u="none" strike="noStrike" cap="none" normalizeH="0" baseline="0" dirty="0">
                <a:solidFill>
                  <a:schemeClr val="tx1"/>
                </a:solidFill>
                <a:effectLst/>
                <a:latin typeface="Arial"/>
                <a:ea typeface="Google Sans Text"/>
              </a:rPr>
              <a:t> 수신 코드를 짤 때, </a:t>
            </a:r>
            <a:r>
              <a:rPr kumimoji="0" lang="ko-KR" altLang="ko-KR" sz="900" b="0" i="0" u="none" strike="noStrike" cap="none" normalizeH="0" baseline="0" dirty="0" err="1">
                <a:solidFill>
                  <a:schemeClr val="tx1"/>
                </a:solidFill>
                <a:effectLst/>
                <a:latin typeface="Arial"/>
                <a:ea typeface="Google Sans Text"/>
              </a:rPr>
              <a:t>AI가</a:t>
            </a:r>
            <a:r>
              <a:rPr kumimoji="0" lang="ko-KR" altLang="ko-KR" sz="900" b="0" i="0" u="none" strike="noStrike" cap="none" normalizeH="0" baseline="0" dirty="0">
                <a:solidFill>
                  <a:schemeClr val="tx1"/>
                </a:solidFill>
                <a:effectLst/>
                <a:latin typeface="Arial"/>
                <a:ea typeface="Google Sans Text"/>
              </a:rPr>
              <a:t> 통신사 규격에 맞게 이벤트를 처리하도록 아래와 같은 구조를 제시하면 아주 좋습니다.</a:t>
            </a:r>
          </a:p>
          <a:p>
            <a:pPr lvl="0">
              <a:defRPr/>
            </a:pPr>
            <a:r>
              <a:rPr lang="ko-KR" altLang="en-US" sz="900" dirty="0"/>
              <a:t>🤖 </a:t>
            </a:r>
            <a:r>
              <a:rPr lang="ko-KR" altLang="en-US" sz="900" dirty="0" err="1"/>
              <a:t>바이브</a:t>
            </a:r>
            <a:r>
              <a:rPr lang="ko-KR" altLang="en-US" sz="900" dirty="0"/>
              <a:t> 코딩 시 </a:t>
            </a:r>
            <a:r>
              <a:rPr lang="ko-KR" altLang="en-US" sz="900" dirty="0" err="1"/>
              <a:t>AI에게</a:t>
            </a:r>
            <a:r>
              <a:rPr lang="ko-KR" altLang="en-US" sz="900" dirty="0"/>
              <a:t> 주입할 </a:t>
            </a:r>
            <a:r>
              <a:rPr lang="ko-KR" altLang="en-US" sz="900" dirty="0" err="1"/>
              <a:t>백엔드</a:t>
            </a:r>
            <a:r>
              <a:rPr lang="ko-KR" altLang="en-US" sz="900" dirty="0"/>
              <a:t>(</a:t>
            </a:r>
            <a:r>
              <a:rPr lang="ko-KR" altLang="en-US" sz="900" dirty="0" err="1"/>
              <a:t>FastAPI</a:t>
            </a:r>
            <a:r>
              <a:rPr lang="ko-KR" altLang="en-US" sz="900" dirty="0"/>
              <a:t>) 개념</a:t>
            </a:r>
          </a:p>
          <a:p>
            <a:pPr lvl="0">
              <a:defRPr/>
            </a:pPr>
            <a:r>
              <a:rPr lang="ko-KR" altLang="en-US" sz="900" dirty="0" err="1"/>
              <a:t>바이브</a:t>
            </a:r>
            <a:r>
              <a:rPr lang="ko-KR" altLang="en-US" sz="900" dirty="0"/>
              <a:t> 코딩으로 </a:t>
            </a:r>
            <a:r>
              <a:rPr lang="ko-KR" altLang="en-US" sz="900" dirty="0" err="1"/>
              <a:t>백엔드</a:t>
            </a:r>
            <a:r>
              <a:rPr lang="ko-KR" altLang="en-US" sz="900" dirty="0"/>
              <a:t> 수신 코드를 짤 때, </a:t>
            </a:r>
            <a:r>
              <a:rPr lang="ko-KR" altLang="en-US" sz="900" dirty="0" err="1"/>
              <a:t>AI가</a:t>
            </a:r>
            <a:r>
              <a:rPr lang="ko-KR" altLang="en-US" sz="900" dirty="0"/>
              <a:t> 통신사 규격에 맞게 이벤트를 처리하도록 아래와 같은 구조를 제시하면 아주 좋습니다.</a:t>
            </a:r>
          </a:p>
          <a:p>
            <a:pPr lvl="0">
              <a:defRPr/>
            </a:pPr>
            <a:endParaRPr lang="ko-KR" altLang="en-US" sz="900" dirty="0"/>
          </a:p>
          <a:p>
            <a:pPr lvl="0">
              <a:defRPr/>
            </a:pPr>
            <a:r>
              <a:rPr lang="ko-KR" altLang="en-US" sz="900" dirty="0" err="1"/>
              <a:t>Python</a:t>
            </a:r>
            <a:endParaRPr lang="ko-KR" altLang="en-US" sz="900" dirty="0"/>
          </a:p>
          <a:p>
            <a:pPr lvl="0">
              <a:defRPr/>
            </a:pPr>
            <a:r>
              <a:rPr lang="ko-KR" altLang="en-US" sz="900" dirty="0" err="1"/>
              <a:t>from</a:t>
            </a:r>
            <a:r>
              <a:rPr lang="ko-KR" altLang="en-US" sz="900" dirty="0"/>
              <a:t> </a:t>
            </a:r>
            <a:r>
              <a:rPr lang="ko-KR" altLang="en-US" sz="900" dirty="0" err="1"/>
              <a:t>fastapi</a:t>
            </a:r>
            <a:r>
              <a:rPr lang="ko-KR" altLang="en-US" sz="900" dirty="0"/>
              <a:t> </a:t>
            </a:r>
            <a:r>
              <a:rPr lang="ko-KR" altLang="en-US" sz="900" dirty="0" err="1"/>
              <a:t>import</a:t>
            </a:r>
            <a:r>
              <a:rPr lang="ko-KR" altLang="en-US" sz="900" dirty="0"/>
              <a:t> </a:t>
            </a:r>
            <a:r>
              <a:rPr lang="ko-KR" altLang="en-US" sz="900" dirty="0" err="1"/>
              <a:t>FastAPI</a:t>
            </a:r>
            <a:r>
              <a:rPr lang="ko-KR" altLang="en-US" sz="900" dirty="0"/>
              <a:t>, </a:t>
            </a:r>
            <a:r>
              <a:rPr lang="ko-KR" altLang="en-US" sz="900" dirty="0" err="1"/>
              <a:t>File</a:t>
            </a:r>
            <a:r>
              <a:rPr lang="ko-KR" altLang="en-US" sz="900" dirty="0"/>
              <a:t>, </a:t>
            </a:r>
            <a:r>
              <a:rPr lang="ko-KR" altLang="en-US" sz="900" dirty="0" err="1"/>
              <a:t>UploadFile</a:t>
            </a:r>
            <a:r>
              <a:rPr lang="ko-KR" altLang="en-US" sz="900" dirty="0"/>
              <a:t>, </a:t>
            </a:r>
            <a:r>
              <a:rPr lang="ko-KR" altLang="en-US" sz="900" dirty="0" err="1"/>
              <a:t>Form</a:t>
            </a:r>
            <a:endParaRPr lang="ko-KR" altLang="en-US" sz="900" dirty="0"/>
          </a:p>
          <a:p>
            <a:pPr lvl="0">
              <a:defRPr/>
            </a:pPr>
            <a:endParaRPr lang="ko-KR" altLang="en-US" sz="900" dirty="0"/>
          </a:p>
          <a:p>
            <a:pPr lvl="0">
              <a:defRPr/>
            </a:pPr>
            <a:r>
              <a:rPr lang="ko-KR" altLang="en-US" sz="900" dirty="0" err="1"/>
              <a:t>app</a:t>
            </a:r>
            <a:r>
              <a:rPr lang="ko-KR" altLang="en-US" sz="900" dirty="0"/>
              <a:t> = </a:t>
            </a:r>
            <a:r>
              <a:rPr lang="ko-KR" altLang="en-US" sz="900" dirty="0" err="1"/>
              <a:t>FastAPI</a:t>
            </a:r>
            <a:r>
              <a:rPr lang="ko-KR" altLang="en-US" sz="900" dirty="0"/>
              <a:t>()</a:t>
            </a:r>
          </a:p>
          <a:p>
            <a:pPr lvl="0">
              <a:defRPr/>
            </a:pPr>
            <a:endParaRPr lang="ko-KR" altLang="en-US" sz="900" dirty="0"/>
          </a:p>
          <a:p>
            <a:pPr lvl="0">
              <a:defRPr/>
            </a:pPr>
            <a:r>
              <a:rPr lang="ko-KR" altLang="en-US" sz="900" dirty="0"/>
              <a:t># 통신사 서버가 통화 종료 후 음성 파일과 통화 정보를 쏴주는 </a:t>
            </a:r>
            <a:r>
              <a:rPr lang="ko-KR" altLang="en-US" sz="900" dirty="0" err="1"/>
              <a:t>엔드포인트</a:t>
            </a:r>
            <a:endParaRPr lang="ko-KR" altLang="en-US" sz="900" dirty="0"/>
          </a:p>
          <a:p>
            <a:pPr lvl="0">
              <a:defRPr/>
            </a:pPr>
            <a:r>
              <a:rPr lang="ko-KR" altLang="en-US" sz="900" dirty="0"/>
              <a:t>@</a:t>
            </a:r>
            <a:r>
              <a:rPr lang="ko-KR" altLang="en-US" sz="900" dirty="0" err="1"/>
              <a:t>app.post</a:t>
            </a:r>
            <a:r>
              <a:rPr lang="ko-KR" altLang="en-US" sz="900" dirty="0"/>
              <a:t>("/</a:t>
            </a:r>
            <a:r>
              <a:rPr lang="ko-KR" altLang="en-US" sz="900" dirty="0" err="1"/>
              <a:t>api</a:t>
            </a:r>
            <a:r>
              <a:rPr lang="ko-KR" altLang="en-US" sz="900" dirty="0"/>
              <a:t>/v1/</a:t>
            </a:r>
            <a:r>
              <a:rPr lang="ko-KR" altLang="en-US" sz="900" dirty="0" err="1"/>
              <a:t>gate-phone</a:t>
            </a:r>
            <a:r>
              <a:rPr lang="ko-KR" altLang="en-US" sz="900" dirty="0"/>
              <a:t>/</a:t>
            </a:r>
            <a:r>
              <a:rPr lang="ko-KR" altLang="en-US" sz="900" dirty="0" err="1"/>
              <a:t>upload</a:t>
            </a:r>
            <a:r>
              <a:rPr lang="ko-KR" altLang="en-US" sz="900" dirty="0"/>
              <a:t>")</a:t>
            </a:r>
          </a:p>
          <a:p>
            <a:pPr lvl="0">
              <a:defRPr/>
            </a:pPr>
            <a:r>
              <a:rPr lang="ko-KR" altLang="en-US" sz="900" dirty="0" err="1"/>
              <a:t>async</a:t>
            </a:r>
            <a:r>
              <a:rPr lang="ko-KR" altLang="en-US" sz="900" dirty="0"/>
              <a:t> </a:t>
            </a:r>
            <a:r>
              <a:rPr lang="ko-KR" altLang="en-US" sz="900" dirty="0" err="1"/>
              <a:t>def</a:t>
            </a:r>
            <a:r>
              <a:rPr lang="ko-KR" altLang="en-US" sz="900" dirty="0"/>
              <a:t> </a:t>
            </a:r>
            <a:r>
              <a:rPr lang="ko-KR" altLang="en-US" sz="900" dirty="0" err="1"/>
              <a:t>receive_gate_phone_call</a:t>
            </a:r>
            <a:r>
              <a:rPr lang="ko-KR" altLang="en-US" sz="900" dirty="0"/>
              <a:t>(</a:t>
            </a:r>
          </a:p>
          <a:p>
            <a:pPr lvl="0">
              <a:defRPr/>
            </a:pPr>
            <a:r>
              <a:rPr lang="ko-KR" altLang="en-US" sz="900" dirty="0"/>
              <a:t>    file: </a:t>
            </a:r>
            <a:r>
              <a:rPr lang="ko-KR" altLang="en-US" sz="900" dirty="0" err="1"/>
              <a:t>UploadFile</a:t>
            </a:r>
            <a:r>
              <a:rPr lang="ko-KR" altLang="en-US" sz="900" dirty="0"/>
              <a:t> = </a:t>
            </a:r>
            <a:r>
              <a:rPr lang="ko-KR" altLang="en-US" sz="900" dirty="0" err="1"/>
              <a:t>File</a:t>
            </a:r>
            <a:r>
              <a:rPr lang="ko-KR" altLang="en-US" sz="900" dirty="0"/>
              <a:t>(...),                  # 통신사가 보낸 녹음 파일</a:t>
            </a:r>
          </a:p>
          <a:p>
            <a:pPr lvl="0">
              <a:defRPr/>
            </a:pPr>
            <a:r>
              <a:rPr lang="ko-KR" altLang="en-US" sz="900" dirty="0"/>
              <a:t>    </a:t>
            </a:r>
            <a:r>
              <a:rPr lang="ko-KR" altLang="en-US" sz="900" dirty="0" err="1"/>
              <a:t>caller_number</a:t>
            </a:r>
            <a:r>
              <a:rPr lang="ko-KR" altLang="en-US" sz="900" dirty="0"/>
              <a:t>: </a:t>
            </a:r>
            <a:r>
              <a:rPr lang="ko-KR" altLang="en-US" sz="900" dirty="0" err="1"/>
              <a:t>str</a:t>
            </a:r>
            <a:r>
              <a:rPr lang="ko-KR" altLang="en-US" sz="900" dirty="0"/>
              <a:t> = </a:t>
            </a:r>
            <a:r>
              <a:rPr lang="ko-KR" altLang="en-US" sz="900" dirty="0" err="1"/>
              <a:t>Form</a:t>
            </a:r>
            <a:r>
              <a:rPr lang="ko-KR" altLang="en-US" sz="900" dirty="0"/>
              <a:t>(...),                # 전화를 건 고객 번호</a:t>
            </a:r>
          </a:p>
          <a:p>
            <a:pPr lvl="0">
              <a:defRPr/>
            </a:pPr>
            <a:r>
              <a:rPr lang="ko-KR" altLang="en-US" sz="900" dirty="0"/>
              <a:t>    </a:t>
            </a:r>
            <a:r>
              <a:rPr lang="ko-KR" altLang="en-US" sz="900" dirty="0" err="1"/>
              <a:t>call_duration</a:t>
            </a:r>
            <a:r>
              <a:rPr lang="ko-KR" altLang="en-US" sz="900" dirty="0"/>
              <a:t>: </a:t>
            </a:r>
            <a:r>
              <a:rPr lang="ko-KR" altLang="en-US" sz="900" dirty="0" err="1"/>
              <a:t>int</a:t>
            </a:r>
            <a:r>
              <a:rPr lang="ko-KR" altLang="en-US" sz="900" dirty="0"/>
              <a:t> = </a:t>
            </a:r>
            <a:r>
              <a:rPr lang="ko-KR" altLang="en-US" sz="900" dirty="0" err="1"/>
              <a:t>Form</a:t>
            </a:r>
            <a:r>
              <a:rPr lang="ko-KR" altLang="en-US" sz="900" dirty="0"/>
              <a:t>(...),                # 통화 시간(초)</a:t>
            </a:r>
          </a:p>
          <a:p>
            <a:pPr lvl="0">
              <a:defRPr/>
            </a:pPr>
            <a:r>
              <a:rPr lang="ko-KR" altLang="en-US" sz="900" dirty="0"/>
              <a:t>    </a:t>
            </a:r>
            <a:r>
              <a:rPr lang="ko-KR" altLang="en-US" sz="900" dirty="0" err="1"/>
              <a:t>user_phone_number</a:t>
            </a:r>
            <a:r>
              <a:rPr lang="ko-KR" altLang="en-US" sz="900" dirty="0"/>
              <a:t>: </a:t>
            </a:r>
            <a:r>
              <a:rPr lang="ko-KR" altLang="en-US" sz="900" dirty="0" err="1"/>
              <a:t>str</a:t>
            </a:r>
            <a:r>
              <a:rPr lang="ko-KR" altLang="en-US" sz="900" dirty="0"/>
              <a:t> = </a:t>
            </a:r>
            <a:r>
              <a:rPr lang="ko-KR" altLang="en-US" sz="900" dirty="0" err="1"/>
              <a:t>Form</a:t>
            </a:r>
            <a:r>
              <a:rPr lang="ko-KR" altLang="en-US" sz="900" dirty="0"/>
              <a:t>(...)             # 전화를 받은 가게 전화번호 [</a:t>
            </a:r>
            <a:r>
              <a:rPr lang="ko-KR" altLang="en-US" sz="900" dirty="0" err="1"/>
              <a:t>cite</a:t>
            </a:r>
            <a:r>
              <a:rPr lang="ko-KR" altLang="en-US" sz="900" dirty="0"/>
              <a:t>: 434]</a:t>
            </a:r>
          </a:p>
          <a:p>
            <a:pPr lvl="0">
              <a:defRPr/>
            </a:pPr>
            <a:r>
              <a:rPr lang="ko-KR" altLang="en-US" sz="900" dirty="0"/>
              <a:t>):</a:t>
            </a:r>
          </a:p>
          <a:p>
            <a:pPr lvl="0">
              <a:defRPr/>
            </a:pPr>
            <a:r>
              <a:rPr lang="ko-KR" altLang="en-US" sz="900" dirty="0"/>
              <a:t>    # 1. 이 </a:t>
            </a:r>
            <a:r>
              <a:rPr lang="ko-KR" altLang="en-US" sz="900" dirty="0" err="1"/>
              <a:t>API가</a:t>
            </a:r>
            <a:r>
              <a:rPr lang="ko-KR" altLang="en-US" sz="900" dirty="0"/>
              <a:t> 호출되었다는 것 자체가 "통화 </a:t>
            </a:r>
            <a:r>
              <a:rPr lang="ko-KR" altLang="en-US" sz="900" dirty="0" err="1"/>
              <a:t>종료"를</a:t>
            </a:r>
            <a:r>
              <a:rPr lang="ko-KR" altLang="en-US" sz="900" dirty="0"/>
              <a:t> 의미함</a:t>
            </a:r>
          </a:p>
          <a:p>
            <a:pPr lvl="0">
              <a:defRPr/>
            </a:pPr>
            <a:r>
              <a:rPr lang="ko-KR" altLang="en-US" sz="900" dirty="0"/>
              <a:t>    </a:t>
            </a:r>
            <a:r>
              <a:rPr lang="ko-KR" altLang="en-US" sz="900" dirty="0" err="1"/>
              <a:t>print</a:t>
            </a:r>
            <a:r>
              <a:rPr lang="ko-KR" altLang="en-US" sz="900" dirty="0"/>
              <a:t>(</a:t>
            </a:r>
            <a:r>
              <a:rPr lang="ko-KR" altLang="en-US" sz="900" dirty="0" err="1"/>
              <a:t>f</a:t>
            </a:r>
            <a:r>
              <a:rPr lang="ko-KR" altLang="en-US" sz="900" dirty="0"/>
              <a:t>"📡 </a:t>
            </a:r>
            <a:r>
              <a:rPr lang="ko-KR" altLang="en-US" sz="900" dirty="0" err="1"/>
              <a:t>가게전화</a:t>
            </a:r>
            <a:r>
              <a:rPr lang="ko-KR" altLang="en-US" sz="900" dirty="0"/>
              <a:t> </a:t>
            </a:r>
            <a:r>
              <a:rPr lang="ko-KR" altLang="en-US" sz="900" dirty="0" err="1"/>
              <a:t>통화종료</a:t>
            </a:r>
            <a:r>
              <a:rPr lang="ko-KR" altLang="en-US" sz="900" dirty="0"/>
              <a:t> 수신: {</a:t>
            </a:r>
            <a:r>
              <a:rPr lang="ko-KR" altLang="en-US" sz="900" dirty="0" err="1"/>
              <a:t>caller_number</a:t>
            </a:r>
            <a:r>
              <a:rPr lang="ko-KR" altLang="en-US" sz="900" dirty="0"/>
              <a:t>} ➔ {</a:t>
            </a:r>
            <a:r>
              <a:rPr lang="ko-KR" altLang="en-US" sz="900" dirty="0" err="1"/>
              <a:t>user_phone_number</a:t>
            </a:r>
            <a:r>
              <a:rPr lang="ko-KR" altLang="en-US" sz="900" dirty="0"/>
              <a:t>} ({</a:t>
            </a:r>
            <a:r>
              <a:rPr lang="ko-KR" altLang="en-US" sz="900" dirty="0" err="1"/>
              <a:t>call_duration</a:t>
            </a:r>
            <a:r>
              <a:rPr lang="ko-KR" altLang="en-US" sz="900" dirty="0"/>
              <a:t>}초)")</a:t>
            </a:r>
          </a:p>
          <a:p>
            <a:pPr lvl="0">
              <a:defRPr/>
            </a:pPr>
            <a:r>
              <a:rPr lang="ko-KR" altLang="en-US" sz="900" dirty="0"/>
              <a:t>    </a:t>
            </a:r>
          </a:p>
          <a:p>
            <a:pPr lvl="0">
              <a:defRPr/>
            </a:pPr>
            <a:r>
              <a:rPr lang="ko-KR" altLang="en-US" sz="900" dirty="0"/>
              <a:t>    # 2. 파일 저장 후 곧바로 </a:t>
            </a:r>
            <a:r>
              <a:rPr lang="ko-KR" altLang="en-US" sz="900" dirty="0" err="1"/>
              <a:t>Whisper</a:t>
            </a:r>
            <a:r>
              <a:rPr lang="ko-KR" altLang="en-US" sz="900" dirty="0"/>
              <a:t> + </a:t>
            </a:r>
            <a:r>
              <a:rPr lang="en-US" altLang="ko-KR" sz="900" dirty="0" smtClean="0"/>
              <a:t>Gemini</a:t>
            </a:r>
            <a:r>
              <a:rPr lang="ko-KR" altLang="en-US" sz="900" dirty="0" smtClean="0"/>
              <a:t> </a:t>
            </a:r>
            <a:r>
              <a:rPr lang="ko-KR" altLang="en-US" sz="900" dirty="0"/>
              <a:t>가동 코드로 연동 </a:t>
            </a:r>
          </a:p>
          <a:p>
            <a:pPr lvl="0">
              <a:defRPr/>
            </a:pPr>
            <a:r>
              <a:rPr lang="ko-KR" altLang="en-US" sz="900" dirty="0"/>
              <a:t>    # </a:t>
            </a:r>
            <a:r>
              <a:rPr lang="ko-KR" altLang="en-US" sz="900" dirty="0" err="1"/>
              <a:t>text</a:t>
            </a:r>
            <a:r>
              <a:rPr lang="ko-KR" altLang="en-US" sz="900" dirty="0"/>
              <a:t> = </a:t>
            </a:r>
            <a:r>
              <a:rPr lang="ko-KR" altLang="en-US" sz="900" dirty="0" err="1"/>
              <a:t>run_whisper</a:t>
            </a:r>
            <a:r>
              <a:rPr lang="ko-KR" altLang="en-US" sz="900" dirty="0"/>
              <a:t>(</a:t>
            </a:r>
            <a:r>
              <a:rPr lang="ko-KR" altLang="en-US" sz="900" dirty="0" err="1"/>
              <a:t>file</a:t>
            </a:r>
            <a:r>
              <a:rPr lang="ko-KR" altLang="en-US" sz="900" dirty="0"/>
              <a:t>)</a:t>
            </a:r>
          </a:p>
          <a:p>
            <a:pPr lvl="0">
              <a:defRPr/>
            </a:pPr>
            <a:r>
              <a:rPr lang="ko-KR" altLang="en-US" sz="900" dirty="0"/>
              <a:t>    # </a:t>
            </a:r>
            <a:r>
              <a:rPr lang="ko-KR" altLang="en-US" sz="900" dirty="0" err="1"/>
              <a:t>is_order</a:t>
            </a:r>
            <a:r>
              <a:rPr lang="ko-KR" altLang="en-US" sz="900" dirty="0"/>
              <a:t> = </a:t>
            </a:r>
            <a:r>
              <a:rPr lang="ko-KR" altLang="en-US" sz="900" dirty="0" err="1" smtClean="0"/>
              <a:t>run</a:t>
            </a:r>
            <a:r>
              <a:rPr lang="ko-KR" altLang="en-US" sz="900" dirty="0" smtClean="0"/>
              <a:t>_</a:t>
            </a:r>
            <a:r>
              <a:rPr lang="en-US" altLang="ko-KR" sz="900" dirty="0" smtClean="0"/>
              <a:t>Gemini</a:t>
            </a:r>
            <a:r>
              <a:rPr lang="ko-KR" altLang="en-US" sz="900" dirty="0" smtClean="0"/>
              <a:t>(</a:t>
            </a:r>
            <a:r>
              <a:rPr lang="ko-KR" altLang="en-US" sz="900" dirty="0" err="1" smtClean="0"/>
              <a:t>text</a:t>
            </a:r>
            <a:r>
              <a:rPr lang="ko-KR" altLang="en-US" sz="900" dirty="0"/>
              <a:t>)</a:t>
            </a:r>
          </a:p>
          <a:p>
            <a:pPr lvl="0">
              <a:defRPr/>
            </a:pPr>
            <a:r>
              <a:rPr lang="ko-KR" altLang="en-US" sz="900" dirty="0"/>
              <a:t>    </a:t>
            </a:r>
          </a:p>
          <a:p>
            <a:pPr lvl="0">
              <a:defRPr/>
            </a:pPr>
            <a:r>
              <a:rPr lang="ko-KR" altLang="en-US" sz="900" dirty="0"/>
              <a:t>    </a:t>
            </a:r>
            <a:r>
              <a:rPr lang="ko-KR" altLang="en-US" sz="900" dirty="0" err="1"/>
              <a:t>return</a:t>
            </a:r>
            <a:r>
              <a:rPr lang="ko-KR" altLang="en-US" sz="900" dirty="0"/>
              <a:t> {"</a:t>
            </a:r>
            <a:r>
              <a:rPr lang="ko-KR" altLang="en-US" sz="900" dirty="0" err="1"/>
              <a:t>status</a:t>
            </a:r>
            <a:r>
              <a:rPr lang="ko-KR" altLang="en-US" sz="900" dirty="0"/>
              <a:t>": "</a:t>
            </a:r>
            <a:r>
              <a:rPr lang="ko-KR" altLang="en-US" sz="900" dirty="0" err="1"/>
              <a:t>success</a:t>
            </a:r>
            <a:r>
              <a:rPr lang="ko-KR" altLang="en-US" sz="900" dirty="0"/>
              <a:t>", "</a:t>
            </a:r>
            <a:r>
              <a:rPr lang="ko-KR" altLang="en-US" sz="900" dirty="0" err="1"/>
              <a:t>message</a:t>
            </a:r>
            <a:r>
              <a:rPr lang="ko-KR" altLang="en-US" sz="900" dirty="0"/>
              <a:t>": "통화 종료 데이터 접수 완료"}</a:t>
            </a:r>
          </a:p>
          <a:p>
            <a:pPr lvl="0">
              <a:defRPr/>
            </a:pPr>
            <a:r>
              <a:rPr lang="ko-KR" altLang="en-US" sz="900" dirty="0"/>
              <a:t>💡 요약</a:t>
            </a:r>
          </a:p>
          <a:p>
            <a:pPr lvl="0">
              <a:defRPr/>
            </a:pPr>
            <a:r>
              <a:rPr lang="ko-KR" altLang="en-US" sz="900" dirty="0"/>
              <a:t>하드웨어(PC-전화선) 연결 방식에서는 앱처럼 폰 내부 라이브러리로 끊김을 감지해야 했지만, </a:t>
            </a:r>
            <a:r>
              <a:rPr lang="ko-KR" altLang="en-US" sz="900" dirty="0" err="1"/>
              <a:t>VoIP</a:t>
            </a:r>
            <a:r>
              <a:rPr lang="ko-KR" altLang="en-US" sz="900" dirty="0"/>
              <a:t> CTI 인프라 방식에서는 통신사가 통화가 끝나는 순간 "전화 끊겼다!" 하고 </a:t>
            </a:r>
          </a:p>
          <a:p>
            <a:pPr lvl="0">
              <a:defRPr/>
            </a:pPr>
            <a:r>
              <a:rPr lang="ko-KR" altLang="en-US" sz="900" dirty="0"/>
              <a:t>데이터(</a:t>
            </a:r>
            <a:r>
              <a:rPr lang="ko-KR" altLang="en-US" sz="900" dirty="0" err="1"/>
              <a:t>웹훅</a:t>
            </a:r>
            <a:r>
              <a:rPr lang="ko-KR" altLang="en-US" sz="900" dirty="0"/>
              <a:t>)나 녹음 파일을 </a:t>
            </a:r>
            <a:r>
              <a:rPr lang="ko-KR" altLang="en-US" sz="900" dirty="0" err="1"/>
              <a:t>백엔드로</a:t>
            </a:r>
            <a:r>
              <a:rPr lang="ko-KR" altLang="en-US" sz="900" dirty="0"/>
              <a:t> 직접 던져주기 때문에 </a:t>
            </a:r>
            <a:r>
              <a:rPr lang="ko-KR" altLang="en-US" sz="900" dirty="0" err="1"/>
              <a:t>백엔드가</a:t>
            </a:r>
            <a:r>
              <a:rPr lang="ko-KR" altLang="en-US" sz="900" dirty="0"/>
              <a:t> 실시간으로 즉시 알 수 있습니다.</a:t>
            </a:r>
          </a:p>
          <a:p>
            <a:pPr marL="0" marR="0" lvl="0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0" lang="ko-KR" altLang="ko-KR" sz="900" b="0" i="0" u="none" strike="noStrike" cap="none" normalizeH="0" baseline="0" dirty="0">
              <a:solidFill>
                <a:schemeClr val="tx1"/>
              </a:solidFill>
              <a:effectLst/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7108" y="266087"/>
            <a:ext cx="6459974" cy="276999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200" b="1" dirty="0"/>
              <a:t>3-1.</a:t>
            </a:r>
            <a:r>
              <a:rPr lang="en-US" altLang="ko-KR" sz="1200" b="1" dirty="0">
                <a:solidFill>
                  <a:srgbClr val="FF0000"/>
                </a:solidFill>
              </a:rPr>
              <a:t> </a:t>
            </a:r>
            <a:r>
              <a:rPr lang="en-US" altLang="ko-KR" sz="1200" b="1" dirty="0"/>
              <a:t>[</a:t>
            </a:r>
            <a:r>
              <a:rPr lang="ko-KR" altLang="en-US" sz="1200" b="1" dirty="0"/>
              <a:t>가게 전화 채널</a:t>
            </a:r>
            <a:r>
              <a:rPr lang="en-US" altLang="ko-KR" sz="1200" b="1" dirty="0"/>
              <a:t>]: </a:t>
            </a:r>
            <a:r>
              <a:rPr lang="ko-KR" altLang="en-US" sz="1200" b="1" dirty="0"/>
              <a:t>물리적 </a:t>
            </a:r>
            <a:r>
              <a:rPr lang="en-US" altLang="ko-KR" sz="1200" b="1" dirty="0"/>
              <a:t>PC-</a:t>
            </a:r>
            <a:r>
              <a:rPr lang="ko-KR" altLang="en-US" sz="1200" b="1" dirty="0"/>
              <a:t>전화 연결을 배제하고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인터넷전화</a:t>
            </a:r>
            <a:r>
              <a:rPr lang="en-US" altLang="ko-KR" sz="1200" b="1" dirty="0"/>
              <a:t>(VoIP)-</a:t>
            </a:r>
            <a:r>
              <a:rPr lang="en-US" altLang="ko-KR" sz="1200" b="1" dirty="0">
                <a:solidFill>
                  <a:srgbClr val="FF0000"/>
                </a:solidFill>
              </a:rPr>
              <a:t>KT </a:t>
            </a:r>
            <a:r>
              <a:rPr lang="ko-KR" altLang="en-US" sz="1200" b="1" dirty="0">
                <a:solidFill>
                  <a:srgbClr val="FF0000"/>
                </a:solidFill>
              </a:rPr>
              <a:t>인터넷 </a:t>
            </a:r>
            <a:r>
              <a:rPr lang="ko-KR" altLang="en-US" sz="1200" b="1" dirty="0" smtClean="0">
                <a:solidFill>
                  <a:srgbClr val="FF0000"/>
                </a:solidFill>
              </a:rPr>
              <a:t>전화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2" name="직선 연결선 121"/>
          <p:cNvCxnSpPr/>
          <p:nvPr/>
        </p:nvCxnSpPr>
        <p:spPr>
          <a:xfrm flipH="1" flipV="1">
            <a:off x="13629633" y="2047246"/>
            <a:ext cx="1" cy="2887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/>
          <p:cNvCxnSpPr/>
          <p:nvPr/>
        </p:nvCxnSpPr>
        <p:spPr>
          <a:xfrm flipH="1" flipV="1">
            <a:off x="15448908" y="2046707"/>
            <a:ext cx="1" cy="2887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/>
        </p:nvSpPr>
        <p:spPr>
          <a:xfrm>
            <a:off x="313507" y="643350"/>
            <a:ext cx="11643362" cy="189282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900" dirty="0" err="1"/>
              <a:t>Supabase</a:t>
            </a:r>
            <a:r>
              <a:rPr lang="ko-KR" altLang="en-US" sz="900" dirty="0"/>
              <a:t> 환경에서 </a:t>
            </a:r>
            <a:r>
              <a:rPr lang="en-US" altLang="ko-KR" sz="900" dirty="0"/>
              <a:t>‘</a:t>
            </a:r>
            <a:r>
              <a:rPr lang="en-US" altLang="ko-KR" sz="900" dirty="0" err="1"/>
              <a:t>ggotAIorder</a:t>
            </a:r>
            <a:r>
              <a:rPr lang="en-US" altLang="ko-KR" sz="900" dirty="0"/>
              <a:t>’</a:t>
            </a:r>
            <a:r>
              <a:rPr lang="ko-KR" altLang="en-US" sz="900" dirty="0"/>
              <a:t>(PC 백그라운드 서비스)가 신규 주문 음성 파일 접수를 실시간으로 감지하여 </a:t>
            </a:r>
            <a:r>
              <a:rPr lang="ko-KR" altLang="en-US" sz="900" dirty="0" err="1"/>
              <a:t>Whisper와</a:t>
            </a:r>
            <a:r>
              <a:rPr lang="ko-KR" altLang="en-US" sz="900" dirty="0"/>
              <a:t> </a:t>
            </a:r>
            <a:r>
              <a:rPr lang="en-US" altLang="ko-KR" sz="900" dirty="0" smtClean="0"/>
              <a:t>Gemini</a:t>
            </a:r>
            <a:r>
              <a:rPr lang="ko-KR" altLang="en-US" sz="900" dirty="0" smtClean="0"/>
              <a:t>를 </a:t>
            </a:r>
            <a:r>
              <a:rPr lang="ko-KR" altLang="en-US" sz="900" dirty="0"/>
              <a:t>구동하게 만드는 가장 핵심적인 방법(</a:t>
            </a:r>
            <a:r>
              <a:rPr lang="ko-KR" altLang="en-US" sz="900" dirty="0" err="1"/>
              <a:t>Realtime</a:t>
            </a:r>
            <a:r>
              <a:rPr lang="ko-KR" altLang="en-US" sz="900" dirty="0"/>
              <a:t> 기능 활용 및 </a:t>
            </a:r>
            <a:r>
              <a:rPr lang="ko-KR" altLang="en-US" sz="900" dirty="0" err="1"/>
              <a:t>Webhook</a:t>
            </a:r>
            <a:r>
              <a:rPr lang="ko-KR" altLang="en-US" sz="900" dirty="0"/>
              <a:t> 활용)을 알려드립니다.</a:t>
            </a:r>
          </a:p>
          <a:p>
            <a:pPr lvl="0">
              <a:defRPr/>
            </a:pPr>
            <a:endParaRPr lang="ko-KR" altLang="en-US" sz="900" dirty="0"/>
          </a:p>
          <a:p>
            <a:pPr lvl="0">
              <a:defRPr/>
            </a:pPr>
            <a:r>
              <a:rPr lang="ko-KR" altLang="en-US" sz="900" dirty="0"/>
              <a:t>방법 1. </a:t>
            </a:r>
            <a:r>
              <a:rPr lang="ko-KR" altLang="en-US" sz="900" dirty="0" err="1"/>
              <a:t>Supabase</a:t>
            </a:r>
            <a:r>
              <a:rPr lang="ko-KR" altLang="en-US" sz="900" dirty="0"/>
              <a:t> </a:t>
            </a:r>
            <a:r>
              <a:rPr lang="ko-KR" altLang="en-US" sz="900" dirty="0" err="1"/>
              <a:t>Realtime</a:t>
            </a:r>
            <a:r>
              <a:rPr lang="ko-KR" altLang="en-US" sz="900" dirty="0"/>
              <a:t> 기능 활용 (가장 추천, </a:t>
            </a:r>
            <a:r>
              <a:rPr lang="ko-KR" altLang="en-US" sz="900" dirty="0" err="1"/>
              <a:t>웹소켓</a:t>
            </a:r>
            <a:r>
              <a:rPr lang="ko-KR" altLang="en-US" sz="900" dirty="0"/>
              <a:t> 방식)</a:t>
            </a:r>
          </a:p>
          <a:p>
            <a:pPr lvl="0">
              <a:defRPr/>
            </a:pPr>
            <a:r>
              <a:rPr lang="ko-KR" altLang="en-US" sz="900" dirty="0" err="1"/>
              <a:t>Supabase는</a:t>
            </a:r>
            <a:r>
              <a:rPr lang="ko-KR" altLang="en-US" sz="900" dirty="0"/>
              <a:t> 테이블에 새로운 데이터가 추가(INSERT)되면, 이를 실시간 </a:t>
            </a:r>
            <a:r>
              <a:rPr lang="ko-KR" altLang="en-US" sz="900" dirty="0" err="1"/>
              <a:t>웹소켓</a:t>
            </a:r>
            <a:r>
              <a:rPr lang="ko-KR" altLang="en-US" sz="900" dirty="0"/>
              <a:t>(</a:t>
            </a:r>
            <a:r>
              <a:rPr lang="ko-KR" altLang="en-US" sz="900" dirty="0" err="1"/>
              <a:t>WebSocket</a:t>
            </a:r>
            <a:r>
              <a:rPr lang="ko-KR" altLang="en-US" sz="900" dirty="0"/>
              <a:t>) 채널을 통해 클라이언트(웹1 </a:t>
            </a:r>
            <a:r>
              <a:rPr lang="ko-KR" altLang="en-US" sz="900" dirty="0" smtClean="0"/>
              <a:t>프로그램</a:t>
            </a:r>
            <a:r>
              <a:rPr lang="en-US" altLang="ko-KR" sz="900" dirty="0" smtClean="0"/>
              <a:t>:”</a:t>
            </a:r>
            <a:r>
              <a:rPr lang="en-US" altLang="ko-KR" sz="900" dirty="0" smtClean="0"/>
              <a:t>PC </a:t>
            </a:r>
            <a:r>
              <a:rPr lang="ko-KR" altLang="en-US" sz="900" dirty="0"/>
              <a:t>백그라운드 서비스</a:t>
            </a:r>
            <a:r>
              <a:rPr lang="en-US" altLang="ko-KR" sz="900" dirty="0"/>
              <a:t>, </a:t>
            </a:r>
            <a:r>
              <a:rPr lang="en-US" altLang="ko-KR" sz="900" dirty="0" err="1" smtClean="0"/>
              <a:t>ggotAIorder</a:t>
            </a:r>
            <a:r>
              <a:rPr lang="en-US" altLang="ko-KR" sz="900" dirty="0" smtClean="0"/>
              <a:t>”</a:t>
            </a:r>
            <a:r>
              <a:rPr lang="ko-KR" altLang="en-US" sz="900" dirty="0" smtClean="0"/>
              <a:t>)</a:t>
            </a:r>
            <a:r>
              <a:rPr lang="ko-KR" altLang="en-US" sz="900" dirty="0"/>
              <a:t>에 즉시 쏴주는 </a:t>
            </a:r>
            <a:r>
              <a:rPr lang="ko-KR" altLang="en-US" sz="900" dirty="0" err="1"/>
              <a:t>Realtime</a:t>
            </a:r>
            <a:r>
              <a:rPr lang="ko-KR" altLang="en-US" sz="900" dirty="0"/>
              <a:t> 기능을 제공합니다.</a:t>
            </a:r>
          </a:p>
          <a:p>
            <a:pPr lvl="0">
              <a:defRPr/>
            </a:pPr>
            <a:endParaRPr lang="ko-KR" altLang="en-US" sz="900" dirty="0"/>
          </a:p>
          <a:p>
            <a:pPr lvl="0">
              <a:defRPr/>
            </a:pPr>
            <a:r>
              <a:rPr lang="ko-KR" altLang="en-US" sz="900" dirty="0"/>
              <a:t>이 방식을 쓰면 별도의 </a:t>
            </a:r>
            <a:r>
              <a:rPr lang="ko-KR" altLang="en-US" sz="900" dirty="0" err="1"/>
              <a:t>백엔드</a:t>
            </a:r>
            <a:r>
              <a:rPr lang="ko-KR" altLang="en-US" sz="900" dirty="0"/>
              <a:t> 알림 서버를 구축할 필요 없이, </a:t>
            </a:r>
            <a:r>
              <a:rPr lang="en-US" altLang="ko-KR" sz="900" dirty="0"/>
              <a:t>‘</a:t>
            </a:r>
            <a:r>
              <a:rPr lang="en-US" altLang="ko-KR" sz="900" dirty="0" err="1"/>
              <a:t>ggotAIorder</a:t>
            </a:r>
            <a:r>
              <a:rPr lang="en-US" altLang="ko-KR" sz="900" dirty="0"/>
              <a:t>’</a:t>
            </a:r>
            <a:r>
              <a:rPr lang="ko-KR" altLang="en-US" sz="900" dirty="0"/>
              <a:t>(PC 백그라운드 서비스) 프로그램 내부 코드 몇 줄만으로 실시간 수신 대기 상태를 만들 수 있습니다.</a:t>
            </a:r>
          </a:p>
          <a:p>
            <a:pPr lvl="0">
              <a:defRPr/>
            </a:pPr>
            <a:endParaRPr lang="ko-KR" altLang="en-US" sz="900" dirty="0"/>
          </a:p>
          <a:p>
            <a:pPr lvl="0">
              <a:defRPr/>
            </a:pPr>
            <a:r>
              <a:rPr lang="ko-KR" altLang="en-US" sz="900" dirty="0"/>
              <a:t>🛠️ 구현 메커니즘</a:t>
            </a:r>
          </a:p>
          <a:p>
            <a:pPr lvl="0">
              <a:defRPr/>
            </a:pPr>
            <a:r>
              <a:rPr lang="ko-KR" altLang="en-US" sz="900" dirty="0"/>
              <a:t>핸드폰 앱(</a:t>
            </a:r>
            <a:r>
              <a:rPr lang="ko-KR" altLang="en-US" sz="900" dirty="0" err="1"/>
              <a:t>ggotAIhp</a:t>
            </a:r>
            <a:r>
              <a:rPr lang="ko-KR" altLang="en-US" sz="900" dirty="0"/>
              <a:t>)이 통화를 마치고 음성 파일을 업로드하면서 서버 </a:t>
            </a:r>
            <a:r>
              <a:rPr lang="ko-KR" altLang="en-US" sz="900" dirty="0" err="1"/>
              <a:t>DB의</a:t>
            </a:r>
            <a:r>
              <a:rPr lang="ko-KR" altLang="en-US" sz="900" dirty="0"/>
              <a:t> </a:t>
            </a:r>
            <a:r>
              <a:rPr lang="ko-KR" altLang="en-US" sz="900" dirty="0" err="1"/>
              <a:t>server_call_history</a:t>
            </a:r>
            <a:r>
              <a:rPr lang="ko-KR" altLang="en-US" sz="900" dirty="0"/>
              <a:t> 테이블에 새로운 행을 추가(INSERT)합니다.</a:t>
            </a:r>
          </a:p>
          <a:p>
            <a:pPr lvl="0">
              <a:defRPr/>
            </a:pPr>
            <a:endParaRPr lang="ko-KR" altLang="en-US" sz="900" dirty="0"/>
          </a:p>
          <a:p>
            <a:pPr lvl="0">
              <a:defRPr/>
            </a:pPr>
            <a:r>
              <a:rPr lang="ko-KR" altLang="en-US" sz="900" dirty="0"/>
              <a:t>상시 켜져 있는 </a:t>
            </a:r>
            <a:r>
              <a:rPr lang="en-US" altLang="ko-KR" sz="900" dirty="0"/>
              <a:t>‘</a:t>
            </a:r>
            <a:r>
              <a:rPr lang="en-US" altLang="ko-KR" sz="900" dirty="0" err="1"/>
              <a:t>ggotAIorder</a:t>
            </a:r>
            <a:r>
              <a:rPr lang="en-US" altLang="ko-KR" sz="900" dirty="0"/>
              <a:t>’</a:t>
            </a:r>
            <a:r>
              <a:rPr lang="ko-KR" altLang="en-US" sz="900" dirty="0"/>
              <a:t>(PC 백그라운드 서비스) 프로그램이 </a:t>
            </a:r>
            <a:r>
              <a:rPr lang="ko-KR" altLang="en-US" sz="900" dirty="0" err="1"/>
              <a:t>Supabase</a:t>
            </a:r>
            <a:r>
              <a:rPr lang="ko-KR" altLang="en-US" sz="900" dirty="0"/>
              <a:t> </a:t>
            </a:r>
            <a:r>
              <a:rPr lang="ko-KR" altLang="en-US" sz="900" dirty="0" err="1"/>
              <a:t>Realtime</a:t>
            </a:r>
            <a:r>
              <a:rPr lang="ko-KR" altLang="en-US" sz="900" dirty="0"/>
              <a:t> 채널을 구독(</a:t>
            </a:r>
            <a:r>
              <a:rPr lang="ko-KR" altLang="en-US" sz="900" dirty="0" err="1"/>
              <a:t>Subscribe</a:t>
            </a:r>
            <a:r>
              <a:rPr lang="ko-KR" altLang="en-US" sz="900" dirty="0"/>
              <a:t>)하고 대기하다가, 해당 테이블에 데이터가 들어오는 순간 즉시 알림(이벤트)을 수신합니다.</a:t>
            </a:r>
          </a:p>
          <a:p>
            <a:pPr lvl="0">
              <a:defRPr/>
            </a:pPr>
            <a:endParaRPr lang="ko-KR" altLang="en-US" sz="900" dirty="0"/>
          </a:p>
          <a:p>
            <a:pPr lvl="0">
              <a:defRPr/>
            </a:pPr>
            <a:r>
              <a:rPr lang="ko-KR" altLang="en-US" sz="900" dirty="0"/>
              <a:t>알림에 포함된 </a:t>
            </a:r>
            <a:r>
              <a:rPr lang="ko-KR" altLang="en-US" sz="900" dirty="0" err="1"/>
              <a:t>audio_file_name과</a:t>
            </a:r>
            <a:r>
              <a:rPr lang="ko-KR" altLang="en-US" sz="900" dirty="0"/>
              <a:t> 데이터 고유 </a:t>
            </a:r>
            <a:r>
              <a:rPr lang="ko-KR" altLang="en-US" sz="900" dirty="0" err="1"/>
              <a:t>ID를</a:t>
            </a:r>
            <a:r>
              <a:rPr lang="ko-KR" altLang="en-US" sz="900" dirty="0"/>
              <a:t> 바탕으로, </a:t>
            </a:r>
            <a:r>
              <a:rPr lang="en-US" altLang="ko-KR" sz="900" dirty="0"/>
              <a:t>‘</a:t>
            </a:r>
            <a:r>
              <a:rPr lang="en-US" altLang="ko-KR" sz="900" dirty="0" err="1"/>
              <a:t>ggotAIorder</a:t>
            </a:r>
            <a:r>
              <a:rPr lang="en-US" altLang="ko-KR" sz="900" dirty="0"/>
              <a:t>’</a:t>
            </a:r>
            <a:r>
              <a:rPr lang="ko-KR" altLang="en-US" sz="900" dirty="0"/>
              <a:t> 내부에서 </a:t>
            </a:r>
            <a:r>
              <a:rPr lang="ko-KR" altLang="en-US" sz="900" dirty="0" err="1"/>
              <a:t>Whisper와</a:t>
            </a:r>
            <a:r>
              <a:rPr lang="ko-KR" altLang="en-US" sz="900" dirty="0"/>
              <a:t> </a:t>
            </a:r>
            <a:r>
              <a:rPr lang="en-US" altLang="ko-KR" sz="900" dirty="0" smtClean="0"/>
              <a:t>Gemini</a:t>
            </a:r>
            <a:r>
              <a:rPr lang="ko-KR" altLang="en-US" sz="900" dirty="0" smtClean="0"/>
              <a:t> </a:t>
            </a:r>
            <a:r>
              <a:rPr lang="ko-KR" altLang="en-US" sz="900" dirty="0"/>
              <a:t>함수를 즉각 가동합니다.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>
          <a:xfrm>
            <a:off x="287384" y="3075762"/>
            <a:ext cx="11836895" cy="20590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 defTabSz="914400" eaLnBrk="0" latinLnBrk="0" hangingPunct="0">
              <a:lnSpc>
                <a:spcPct val="220000"/>
              </a:lnSpc>
              <a:spcBef>
                <a:spcPts val="0"/>
              </a:spcBef>
              <a:buClrTx/>
              <a:buFontTx/>
              <a:buNone/>
              <a:defRPr/>
            </a:pPr>
            <a:r>
              <a:rPr lang="ko-KR" altLang="ko-KR" sz="900" b="0" dirty="0">
                <a:solidFill>
                  <a:schemeClr val="tx1"/>
                </a:solidFill>
                <a:effectLst/>
                <a:latin typeface="Arial"/>
              </a:rPr>
              <a:t>가게 PC 내부에서 가볍게 돌아가는 백그라운드 프로그램을 만드실 때는 [방법 1 (</a:t>
            </a:r>
            <a:r>
              <a:rPr lang="ko-KR" altLang="ko-KR" sz="900" b="0" dirty="0" err="1">
                <a:solidFill>
                  <a:schemeClr val="tx1"/>
                </a:solidFill>
                <a:effectLst/>
                <a:latin typeface="Arial"/>
              </a:rPr>
              <a:t>Supabase</a:t>
            </a:r>
            <a:r>
              <a:rPr lang="ko-KR" altLang="ko-KR" sz="900" b="0" dirty="0">
                <a:solidFill>
                  <a:schemeClr val="tx1"/>
                </a:solidFill>
                <a:effectLst/>
                <a:latin typeface="Arial"/>
              </a:rPr>
              <a:t> </a:t>
            </a:r>
            <a:r>
              <a:rPr lang="ko-KR" altLang="ko-KR" sz="900" b="0" dirty="0" err="1">
                <a:solidFill>
                  <a:schemeClr val="tx1"/>
                </a:solidFill>
                <a:effectLst/>
                <a:latin typeface="Arial"/>
              </a:rPr>
              <a:t>Realtime</a:t>
            </a:r>
            <a:r>
              <a:rPr lang="ko-KR" altLang="ko-KR" sz="900" b="0" dirty="0">
                <a:solidFill>
                  <a:schemeClr val="tx1"/>
                </a:solidFill>
                <a:effectLst/>
                <a:latin typeface="Arial"/>
              </a:rPr>
              <a:t> 방식)]이 압도적으로 유리합니다.</a:t>
            </a:r>
          </a:p>
          <a:p>
            <a:pPr lvl="0" defTabSz="914400" eaLnBrk="0" latinLnBrk="0" hangingPunct="0">
              <a:lnSpc>
                <a:spcPct val="220000"/>
              </a:lnSpc>
              <a:spcBef>
                <a:spcPts val="0"/>
              </a:spcBef>
              <a:buClrTx/>
              <a:buFontTx/>
              <a:buChar char="•"/>
              <a:defRPr/>
            </a:pPr>
            <a:r>
              <a:rPr lang="ko-KR" altLang="ko-KR" sz="900" b="1" dirty="0">
                <a:solidFill>
                  <a:schemeClr val="tx1"/>
                </a:solidFill>
                <a:effectLst/>
                <a:latin typeface="Arial"/>
              </a:rPr>
              <a:t>이유:</a:t>
            </a:r>
            <a:r>
              <a:rPr lang="ko-KR" altLang="ko-KR" sz="900" b="0" dirty="0">
                <a:solidFill>
                  <a:schemeClr val="tx1"/>
                </a:solidFill>
                <a:effectLst/>
                <a:latin typeface="Arial"/>
              </a:rPr>
              <a:t> 외부 </a:t>
            </a:r>
            <a:r>
              <a:rPr lang="ko-KR" altLang="ko-KR" sz="900" b="0" dirty="0" err="1">
                <a:solidFill>
                  <a:schemeClr val="tx1"/>
                </a:solidFill>
                <a:effectLst/>
                <a:latin typeface="Arial"/>
              </a:rPr>
              <a:t>웹훅</a:t>
            </a:r>
            <a:r>
              <a:rPr lang="ko-KR" altLang="ko-KR" sz="900" b="0" dirty="0">
                <a:solidFill>
                  <a:schemeClr val="tx1"/>
                </a:solidFill>
                <a:effectLst/>
                <a:latin typeface="Arial"/>
              </a:rPr>
              <a:t> 방식을 쓰려면 가게 </a:t>
            </a:r>
            <a:r>
              <a:rPr lang="ko-KR" altLang="ko-KR" sz="900" b="0" dirty="0" err="1">
                <a:solidFill>
                  <a:schemeClr val="tx1"/>
                </a:solidFill>
                <a:effectLst/>
                <a:latin typeface="Arial"/>
              </a:rPr>
              <a:t>PC에</a:t>
            </a:r>
            <a:r>
              <a:rPr lang="ko-KR" altLang="ko-KR" sz="900" b="0" dirty="0">
                <a:solidFill>
                  <a:schemeClr val="tx1"/>
                </a:solidFill>
                <a:effectLst/>
                <a:latin typeface="Arial"/>
              </a:rPr>
              <a:t> 외부 인터넷 신호가 들어올 수 있도록 공유기 </a:t>
            </a:r>
            <a:r>
              <a:rPr lang="ko-KR" altLang="ko-KR" sz="900" b="0" dirty="0" err="1">
                <a:solidFill>
                  <a:schemeClr val="tx1"/>
                </a:solidFill>
                <a:effectLst/>
                <a:latin typeface="Arial"/>
              </a:rPr>
              <a:t>포트포워딩</a:t>
            </a:r>
            <a:r>
              <a:rPr lang="ko-KR" altLang="ko-KR" sz="900" b="0" dirty="0">
                <a:solidFill>
                  <a:schemeClr val="tx1"/>
                </a:solidFill>
                <a:effectLst/>
                <a:latin typeface="Arial"/>
              </a:rPr>
              <a:t> 설정을 하거나 고정 IP 세팅을 해야 하는 번거로움이 있습니다. </a:t>
            </a:r>
          </a:p>
          <a:p>
            <a:pPr lvl="0" eaLnBrk="0" latinLnBrk="0" hangingPunct="0">
              <a:lnSpc>
                <a:spcPct val="220000"/>
              </a:lnSpc>
              <a:buFontTx/>
              <a:buChar char="•"/>
              <a:defRPr/>
            </a:pPr>
            <a:r>
              <a:rPr lang="ko-KR" altLang="ko-KR" sz="900" b="0" dirty="0">
                <a:solidFill>
                  <a:schemeClr val="tx1"/>
                </a:solidFill>
                <a:effectLst/>
                <a:latin typeface="Arial"/>
              </a:rPr>
              <a:t>반면 </a:t>
            </a:r>
            <a:r>
              <a:rPr lang="ko-KR" altLang="ko-KR" sz="900" b="1" dirty="0" err="1">
                <a:solidFill>
                  <a:schemeClr val="tx1"/>
                </a:solidFill>
                <a:effectLst/>
                <a:latin typeface="Arial"/>
              </a:rPr>
              <a:t>Realtime</a:t>
            </a:r>
            <a:r>
              <a:rPr lang="ko-KR" altLang="ko-KR" sz="900" b="1" dirty="0">
                <a:solidFill>
                  <a:schemeClr val="tx1"/>
                </a:solidFill>
                <a:effectLst/>
                <a:latin typeface="Arial"/>
              </a:rPr>
              <a:t> </a:t>
            </a:r>
            <a:r>
              <a:rPr lang="ko-KR" altLang="ko-KR" sz="900" b="1" dirty="0" err="1">
                <a:solidFill>
                  <a:schemeClr val="tx1"/>
                </a:solidFill>
                <a:effectLst/>
                <a:latin typeface="Arial"/>
              </a:rPr>
              <a:t>웹소켓</a:t>
            </a:r>
            <a:r>
              <a:rPr lang="ko-KR" altLang="ko-KR" sz="900" b="1" dirty="0">
                <a:solidFill>
                  <a:schemeClr val="tx1"/>
                </a:solidFill>
                <a:effectLst/>
                <a:latin typeface="Arial"/>
              </a:rPr>
              <a:t> 방식</a:t>
            </a:r>
            <a:r>
              <a:rPr lang="ko-KR" altLang="ko-KR" sz="900" b="0" dirty="0">
                <a:solidFill>
                  <a:schemeClr val="tx1"/>
                </a:solidFill>
                <a:effectLst/>
                <a:latin typeface="Arial"/>
              </a:rPr>
              <a:t>은 웹1 </a:t>
            </a:r>
            <a:r>
              <a:rPr lang="ko-KR" altLang="ko-KR" sz="900" b="0" dirty="0" smtClean="0">
                <a:solidFill>
                  <a:schemeClr val="tx1"/>
                </a:solidFill>
                <a:effectLst/>
                <a:latin typeface="Arial"/>
              </a:rPr>
              <a:t>프로그램</a:t>
            </a:r>
            <a:r>
              <a:rPr lang="en-US" altLang="ko-KR" sz="900" b="0" dirty="0" smtClean="0">
                <a:solidFill>
                  <a:schemeClr val="tx1"/>
                </a:solidFill>
                <a:effectLst/>
                <a:latin typeface="Arial"/>
              </a:rPr>
              <a:t>(</a:t>
            </a:r>
            <a:r>
              <a:rPr lang="en-US" altLang="ko-KR" sz="900" dirty="0" smtClean="0"/>
              <a:t>PC </a:t>
            </a:r>
            <a:r>
              <a:rPr lang="ko-KR" altLang="en-US" sz="900" dirty="0"/>
              <a:t>백그라운드 서비스</a:t>
            </a:r>
            <a:r>
              <a:rPr lang="en-US" altLang="ko-KR" sz="900" dirty="0"/>
              <a:t>, </a:t>
            </a:r>
            <a:r>
              <a:rPr lang="en-US" altLang="ko-KR" sz="900" dirty="0" err="1"/>
              <a:t>ggotAIorder</a:t>
            </a:r>
            <a:r>
              <a:rPr lang="en-US" altLang="ko-KR" sz="900" dirty="0" smtClean="0"/>
              <a:t>)</a:t>
            </a:r>
            <a:r>
              <a:rPr lang="ko-KR" altLang="ko-KR" sz="900" b="0" dirty="0" smtClean="0">
                <a:solidFill>
                  <a:schemeClr val="tx1"/>
                </a:solidFill>
                <a:effectLst/>
                <a:latin typeface="Arial"/>
              </a:rPr>
              <a:t>이 </a:t>
            </a:r>
            <a:r>
              <a:rPr lang="ko-KR" altLang="ko-KR" sz="900" b="0" dirty="0" err="1">
                <a:solidFill>
                  <a:schemeClr val="tx1"/>
                </a:solidFill>
                <a:effectLst/>
                <a:latin typeface="Arial"/>
              </a:rPr>
              <a:t>Supabase</a:t>
            </a:r>
            <a:r>
              <a:rPr lang="ko-KR" altLang="ko-KR" sz="900" b="0" dirty="0">
                <a:solidFill>
                  <a:schemeClr val="tx1"/>
                </a:solidFill>
                <a:effectLst/>
                <a:latin typeface="Arial"/>
              </a:rPr>
              <a:t> 서버에 먼저 빨대를 꽂고 대기하는 방식이라, 공유기 설정이나 IP 상태와 무관하게 24시간 안정적으로 신호를 받아올 수 있습니다.</a:t>
            </a:r>
          </a:p>
          <a:p>
            <a:pPr lvl="0" defTabSz="914400" eaLnBrk="0" latinLnBrk="0" hangingPunct="0">
              <a:lnSpc>
                <a:spcPct val="220000"/>
              </a:lnSpc>
              <a:spcBef>
                <a:spcPts val="0"/>
              </a:spcBef>
              <a:buClrTx/>
              <a:buFontTx/>
              <a:buNone/>
              <a:defRPr/>
            </a:pPr>
            <a:r>
              <a:rPr lang="ko-KR" altLang="ko-KR" sz="900" b="0" dirty="0" err="1">
                <a:solidFill>
                  <a:schemeClr val="tx1"/>
                </a:solidFill>
                <a:effectLst/>
                <a:latin typeface="Arial"/>
              </a:rPr>
              <a:t>바이브</a:t>
            </a:r>
            <a:r>
              <a:rPr lang="ko-KR" altLang="ko-KR" sz="900" b="0" dirty="0">
                <a:solidFill>
                  <a:schemeClr val="tx1"/>
                </a:solidFill>
                <a:effectLst/>
                <a:latin typeface="Arial"/>
              </a:rPr>
              <a:t> 코딩 시 AI(</a:t>
            </a:r>
            <a:r>
              <a:rPr lang="ko-KR" altLang="ko-KR" sz="900" b="0" dirty="0" err="1">
                <a:solidFill>
                  <a:schemeClr val="tx1"/>
                </a:solidFill>
                <a:effectLst/>
                <a:latin typeface="Arial"/>
              </a:rPr>
              <a:t>Cursor</a:t>
            </a:r>
            <a:r>
              <a:rPr lang="ko-KR" altLang="ko-KR" sz="900" b="0" dirty="0">
                <a:solidFill>
                  <a:schemeClr val="tx1"/>
                </a:solidFill>
                <a:effectLst/>
                <a:latin typeface="Arial"/>
              </a:rPr>
              <a:t>/</a:t>
            </a:r>
            <a:r>
              <a:rPr lang="ko-KR" altLang="ko-KR" sz="900" b="0" dirty="0" err="1">
                <a:solidFill>
                  <a:schemeClr val="tx1"/>
                </a:solidFill>
                <a:effectLst/>
                <a:latin typeface="Arial"/>
              </a:rPr>
              <a:t>Claude</a:t>
            </a:r>
            <a:r>
              <a:rPr lang="ko-KR" altLang="ko-KR" sz="900" b="0" dirty="0">
                <a:solidFill>
                  <a:schemeClr val="tx1"/>
                </a:solidFill>
                <a:effectLst/>
                <a:latin typeface="Arial"/>
              </a:rPr>
              <a:t>)에게 프롬프트를 던질 때 이렇게 명시해 보세요:</a:t>
            </a:r>
          </a:p>
          <a:p>
            <a:pPr lvl="0">
              <a:defRPr/>
            </a:pPr>
            <a:r>
              <a:rPr lang="ko-KR" altLang="ko-KR" sz="900" b="0" dirty="0">
                <a:solidFill>
                  <a:schemeClr val="tx1"/>
                </a:solidFill>
                <a:effectLst/>
                <a:latin typeface="Arial"/>
              </a:rPr>
              <a:t>"</a:t>
            </a:r>
            <a:r>
              <a:rPr lang="en-US" altLang="ko-KR" sz="900" dirty="0"/>
              <a:t>‘</a:t>
            </a:r>
            <a:r>
              <a:rPr lang="en-US" altLang="ko-KR" sz="900" dirty="0" err="1"/>
              <a:t>ggotAIorder</a:t>
            </a:r>
            <a:r>
              <a:rPr lang="en-US" altLang="ko-KR" sz="900" dirty="0"/>
              <a:t>’</a:t>
            </a:r>
            <a:r>
              <a:rPr lang="ko-KR" altLang="en-US" sz="900" dirty="0"/>
              <a:t> </a:t>
            </a:r>
            <a:r>
              <a:rPr lang="ko-KR" altLang="ko-KR" sz="900" b="1" dirty="0">
                <a:solidFill>
                  <a:schemeClr val="tx1"/>
                </a:solidFill>
                <a:effectLst/>
                <a:latin typeface="Arial"/>
              </a:rPr>
              <a:t> 프로그램</a:t>
            </a:r>
            <a:r>
              <a:rPr lang="ko-KR" altLang="ko-KR" sz="900" b="0" dirty="0">
                <a:solidFill>
                  <a:schemeClr val="tx1"/>
                </a:solidFill>
                <a:effectLst/>
                <a:latin typeface="Arial"/>
              </a:rPr>
              <a:t>은 </a:t>
            </a:r>
            <a:r>
              <a:rPr lang="ko-KR" altLang="ko-KR" sz="900" b="0" dirty="0" err="1">
                <a:solidFill>
                  <a:schemeClr val="tx1"/>
                </a:solidFill>
                <a:effectLst/>
                <a:latin typeface="Arial"/>
              </a:rPr>
              <a:t>파이썬으로</a:t>
            </a:r>
            <a:r>
              <a:rPr lang="ko-KR" altLang="ko-KR" sz="900" b="0" dirty="0">
                <a:solidFill>
                  <a:schemeClr val="tx1"/>
                </a:solidFill>
                <a:effectLst/>
                <a:latin typeface="Arial"/>
              </a:rPr>
              <a:t> 구동되는 백그라운드 서비스야. 데이터베이스는 </a:t>
            </a:r>
            <a:r>
              <a:rPr lang="ko-KR" altLang="ko-KR" sz="900" b="1" dirty="0" err="1">
                <a:solidFill>
                  <a:schemeClr val="tx1"/>
                </a:solidFill>
                <a:effectLst/>
                <a:latin typeface="Arial"/>
              </a:rPr>
              <a:t>Supabase</a:t>
            </a:r>
            <a:r>
              <a:rPr lang="ko-KR" altLang="ko-KR" sz="900" b="0" dirty="0" err="1">
                <a:solidFill>
                  <a:schemeClr val="tx1"/>
                </a:solidFill>
                <a:effectLst/>
                <a:latin typeface="Arial"/>
              </a:rPr>
              <a:t>를</a:t>
            </a:r>
            <a:r>
              <a:rPr lang="ko-KR" altLang="ko-KR" sz="900" b="0" dirty="0">
                <a:solidFill>
                  <a:schemeClr val="tx1"/>
                </a:solidFill>
                <a:effectLst/>
                <a:latin typeface="Arial"/>
              </a:rPr>
              <a:t> 사용해. </a:t>
            </a:r>
            <a:r>
              <a:rPr lang="ko-KR" altLang="ko-KR" sz="900" b="0" dirty="0" err="1">
                <a:solidFill>
                  <a:schemeClr val="tx1"/>
                </a:solidFill>
                <a:effectLst/>
                <a:latin typeface="Arial"/>
              </a:rPr>
              <a:t>Supabase의</a:t>
            </a:r>
            <a:r>
              <a:rPr lang="ko-KR" altLang="ko-KR" sz="900" b="0" dirty="0">
                <a:solidFill>
                  <a:schemeClr val="tx1"/>
                </a:solidFill>
                <a:effectLst/>
                <a:latin typeface="Arial"/>
              </a:rPr>
              <a:t> </a:t>
            </a:r>
            <a:r>
              <a:rPr lang="ko-KR" altLang="ko-KR" sz="900" b="1" dirty="0" err="1">
                <a:solidFill>
                  <a:schemeClr val="tx1"/>
                </a:solidFill>
                <a:effectLst/>
                <a:latin typeface="Arial Unicode MS"/>
              </a:rPr>
              <a:t>supabase-py</a:t>
            </a:r>
            <a:r>
              <a:rPr lang="ko-KR" altLang="ko-KR" sz="900" b="1" dirty="0">
                <a:solidFill>
                  <a:schemeClr val="tx1"/>
                </a:solidFill>
                <a:effectLst/>
              </a:rPr>
              <a:t> 라이브러리의 </a:t>
            </a:r>
            <a:r>
              <a:rPr lang="ko-KR" altLang="ko-KR" sz="900" b="1" dirty="0" err="1">
                <a:solidFill>
                  <a:schemeClr val="tx1"/>
                </a:solidFill>
                <a:effectLst/>
              </a:rPr>
              <a:t>Realtime</a:t>
            </a:r>
            <a:r>
              <a:rPr lang="ko-KR" altLang="ko-KR" sz="900" b="1" dirty="0">
                <a:solidFill>
                  <a:schemeClr val="tx1"/>
                </a:solidFill>
                <a:effectLst/>
              </a:rPr>
              <a:t> 채널 구독 기능</a:t>
            </a:r>
            <a:r>
              <a:rPr lang="ko-KR" altLang="ko-KR" sz="900" b="0" dirty="0">
                <a:solidFill>
                  <a:schemeClr val="tx1"/>
                </a:solidFill>
                <a:effectLst/>
                <a:latin typeface="Arial"/>
              </a:rPr>
              <a:t>을 사용해서, </a:t>
            </a:r>
          </a:p>
          <a:p>
            <a:pPr lvl="0" defTabSz="914400" eaLnBrk="0" latinLnBrk="0" hangingPunct="0">
              <a:lnSpc>
                <a:spcPct val="220000"/>
              </a:lnSpc>
              <a:spcBef>
                <a:spcPts val="0"/>
              </a:spcBef>
              <a:buClrTx/>
              <a:buFontTx/>
              <a:buNone/>
              <a:defRPr/>
            </a:pPr>
            <a:r>
              <a:rPr lang="ko-KR" altLang="ko-KR" sz="900" b="0" dirty="0" err="1">
                <a:solidFill>
                  <a:schemeClr val="tx1"/>
                </a:solidFill>
                <a:effectLst/>
                <a:latin typeface="Arial Unicode MS"/>
              </a:rPr>
              <a:t>server_call_history</a:t>
            </a:r>
            <a:r>
              <a:rPr lang="ko-KR" altLang="ko-KR" sz="900" b="0" dirty="0">
                <a:solidFill>
                  <a:schemeClr val="tx1"/>
                </a:solidFill>
                <a:effectLst/>
              </a:rPr>
              <a:t> 테이블에 신규 </a:t>
            </a:r>
            <a:r>
              <a:rPr lang="ko-KR" altLang="ko-KR" sz="900" b="0" dirty="0" err="1">
                <a:solidFill>
                  <a:schemeClr val="tx1"/>
                </a:solidFill>
                <a:effectLst/>
                <a:latin typeface="Arial Unicode MS"/>
              </a:rPr>
              <a:t>INSERT</a:t>
            </a:r>
            <a:r>
              <a:rPr lang="ko-KR" altLang="ko-KR" sz="900" b="0" dirty="0" err="1">
                <a:solidFill>
                  <a:schemeClr val="tx1"/>
                </a:solidFill>
                <a:effectLst/>
              </a:rPr>
              <a:t>가</a:t>
            </a:r>
            <a:r>
              <a:rPr lang="ko-KR" altLang="ko-KR" sz="900" b="0" dirty="0">
                <a:solidFill>
                  <a:schemeClr val="tx1"/>
                </a:solidFill>
                <a:effectLst/>
              </a:rPr>
              <a:t> 일어나는 즉시 데이터를 </a:t>
            </a:r>
            <a:r>
              <a:rPr lang="ko-KR" altLang="ko-KR" sz="900" b="0" dirty="0" err="1">
                <a:solidFill>
                  <a:schemeClr val="tx1"/>
                </a:solidFill>
                <a:effectLst/>
              </a:rPr>
              <a:t>패치해서</a:t>
            </a:r>
            <a:r>
              <a:rPr lang="ko-KR" altLang="ko-KR" sz="900" b="0" dirty="0">
                <a:solidFill>
                  <a:schemeClr val="tx1"/>
                </a:solidFill>
                <a:effectLst/>
              </a:rPr>
              <a:t> </a:t>
            </a:r>
            <a:r>
              <a:rPr lang="ko-KR" altLang="ko-KR" sz="900" b="0" dirty="0" err="1">
                <a:solidFill>
                  <a:schemeClr val="tx1"/>
                </a:solidFill>
                <a:effectLst/>
              </a:rPr>
              <a:t>Whisper</a:t>
            </a:r>
            <a:r>
              <a:rPr lang="ko-KR" altLang="ko-KR" sz="900" b="0" dirty="0">
                <a:solidFill>
                  <a:schemeClr val="tx1"/>
                </a:solidFill>
                <a:effectLst/>
              </a:rPr>
              <a:t> STT 함수를 호출하는 비동기 이벤트를 작성해줘."</a:t>
            </a:r>
          </a:p>
          <a:p>
            <a:pPr lvl="0" defTabSz="914400" eaLnBrk="0" latinLnBrk="0" hangingPunct="0">
              <a:lnSpc>
                <a:spcPct val="220000"/>
              </a:lnSpc>
              <a:spcBef>
                <a:spcPts val="0"/>
              </a:spcBef>
              <a:buClrTx/>
              <a:buFontTx/>
              <a:buNone/>
              <a:defRPr/>
            </a:pPr>
            <a:r>
              <a:rPr lang="ko-KR" altLang="ko-KR" sz="900" b="0" dirty="0">
                <a:solidFill>
                  <a:schemeClr val="tx1"/>
                </a:solidFill>
                <a:effectLst/>
                <a:latin typeface="Arial"/>
              </a:rPr>
              <a:t>이렇게 지시하시면 </a:t>
            </a:r>
            <a:r>
              <a:rPr lang="ko-KR" altLang="ko-KR" sz="900" b="0" dirty="0" err="1">
                <a:solidFill>
                  <a:schemeClr val="tx1"/>
                </a:solidFill>
                <a:effectLst/>
                <a:latin typeface="Arial"/>
              </a:rPr>
              <a:t>AI가</a:t>
            </a:r>
            <a:r>
              <a:rPr lang="ko-KR" altLang="ko-KR" sz="900" b="0" dirty="0">
                <a:solidFill>
                  <a:schemeClr val="tx1"/>
                </a:solidFill>
                <a:effectLst/>
                <a:latin typeface="Arial"/>
              </a:rPr>
              <a:t> </a:t>
            </a:r>
            <a:r>
              <a:rPr lang="ko-KR" altLang="ko-KR" sz="900" b="0" dirty="0" err="1">
                <a:solidFill>
                  <a:schemeClr val="tx1"/>
                </a:solidFill>
                <a:effectLst/>
                <a:latin typeface="Arial"/>
              </a:rPr>
              <a:t>Supabase</a:t>
            </a:r>
            <a:r>
              <a:rPr lang="ko-KR" altLang="ko-KR" sz="900" b="0" dirty="0">
                <a:solidFill>
                  <a:schemeClr val="tx1"/>
                </a:solidFill>
                <a:effectLst/>
                <a:latin typeface="Arial"/>
              </a:rPr>
              <a:t> 환경에 완벽히 최적화된 실시간 수집 코드를 깔끔하게 작성해 줄 것입니다</a:t>
            </a:r>
            <a:r>
              <a:rPr kumimoji="0" lang="ko-KR" altLang="ko-KR" sz="900" b="0" i="0" u="none" strike="noStrike" cap="none" normalizeH="0" baseline="0" dirty="0">
                <a:solidFill>
                  <a:schemeClr val="tx1"/>
                </a:solidFill>
                <a:effectLst/>
                <a:latin typeface="Arial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7111" y="266087"/>
            <a:ext cx="6584495" cy="276999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200" b="1" dirty="0"/>
              <a:t>3-2.</a:t>
            </a:r>
            <a:r>
              <a:rPr lang="en-US" altLang="ko-KR" sz="1200" b="1" dirty="0">
                <a:solidFill>
                  <a:srgbClr val="FF0000"/>
                </a:solidFill>
              </a:rPr>
              <a:t> </a:t>
            </a:r>
            <a:r>
              <a:rPr lang="en-US" altLang="ko-KR" sz="1200" b="1" dirty="0"/>
              <a:t>[</a:t>
            </a:r>
            <a:r>
              <a:rPr lang="ko-KR" altLang="en-US" sz="1200" b="1" dirty="0"/>
              <a:t>핸드폰 앱 채널</a:t>
            </a:r>
            <a:r>
              <a:rPr lang="en-US" altLang="ko-KR" sz="1200" b="1" dirty="0"/>
              <a:t>]: </a:t>
            </a:r>
            <a:r>
              <a:rPr lang="ko-KR" altLang="en-US" sz="1200" b="1" dirty="0"/>
              <a:t>서버 </a:t>
            </a:r>
            <a:r>
              <a:rPr lang="en-US" altLang="ko-KR" sz="1200" b="1" dirty="0"/>
              <a:t>Database</a:t>
            </a:r>
            <a:r>
              <a:rPr lang="ko-KR" altLang="en-US" sz="1200" b="1" dirty="0"/>
              <a:t>에 주문음성파일 </a:t>
            </a:r>
            <a:r>
              <a:rPr lang="ko-KR" altLang="en-US" sz="1200" b="1" dirty="0" err="1"/>
              <a:t>추가시</a:t>
            </a:r>
            <a:r>
              <a:rPr lang="ko-KR" altLang="en-US" sz="1200" b="1" dirty="0"/>
              <a:t> </a:t>
            </a:r>
            <a:r>
              <a:rPr lang="en-US" altLang="ko-KR" sz="1200" b="1" dirty="0" err="1"/>
              <a:t>ggotAIorder</a:t>
            </a:r>
            <a:r>
              <a:rPr lang="ko-KR" altLang="en-US" sz="1200" b="1" dirty="0"/>
              <a:t>가 파악하는 방법</a:t>
            </a:r>
            <a:endParaRPr lang="en-US" altLang="ko-KR" sz="12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2" name="직선 연결선 121"/>
          <p:cNvCxnSpPr/>
          <p:nvPr/>
        </p:nvCxnSpPr>
        <p:spPr>
          <a:xfrm flipH="1" flipV="1">
            <a:off x="13629633" y="2047246"/>
            <a:ext cx="1" cy="2887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/>
          <p:cNvCxnSpPr/>
          <p:nvPr/>
        </p:nvCxnSpPr>
        <p:spPr>
          <a:xfrm flipH="1" flipV="1">
            <a:off x="15448908" y="2046707"/>
            <a:ext cx="1" cy="2887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435428" y="138409"/>
            <a:ext cx="8717280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800" dirty="0"/>
              <a:t>🤖 </a:t>
            </a:r>
            <a:r>
              <a:rPr lang="ko-KR" altLang="en-US" sz="800" dirty="0" err="1"/>
              <a:t>바이브</a:t>
            </a:r>
            <a:r>
              <a:rPr lang="ko-KR" altLang="en-US" sz="800" dirty="0"/>
              <a:t> </a:t>
            </a:r>
            <a:r>
              <a:rPr lang="ko-KR" altLang="en-US" sz="800" dirty="0" err="1"/>
              <a:t>코딩용</a:t>
            </a:r>
            <a:r>
              <a:rPr lang="ko-KR" altLang="en-US" sz="800" dirty="0"/>
              <a:t> </a:t>
            </a:r>
            <a:r>
              <a:rPr lang="ko-KR" altLang="en-US" sz="800" dirty="0" err="1"/>
              <a:t>Python</a:t>
            </a:r>
            <a:r>
              <a:rPr lang="ko-KR" altLang="en-US" sz="800" dirty="0"/>
              <a:t> 코드 예시 (</a:t>
            </a:r>
            <a:r>
              <a:rPr lang="en-US" altLang="ko-KR" sz="800" dirty="0"/>
              <a:t>‘</a:t>
            </a:r>
            <a:r>
              <a:rPr lang="en-US" altLang="ko-KR" sz="800" dirty="0" err="1"/>
              <a:t>ggotAIorder</a:t>
            </a:r>
            <a:r>
              <a:rPr lang="en-US" altLang="ko-KR" sz="800" dirty="0"/>
              <a:t>’</a:t>
            </a:r>
            <a:r>
              <a:rPr lang="ko-KR" altLang="en-US" sz="800" dirty="0"/>
              <a:t>가 감시하는 코드)</a:t>
            </a:r>
          </a:p>
          <a:p>
            <a:pPr lvl="0">
              <a:defRPr/>
            </a:pPr>
            <a:r>
              <a:rPr lang="en-US" altLang="ko-KR" sz="800" dirty="0"/>
              <a:t>‘</a:t>
            </a:r>
            <a:r>
              <a:rPr lang="en-US" altLang="ko-KR" sz="800" dirty="0" err="1"/>
              <a:t>ggotAIorder</a:t>
            </a:r>
            <a:r>
              <a:rPr lang="en-US" altLang="ko-KR" sz="800" dirty="0"/>
              <a:t>’</a:t>
            </a:r>
            <a:r>
              <a:rPr lang="ko-KR" altLang="en-US" sz="800" dirty="0"/>
              <a:t> 프로그램을 </a:t>
            </a:r>
            <a:r>
              <a:rPr lang="ko-KR" altLang="en-US" sz="800" dirty="0" err="1"/>
              <a:t>Python</a:t>
            </a:r>
            <a:r>
              <a:rPr lang="ko-KR" altLang="en-US" sz="800" dirty="0"/>
              <a:t> 기반으로 개발하실 경우, </a:t>
            </a:r>
            <a:r>
              <a:rPr lang="ko-KR" altLang="en-US" sz="800" dirty="0" err="1"/>
              <a:t>AI에게</a:t>
            </a:r>
            <a:r>
              <a:rPr lang="ko-KR" altLang="en-US" sz="800" dirty="0"/>
              <a:t> 아래 뼈대 코드를 주고 고도화해달라고 하시면 됩니다.</a:t>
            </a:r>
          </a:p>
          <a:p>
            <a:pPr lvl="0">
              <a:defRPr/>
            </a:pPr>
            <a:endParaRPr lang="ko-KR" altLang="en-US" sz="800" dirty="0"/>
          </a:p>
          <a:p>
            <a:pPr lvl="0">
              <a:defRPr/>
            </a:pPr>
            <a:r>
              <a:rPr lang="ko-KR" altLang="en-US" sz="800" dirty="0" err="1"/>
              <a:t>Python</a:t>
            </a:r>
            <a:endParaRPr lang="ko-KR" altLang="en-US" sz="800" dirty="0"/>
          </a:p>
          <a:p>
            <a:pPr lvl="0">
              <a:defRPr/>
            </a:pPr>
            <a:r>
              <a:rPr lang="ko-KR" altLang="en-US" sz="800" dirty="0" err="1"/>
              <a:t>import</a:t>
            </a:r>
            <a:r>
              <a:rPr lang="ko-KR" altLang="en-US" sz="800" dirty="0"/>
              <a:t> </a:t>
            </a:r>
            <a:r>
              <a:rPr lang="ko-KR" altLang="en-US" sz="800" dirty="0" err="1"/>
              <a:t>asyncio</a:t>
            </a:r>
            <a:endParaRPr lang="ko-KR" altLang="en-US" sz="800" dirty="0"/>
          </a:p>
          <a:p>
            <a:pPr lvl="0">
              <a:defRPr/>
            </a:pPr>
            <a:r>
              <a:rPr lang="ko-KR" altLang="en-US" sz="800" dirty="0" err="1"/>
              <a:t>from</a:t>
            </a:r>
            <a:r>
              <a:rPr lang="ko-KR" altLang="en-US" sz="800" dirty="0"/>
              <a:t> </a:t>
            </a:r>
            <a:r>
              <a:rPr lang="ko-KR" altLang="en-US" sz="800" dirty="0" err="1"/>
              <a:t>supabase</a:t>
            </a:r>
            <a:r>
              <a:rPr lang="ko-KR" altLang="en-US" sz="800" dirty="0"/>
              <a:t> </a:t>
            </a:r>
            <a:r>
              <a:rPr lang="ko-KR" altLang="en-US" sz="800" dirty="0" err="1"/>
              <a:t>import</a:t>
            </a:r>
            <a:r>
              <a:rPr lang="ko-KR" altLang="en-US" sz="800" dirty="0"/>
              <a:t> </a:t>
            </a:r>
            <a:r>
              <a:rPr lang="ko-KR" altLang="en-US" sz="800" dirty="0" err="1"/>
              <a:t>create_client</a:t>
            </a:r>
            <a:r>
              <a:rPr lang="ko-KR" altLang="en-US" sz="800" dirty="0"/>
              <a:t>, </a:t>
            </a:r>
            <a:r>
              <a:rPr lang="ko-KR" altLang="en-US" sz="800" dirty="0" err="1"/>
              <a:t>Client</a:t>
            </a:r>
            <a:endParaRPr lang="ko-KR" altLang="en-US" sz="800" dirty="0"/>
          </a:p>
          <a:p>
            <a:pPr lvl="0">
              <a:defRPr/>
            </a:pPr>
            <a:r>
              <a:rPr lang="ko-KR" altLang="en-US" sz="800" dirty="0" err="1"/>
              <a:t>import</a:t>
            </a:r>
            <a:r>
              <a:rPr lang="ko-KR" altLang="en-US" sz="800" dirty="0"/>
              <a:t> </a:t>
            </a:r>
            <a:r>
              <a:rPr lang="ko-KR" altLang="en-US" sz="800" dirty="0" err="1"/>
              <a:t>json</a:t>
            </a:r>
            <a:endParaRPr lang="ko-KR" altLang="en-US" sz="800" dirty="0"/>
          </a:p>
          <a:p>
            <a:pPr lvl="0">
              <a:defRPr/>
            </a:pPr>
            <a:endParaRPr lang="ko-KR" altLang="en-US" sz="800" dirty="0"/>
          </a:p>
          <a:p>
            <a:pPr lvl="0">
              <a:defRPr/>
            </a:pPr>
            <a:r>
              <a:rPr lang="ko-KR" altLang="en-US" sz="800" dirty="0"/>
              <a:t>SUPABASE_URL = "YOUR_SUPABASE_URL"</a:t>
            </a:r>
          </a:p>
          <a:p>
            <a:pPr lvl="0">
              <a:defRPr/>
            </a:pPr>
            <a:r>
              <a:rPr lang="ko-KR" altLang="en-US" sz="800" dirty="0"/>
              <a:t>SUPABASE_KEY = "YOUR_SUPABASE_ANON_KEY"</a:t>
            </a:r>
          </a:p>
          <a:p>
            <a:pPr lvl="0">
              <a:defRPr/>
            </a:pPr>
            <a:endParaRPr lang="ko-KR" altLang="en-US" sz="800" dirty="0"/>
          </a:p>
          <a:p>
            <a:pPr lvl="0">
              <a:defRPr/>
            </a:pPr>
            <a:r>
              <a:rPr lang="ko-KR" altLang="en-US" sz="800" dirty="0" err="1"/>
              <a:t>supabase</a:t>
            </a:r>
            <a:r>
              <a:rPr lang="ko-KR" altLang="en-US" sz="800" dirty="0"/>
              <a:t>: </a:t>
            </a:r>
            <a:r>
              <a:rPr lang="ko-KR" altLang="en-US" sz="800" dirty="0" err="1"/>
              <a:t>Client</a:t>
            </a:r>
            <a:r>
              <a:rPr lang="ko-KR" altLang="en-US" sz="800" dirty="0"/>
              <a:t> = </a:t>
            </a:r>
            <a:r>
              <a:rPr lang="ko-KR" altLang="en-US" sz="800" dirty="0" err="1"/>
              <a:t>create_client</a:t>
            </a:r>
            <a:r>
              <a:rPr lang="ko-KR" altLang="en-US" sz="800" dirty="0"/>
              <a:t>(SUPABASE_URL, SUPABASE_KEY)</a:t>
            </a:r>
          </a:p>
          <a:p>
            <a:pPr lvl="0">
              <a:defRPr/>
            </a:pPr>
            <a:endParaRPr lang="ko-KR" altLang="en-US" sz="800" dirty="0"/>
          </a:p>
          <a:p>
            <a:pPr lvl="0">
              <a:defRPr/>
            </a:pPr>
            <a:r>
              <a:rPr lang="ko-KR" altLang="en-US" sz="800" dirty="0"/>
              <a:t># 신규 주문 데이터가 들어왔을 때 실행될 실시간 </a:t>
            </a:r>
            <a:r>
              <a:rPr lang="ko-KR" altLang="en-US" sz="800" dirty="0" err="1"/>
              <a:t>콜백</a:t>
            </a:r>
            <a:r>
              <a:rPr lang="ko-KR" altLang="en-US" sz="800" dirty="0"/>
              <a:t> 함수</a:t>
            </a:r>
          </a:p>
          <a:p>
            <a:pPr lvl="0">
              <a:defRPr/>
            </a:pPr>
            <a:r>
              <a:rPr lang="ko-KR" altLang="en-US" sz="800" dirty="0" err="1"/>
              <a:t>def</a:t>
            </a:r>
            <a:r>
              <a:rPr lang="ko-KR" altLang="en-US" sz="800" dirty="0"/>
              <a:t> </a:t>
            </a:r>
            <a:r>
              <a:rPr lang="ko-KR" altLang="en-US" sz="800" dirty="0" err="1"/>
              <a:t>on_new_call_received</a:t>
            </a:r>
            <a:r>
              <a:rPr lang="ko-KR" altLang="en-US" sz="800" dirty="0"/>
              <a:t>(</a:t>
            </a:r>
            <a:r>
              <a:rPr lang="ko-KR" altLang="en-US" sz="800" dirty="0" err="1"/>
              <a:t>payload</a:t>
            </a:r>
            <a:r>
              <a:rPr lang="ko-KR" altLang="en-US" sz="800" dirty="0"/>
              <a:t>):</a:t>
            </a:r>
          </a:p>
          <a:p>
            <a:pPr lvl="0">
              <a:defRPr/>
            </a:pPr>
            <a:r>
              <a:rPr lang="ko-KR" altLang="en-US" sz="800" dirty="0"/>
              <a:t>    </a:t>
            </a:r>
            <a:r>
              <a:rPr lang="ko-KR" altLang="en-US" sz="800" dirty="0" err="1"/>
              <a:t>print</a:t>
            </a:r>
            <a:r>
              <a:rPr lang="ko-KR" altLang="en-US" sz="800" dirty="0"/>
              <a:t>("🔔 신규 통화 데이터 수신 감지!")</a:t>
            </a:r>
          </a:p>
          <a:p>
            <a:pPr lvl="0">
              <a:defRPr/>
            </a:pPr>
            <a:r>
              <a:rPr lang="ko-KR" altLang="en-US" sz="800" dirty="0"/>
              <a:t>    </a:t>
            </a:r>
            <a:r>
              <a:rPr lang="ko-KR" altLang="en-US" sz="800" dirty="0" err="1"/>
              <a:t>new_data</a:t>
            </a:r>
            <a:r>
              <a:rPr lang="ko-KR" altLang="en-US" sz="800" dirty="0"/>
              <a:t> = </a:t>
            </a:r>
            <a:r>
              <a:rPr lang="ko-KR" altLang="en-US" sz="800" dirty="0" err="1"/>
              <a:t>payload.get</a:t>
            </a:r>
            <a:r>
              <a:rPr lang="ko-KR" altLang="en-US" sz="800" dirty="0"/>
              <a:t>('</a:t>
            </a:r>
            <a:r>
              <a:rPr lang="ko-KR" altLang="en-US" sz="800" dirty="0" err="1"/>
              <a:t>record</a:t>
            </a:r>
            <a:r>
              <a:rPr lang="ko-KR" altLang="en-US" sz="800" dirty="0"/>
              <a:t>', {})</a:t>
            </a:r>
          </a:p>
          <a:p>
            <a:pPr lvl="0">
              <a:defRPr/>
            </a:pPr>
            <a:r>
              <a:rPr lang="ko-KR" altLang="en-US" sz="800" dirty="0"/>
              <a:t>    </a:t>
            </a:r>
          </a:p>
          <a:p>
            <a:pPr lvl="0">
              <a:defRPr/>
            </a:pPr>
            <a:r>
              <a:rPr lang="ko-KR" altLang="en-US" sz="800" dirty="0"/>
              <a:t>    </a:t>
            </a:r>
            <a:r>
              <a:rPr lang="ko-KR" altLang="en-US" sz="800" dirty="0" err="1"/>
              <a:t>call_id</a:t>
            </a:r>
            <a:r>
              <a:rPr lang="ko-KR" altLang="en-US" sz="800" dirty="0"/>
              <a:t> = </a:t>
            </a:r>
            <a:r>
              <a:rPr lang="ko-KR" altLang="en-US" sz="800" dirty="0" err="1"/>
              <a:t>new_data.get</a:t>
            </a:r>
            <a:r>
              <a:rPr lang="ko-KR" altLang="en-US" sz="800" dirty="0"/>
              <a:t>('</a:t>
            </a:r>
            <a:r>
              <a:rPr lang="ko-KR" altLang="en-US" sz="800" dirty="0" err="1"/>
              <a:t>id</a:t>
            </a:r>
            <a:r>
              <a:rPr lang="ko-KR" altLang="en-US" sz="800" dirty="0"/>
              <a:t>')</a:t>
            </a:r>
          </a:p>
          <a:p>
            <a:pPr lvl="0">
              <a:defRPr/>
            </a:pPr>
            <a:r>
              <a:rPr lang="ko-KR" altLang="en-US" sz="800" dirty="0"/>
              <a:t>    </a:t>
            </a:r>
            <a:r>
              <a:rPr lang="ko-KR" altLang="en-US" sz="800" dirty="0" err="1"/>
              <a:t>audio_file</a:t>
            </a:r>
            <a:r>
              <a:rPr lang="ko-KR" altLang="en-US" sz="800" dirty="0"/>
              <a:t> = </a:t>
            </a:r>
            <a:r>
              <a:rPr lang="ko-KR" altLang="en-US" sz="800" dirty="0" err="1"/>
              <a:t>new_data.get</a:t>
            </a:r>
            <a:r>
              <a:rPr lang="ko-KR" altLang="en-US" sz="800" dirty="0"/>
              <a:t>('</a:t>
            </a:r>
            <a:r>
              <a:rPr lang="ko-KR" altLang="en-US" sz="800" dirty="0" err="1"/>
              <a:t>audio_file_name</a:t>
            </a:r>
            <a:r>
              <a:rPr lang="ko-KR" altLang="en-US" sz="800" dirty="0"/>
              <a:t>')</a:t>
            </a:r>
          </a:p>
          <a:p>
            <a:pPr lvl="0">
              <a:defRPr/>
            </a:pPr>
            <a:r>
              <a:rPr lang="ko-KR" altLang="en-US" sz="800" dirty="0"/>
              <a:t>    </a:t>
            </a:r>
            <a:r>
              <a:rPr lang="ko-KR" altLang="en-US" sz="800" dirty="0" err="1"/>
              <a:t>user_phone</a:t>
            </a:r>
            <a:r>
              <a:rPr lang="ko-KR" altLang="en-US" sz="800" dirty="0"/>
              <a:t> = </a:t>
            </a:r>
            <a:r>
              <a:rPr lang="ko-KR" altLang="en-US" sz="800" dirty="0" err="1"/>
              <a:t>new_data.get</a:t>
            </a:r>
            <a:r>
              <a:rPr lang="ko-KR" altLang="en-US" sz="800" dirty="0"/>
              <a:t>('</a:t>
            </a:r>
            <a:r>
              <a:rPr lang="ko-KR" altLang="en-US" sz="800" dirty="0" err="1"/>
              <a:t>user_phone_number</a:t>
            </a:r>
            <a:r>
              <a:rPr lang="ko-KR" altLang="en-US" sz="800" dirty="0"/>
              <a:t>')</a:t>
            </a:r>
          </a:p>
          <a:p>
            <a:pPr lvl="0">
              <a:defRPr/>
            </a:pPr>
            <a:r>
              <a:rPr lang="ko-KR" altLang="en-US" sz="800" dirty="0"/>
              <a:t>    </a:t>
            </a:r>
          </a:p>
          <a:p>
            <a:pPr lvl="0">
              <a:defRPr/>
            </a:pPr>
            <a:r>
              <a:rPr lang="ko-KR" altLang="en-US" sz="800" dirty="0"/>
              <a:t>    </a:t>
            </a:r>
            <a:r>
              <a:rPr lang="ko-KR" altLang="en-US" sz="800" dirty="0" err="1"/>
              <a:t>print</a:t>
            </a:r>
            <a:r>
              <a:rPr lang="ko-KR" altLang="en-US" sz="800" dirty="0"/>
              <a:t>(</a:t>
            </a:r>
            <a:r>
              <a:rPr lang="ko-KR" altLang="en-US" sz="800" dirty="0" err="1"/>
              <a:t>f</a:t>
            </a:r>
            <a:r>
              <a:rPr lang="ko-KR" altLang="en-US" sz="800" dirty="0"/>
              <a:t>"🎙️ 분석 시작 -&gt; ID: {</a:t>
            </a:r>
            <a:r>
              <a:rPr lang="ko-KR" altLang="en-US" sz="800" dirty="0" err="1"/>
              <a:t>call_id</a:t>
            </a:r>
            <a:r>
              <a:rPr lang="ko-KR" altLang="en-US" sz="800" dirty="0"/>
              <a:t>}, 파일명: {</a:t>
            </a:r>
            <a:r>
              <a:rPr lang="ko-KR" altLang="en-US" sz="800" dirty="0" err="1"/>
              <a:t>audio_file</a:t>
            </a:r>
            <a:r>
              <a:rPr lang="ko-KR" altLang="en-US" sz="800" dirty="0"/>
              <a:t>}, </a:t>
            </a:r>
            <a:r>
              <a:rPr lang="ko-KR" altLang="en-US" sz="800" dirty="0" err="1"/>
              <a:t>발신단말</a:t>
            </a:r>
            <a:r>
              <a:rPr lang="ko-KR" altLang="en-US" sz="800" dirty="0"/>
              <a:t>: {</a:t>
            </a:r>
            <a:r>
              <a:rPr lang="ko-KR" altLang="en-US" sz="800" dirty="0" err="1"/>
              <a:t>user_phone</a:t>
            </a:r>
            <a:r>
              <a:rPr lang="ko-KR" altLang="en-US" sz="800" dirty="0"/>
              <a:t>}")</a:t>
            </a:r>
          </a:p>
          <a:p>
            <a:pPr lvl="0">
              <a:defRPr/>
            </a:pPr>
            <a:r>
              <a:rPr lang="ko-KR" altLang="en-US" sz="800" dirty="0"/>
              <a:t>    </a:t>
            </a:r>
          </a:p>
          <a:p>
            <a:pPr lvl="0">
              <a:defRPr/>
            </a:pPr>
            <a:r>
              <a:rPr lang="ko-KR" altLang="en-US" sz="800" dirty="0"/>
              <a:t>    # =================────────────────======================</a:t>
            </a:r>
          </a:p>
          <a:p>
            <a:pPr lvl="0">
              <a:defRPr/>
            </a:pPr>
            <a:r>
              <a:rPr lang="ko-KR" altLang="en-US" sz="800" dirty="0"/>
              <a:t>    # 여기에 </a:t>
            </a:r>
            <a:r>
              <a:rPr lang="ko-KR" altLang="en-US" sz="800" dirty="0" err="1"/>
              <a:t>Whisper</a:t>
            </a:r>
            <a:r>
              <a:rPr lang="ko-KR" altLang="en-US" sz="800" dirty="0"/>
              <a:t> STT 및 </a:t>
            </a:r>
            <a:r>
              <a:rPr lang="en-US" altLang="ko-KR" sz="800" dirty="0" smtClean="0"/>
              <a:t>Gemini</a:t>
            </a:r>
            <a:r>
              <a:rPr lang="ko-KR" altLang="en-US" sz="800" dirty="0" smtClean="0"/>
              <a:t>(LLM</a:t>
            </a:r>
            <a:r>
              <a:rPr lang="ko-KR" altLang="en-US" sz="800" dirty="0"/>
              <a:t>) 구동 코드가 배치됩니다.</a:t>
            </a:r>
          </a:p>
          <a:p>
            <a:pPr lvl="0">
              <a:defRPr/>
            </a:pPr>
            <a:r>
              <a:rPr lang="ko-KR" altLang="en-US" sz="800" dirty="0"/>
              <a:t>    # 예: </a:t>
            </a:r>
            <a:r>
              <a:rPr lang="ko-KR" altLang="en-US" sz="800" dirty="0" err="1"/>
              <a:t>text</a:t>
            </a:r>
            <a:r>
              <a:rPr lang="ko-KR" altLang="en-US" sz="800" dirty="0"/>
              <a:t> = </a:t>
            </a:r>
            <a:r>
              <a:rPr lang="ko-KR" altLang="en-US" sz="800" dirty="0" err="1"/>
              <a:t>run_whisper</a:t>
            </a:r>
            <a:r>
              <a:rPr lang="ko-KR" altLang="en-US" sz="800" dirty="0"/>
              <a:t>(</a:t>
            </a:r>
            <a:r>
              <a:rPr lang="ko-KR" altLang="en-US" sz="800" dirty="0" err="1"/>
              <a:t>audio_file</a:t>
            </a:r>
            <a:r>
              <a:rPr lang="ko-KR" altLang="en-US" sz="800" dirty="0"/>
              <a:t>)</a:t>
            </a:r>
          </a:p>
          <a:p>
            <a:pPr lvl="0">
              <a:defRPr/>
            </a:pPr>
            <a:r>
              <a:rPr lang="ko-KR" altLang="en-US" sz="800" dirty="0"/>
              <a:t>    #     </a:t>
            </a:r>
            <a:r>
              <a:rPr lang="ko-KR" altLang="en-US" sz="800" dirty="0" err="1"/>
              <a:t>is_order</a:t>
            </a:r>
            <a:r>
              <a:rPr lang="ko-KR" altLang="en-US" sz="800" dirty="0"/>
              <a:t> = </a:t>
            </a:r>
            <a:r>
              <a:rPr lang="ko-KR" altLang="en-US" sz="800" dirty="0" err="1" smtClean="0"/>
              <a:t>run</a:t>
            </a:r>
            <a:r>
              <a:rPr lang="ko-KR" altLang="en-US" sz="800" dirty="0" smtClean="0"/>
              <a:t>_</a:t>
            </a:r>
            <a:r>
              <a:rPr lang="en-US" altLang="ko-KR" sz="800" dirty="0" smtClean="0"/>
              <a:t>Gemini</a:t>
            </a:r>
            <a:r>
              <a:rPr lang="ko-KR" altLang="en-US" sz="800" dirty="0" smtClean="0"/>
              <a:t>(</a:t>
            </a:r>
            <a:r>
              <a:rPr lang="ko-KR" altLang="en-US" sz="800" dirty="0" err="1" smtClean="0"/>
              <a:t>text</a:t>
            </a:r>
            <a:r>
              <a:rPr lang="ko-KR" altLang="en-US" sz="800" dirty="0"/>
              <a:t>)</a:t>
            </a:r>
          </a:p>
          <a:p>
            <a:pPr lvl="0">
              <a:defRPr/>
            </a:pPr>
            <a:r>
              <a:rPr lang="ko-KR" altLang="en-US" sz="800" dirty="0"/>
              <a:t>    # =================────────────────────────────────======</a:t>
            </a:r>
          </a:p>
          <a:p>
            <a:pPr lvl="0">
              <a:defRPr/>
            </a:pPr>
            <a:endParaRPr lang="ko-KR" altLang="en-US" sz="800" dirty="0"/>
          </a:p>
          <a:p>
            <a:pPr lvl="0">
              <a:defRPr/>
            </a:pPr>
            <a:r>
              <a:rPr lang="ko-KR" altLang="en-US" sz="800" dirty="0"/>
              <a:t># </a:t>
            </a:r>
            <a:r>
              <a:rPr lang="ko-KR" altLang="en-US" sz="800" dirty="0" err="1"/>
              <a:t>Supabase</a:t>
            </a:r>
            <a:r>
              <a:rPr lang="ko-KR" altLang="en-US" sz="800" dirty="0"/>
              <a:t> </a:t>
            </a:r>
            <a:r>
              <a:rPr lang="ko-KR" altLang="en-US" sz="800" dirty="0" err="1"/>
              <a:t>Realtime</a:t>
            </a:r>
            <a:r>
              <a:rPr lang="ko-KR" altLang="en-US" sz="800" dirty="0"/>
              <a:t> 채널 구독 설정</a:t>
            </a:r>
          </a:p>
          <a:p>
            <a:pPr lvl="0">
              <a:defRPr/>
            </a:pPr>
            <a:r>
              <a:rPr lang="ko-KR" altLang="en-US" sz="800" dirty="0" err="1"/>
              <a:t>def</a:t>
            </a:r>
            <a:r>
              <a:rPr lang="ko-KR" altLang="en-US" sz="800" dirty="0"/>
              <a:t> </a:t>
            </a:r>
            <a:r>
              <a:rPr lang="ko-KR" altLang="en-US" sz="800" dirty="0" err="1"/>
              <a:t>start_realtime_listener</a:t>
            </a:r>
            <a:r>
              <a:rPr lang="ko-KR" altLang="en-US" sz="800" dirty="0"/>
              <a:t>():</a:t>
            </a:r>
          </a:p>
          <a:p>
            <a:pPr lvl="0">
              <a:defRPr/>
            </a:pPr>
            <a:r>
              <a:rPr lang="ko-KR" altLang="en-US" sz="800" dirty="0"/>
              <a:t>    # </a:t>
            </a:r>
            <a:r>
              <a:rPr lang="ko-KR" altLang="en-US" sz="800" dirty="0" err="1"/>
              <a:t>server_call_history</a:t>
            </a:r>
            <a:r>
              <a:rPr lang="ko-KR" altLang="en-US" sz="800" dirty="0"/>
              <a:t> 테이블의 INSERT 이벤트만 실시간 감시</a:t>
            </a:r>
          </a:p>
          <a:p>
            <a:pPr lvl="0">
              <a:defRPr/>
            </a:pPr>
            <a:r>
              <a:rPr lang="ko-KR" altLang="en-US" sz="800" dirty="0"/>
              <a:t>    </a:t>
            </a:r>
            <a:r>
              <a:rPr lang="ko-KR" altLang="en-US" sz="800" dirty="0" err="1"/>
              <a:t>channel</a:t>
            </a:r>
            <a:r>
              <a:rPr lang="ko-KR" altLang="en-US" sz="800" dirty="0"/>
              <a:t> = </a:t>
            </a:r>
            <a:r>
              <a:rPr lang="ko-KR" altLang="en-US" sz="800" dirty="0" err="1"/>
              <a:t>supabase.channel</a:t>
            </a:r>
            <a:r>
              <a:rPr lang="ko-KR" altLang="en-US" sz="800" dirty="0"/>
              <a:t>("</a:t>
            </a:r>
            <a:r>
              <a:rPr lang="ko-KR" altLang="en-US" sz="800" dirty="0" err="1"/>
              <a:t>call_watcher</a:t>
            </a:r>
            <a:r>
              <a:rPr lang="ko-KR" altLang="en-US" sz="800" dirty="0"/>
              <a:t>")</a:t>
            </a:r>
          </a:p>
          <a:p>
            <a:pPr lvl="0">
              <a:defRPr/>
            </a:pPr>
            <a:r>
              <a:rPr lang="ko-KR" altLang="en-US" sz="800" dirty="0"/>
              <a:t>    </a:t>
            </a:r>
            <a:r>
              <a:rPr lang="ko-KR" altLang="en-US" sz="800" dirty="0" err="1"/>
              <a:t>channel.on</a:t>
            </a:r>
            <a:r>
              <a:rPr lang="ko-KR" altLang="en-US" sz="800" dirty="0"/>
              <a:t>(</a:t>
            </a:r>
          </a:p>
          <a:p>
            <a:pPr lvl="0">
              <a:defRPr/>
            </a:pPr>
            <a:r>
              <a:rPr lang="ko-KR" altLang="en-US" sz="800" dirty="0"/>
              <a:t>        "</a:t>
            </a:r>
            <a:r>
              <a:rPr lang="ko-KR" altLang="en-US" sz="800" dirty="0" err="1"/>
              <a:t>postgres_changes</a:t>
            </a:r>
            <a:r>
              <a:rPr lang="ko-KR" altLang="en-US" sz="800" dirty="0"/>
              <a:t>",</a:t>
            </a:r>
          </a:p>
          <a:p>
            <a:pPr lvl="0">
              <a:defRPr/>
            </a:pPr>
            <a:r>
              <a:rPr lang="ko-KR" altLang="en-US" sz="800" dirty="0"/>
              <a:t>        {"</a:t>
            </a:r>
            <a:r>
              <a:rPr lang="ko-KR" altLang="en-US" sz="800" dirty="0" err="1"/>
              <a:t>event</a:t>
            </a:r>
            <a:r>
              <a:rPr lang="ko-KR" altLang="en-US" sz="800" dirty="0"/>
              <a:t>": "INSERT", "</a:t>
            </a:r>
            <a:r>
              <a:rPr lang="ko-KR" altLang="en-US" sz="800" dirty="0" err="1"/>
              <a:t>schema</a:t>
            </a:r>
            <a:r>
              <a:rPr lang="ko-KR" altLang="en-US" sz="800" dirty="0"/>
              <a:t>": "</a:t>
            </a:r>
            <a:r>
              <a:rPr lang="ko-KR" altLang="en-US" sz="800" dirty="0" err="1"/>
              <a:t>public</a:t>
            </a:r>
            <a:r>
              <a:rPr lang="ko-KR" altLang="en-US" sz="800" dirty="0"/>
              <a:t>", "</a:t>
            </a:r>
            <a:r>
              <a:rPr lang="ko-KR" altLang="en-US" sz="800" dirty="0" err="1"/>
              <a:t>table</a:t>
            </a:r>
            <a:r>
              <a:rPr lang="ko-KR" altLang="en-US" sz="800" dirty="0"/>
              <a:t>": "</a:t>
            </a:r>
            <a:r>
              <a:rPr lang="ko-KR" altLang="en-US" sz="800" dirty="0" err="1"/>
              <a:t>server_call_history</a:t>
            </a:r>
            <a:r>
              <a:rPr lang="ko-KR" altLang="en-US" sz="800" dirty="0"/>
              <a:t>"},</a:t>
            </a:r>
          </a:p>
          <a:p>
            <a:pPr lvl="0">
              <a:defRPr/>
            </a:pPr>
            <a:r>
              <a:rPr lang="ko-KR" altLang="en-US" sz="800" dirty="0"/>
              <a:t>        </a:t>
            </a:r>
            <a:r>
              <a:rPr lang="ko-KR" altLang="en-US" sz="800" dirty="0" err="1"/>
              <a:t>on_new_call_received</a:t>
            </a:r>
            <a:endParaRPr lang="ko-KR" altLang="en-US" sz="800" dirty="0"/>
          </a:p>
          <a:p>
            <a:pPr lvl="0">
              <a:defRPr/>
            </a:pPr>
            <a:r>
              <a:rPr lang="ko-KR" altLang="en-US" sz="800" dirty="0"/>
              <a:t>    ).</a:t>
            </a:r>
            <a:r>
              <a:rPr lang="ko-KR" altLang="en-US" sz="800" dirty="0" err="1"/>
              <a:t>subscribe</a:t>
            </a:r>
            <a:r>
              <a:rPr lang="ko-KR" altLang="en-US" sz="800" dirty="0"/>
              <a:t>()</a:t>
            </a:r>
          </a:p>
          <a:p>
            <a:pPr lvl="0">
              <a:defRPr/>
            </a:pPr>
            <a:r>
              <a:rPr lang="ko-KR" altLang="en-US" sz="800" dirty="0"/>
              <a:t>    </a:t>
            </a:r>
          </a:p>
          <a:p>
            <a:pPr lvl="0">
              <a:defRPr/>
            </a:pPr>
            <a:r>
              <a:rPr lang="ko-KR" altLang="en-US" sz="800" dirty="0"/>
              <a:t>    </a:t>
            </a:r>
            <a:r>
              <a:rPr lang="ko-KR" altLang="en-US" sz="800" dirty="0" err="1"/>
              <a:t>print</a:t>
            </a:r>
            <a:r>
              <a:rPr lang="ko-KR" altLang="en-US" sz="800" dirty="0"/>
              <a:t>("🚀 웹1 백그라운드 서비스가 </a:t>
            </a:r>
            <a:r>
              <a:rPr lang="ko-KR" altLang="en-US" sz="800" dirty="0" err="1"/>
              <a:t>Supabase</a:t>
            </a:r>
            <a:r>
              <a:rPr lang="ko-KR" altLang="en-US" sz="800" dirty="0"/>
              <a:t> </a:t>
            </a:r>
            <a:r>
              <a:rPr lang="ko-KR" altLang="en-US" sz="800" dirty="0" err="1"/>
              <a:t>Realtime</a:t>
            </a:r>
            <a:r>
              <a:rPr lang="ko-KR" altLang="en-US" sz="800" dirty="0"/>
              <a:t> 감시를 시작했습니다...")</a:t>
            </a:r>
          </a:p>
          <a:p>
            <a:pPr lvl="0">
              <a:defRPr/>
            </a:pPr>
            <a:r>
              <a:rPr lang="ko-KR" altLang="en-US" sz="800" dirty="0"/>
              <a:t>    # 백그라운드 서비스가 종료되지 않도록 무한 대기 루프 구동</a:t>
            </a:r>
          </a:p>
          <a:p>
            <a:pPr lvl="0">
              <a:defRPr/>
            </a:pPr>
            <a:r>
              <a:rPr lang="ko-KR" altLang="en-US" sz="800" dirty="0"/>
              <a:t>    </a:t>
            </a:r>
            <a:r>
              <a:rPr lang="ko-KR" altLang="en-US" sz="800" dirty="0" err="1"/>
              <a:t>loop</a:t>
            </a:r>
            <a:r>
              <a:rPr lang="ko-KR" altLang="en-US" sz="800" dirty="0"/>
              <a:t> = </a:t>
            </a:r>
            <a:r>
              <a:rPr lang="ko-KR" altLang="en-US" sz="800" dirty="0" err="1"/>
              <a:t>asyncio.get_event_loop</a:t>
            </a:r>
            <a:r>
              <a:rPr lang="ko-KR" altLang="en-US" sz="800" dirty="0"/>
              <a:t>()</a:t>
            </a:r>
          </a:p>
          <a:p>
            <a:pPr lvl="0">
              <a:defRPr/>
            </a:pPr>
            <a:r>
              <a:rPr lang="ko-KR" altLang="en-US" sz="800" dirty="0"/>
              <a:t>    </a:t>
            </a:r>
            <a:r>
              <a:rPr lang="ko-KR" altLang="en-US" sz="800" dirty="0" err="1"/>
              <a:t>loop.run_forever</a:t>
            </a:r>
            <a:r>
              <a:rPr lang="ko-KR" altLang="en-US" sz="800" dirty="0"/>
              <a:t>()</a:t>
            </a:r>
          </a:p>
          <a:p>
            <a:pPr lvl="0">
              <a:defRPr/>
            </a:pPr>
            <a:endParaRPr lang="ko-KR" altLang="en-US" sz="800" dirty="0"/>
          </a:p>
          <a:p>
            <a:pPr lvl="0">
              <a:defRPr/>
            </a:pPr>
            <a:r>
              <a:rPr lang="ko-KR" altLang="en-US" sz="800" dirty="0" err="1"/>
              <a:t>if</a:t>
            </a:r>
            <a:r>
              <a:rPr lang="ko-KR" altLang="en-US" sz="800" dirty="0"/>
              <a:t> __</a:t>
            </a:r>
            <a:r>
              <a:rPr lang="ko-KR" altLang="en-US" sz="800" dirty="0" err="1"/>
              <a:t>name</a:t>
            </a:r>
            <a:r>
              <a:rPr lang="ko-KR" altLang="en-US" sz="800" dirty="0"/>
              <a:t>__ == "__</a:t>
            </a:r>
            <a:r>
              <a:rPr lang="ko-KR" altLang="en-US" sz="800" dirty="0" err="1"/>
              <a:t>main</a:t>
            </a:r>
            <a:r>
              <a:rPr lang="ko-KR" altLang="en-US" sz="800" dirty="0"/>
              <a:t>__":</a:t>
            </a:r>
          </a:p>
          <a:p>
            <a:pPr lvl="0">
              <a:defRPr/>
            </a:pPr>
            <a:r>
              <a:rPr lang="ko-KR" altLang="en-US" sz="800" dirty="0"/>
              <a:t>    </a:t>
            </a:r>
            <a:r>
              <a:rPr lang="ko-KR" altLang="en-US" sz="800" dirty="0" err="1"/>
              <a:t>start_realtime_listener</a:t>
            </a:r>
            <a:r>
              <a:rPr lang="ko-KR" altLang="en-US" sz="800" dirty="0"/>
              <a:t>()</a:t>
            </a:r>
          </a:p>
          <a:p>
            <a:pPr lvl="0">
              <a:defRPr/>
            </a:pPr>
            <a:r>
              <a:rPr lang="ko-KR" altLang="en-US" sz="800" dirty="0"/>
              <a:t>⚠️ 주의 사항 (</a:t>
            </a:r>
            <a:r>
              <a:rPr lang="ko-KR" altLang="en-US" sz="800" dirty="0" err="1"/>
              <a:t>Supabase</a:t>
            </a:r>
            <a:r>
              <a:rPr lang="ko-KR" altLang="en-US" sz="800" dirty="0"/>
              <a:t> 설정 필수): </a:t>
            </a:r>
            <a:r>
              <a:rPr lang="ko-KR" altLang="en-US" sz="800" dirty="0" err="1"/>
              <a:t>Supabase</a:t>
            </a:r>
            <a:r>
              <a:rPr lang="ko-KR" altLang="en-US" sz="800" dirty="0"/>
              <a:t> 대시보드 메뉴에서 </a:t>
            </a:r>
            <a:r>
              <a:rPr lang="ko-KR" altLang="en-US" sz="800" dirty="0" err="1"/>
              <a:t>Database</a:t>
            </a:r>
            <a:r>
              <a:rPr lang="ko-KR" altLang="en-US" sz="800" dirty="0"/>
              <a:t> -&gt; </a:t>
            </a:r>
            <a:r>
              <a:rPr lang="ko-KR" altLang="en-US" sz="800" dirty="0" err="1"/>
              <a:t>Replication으로</a:t>
            </a:r>
            <a:r>
              <a:rPr lang="ko-KR" altLang="en-US" sz="800" dirty="0"/>
              <a:t> 이동한 후, </a:t>
            </a:r>
            <a:r>
              <a:rPr lang="ko-KR" altLang="en-US" sz="800" dirty="0" err="1"/>
              <a:t>server_call_history</a:t>
            </a:r>
            <a:r>
              <a:rPr lang="ko-KR" altLang="en-US" sz="800" dirty="0"/>
              <a:t> 테이블의 </a:t>
            </a:r>
            <a:r>
              <a:rPr lang="ko-KR" altLang="en-US" sz="800" dirty="0" err="1"/>
              <a:t>Realtime</a:t>
            </a:r>
            <a:r>
              <a:rPr lang="ko-KR" altLang="en-US" sz="800" dirty="0"/>
              <a:t> 기능(</a:t>
            </a:r>
            <a:r>
              <a:rPr lang="ko-KR" altLang="en-US" sz="800" dirty="0" err="1"/>
              <a:t>Source</a:t>
            </a:r>
            <a:r>
              <a:rPr lang="ko-KR" altLang="en-US" sz="800" dirty="0"/>
              <a:t> 테이블 활성화)을 반드시 </a:t>
            </a:r>
            <a:r>
              <a:rPr lang="ko-KR" altLang="en-US" sz="800" dirty="0" err="1"/>
              <a:t>켜주셔야</a:t>
            </a:r>
            <a:r>
              <a:rPr lang="ko-KR" altLang="en-US" sz="800" dirty="0"/>
              <a:t> 위 코드가 작동합니다.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567268" y="663770"/>
            <a:ext cx="617220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900" dirty="0" smtClean="0"/>
              <a:t>가장 </a:t>
            </a:r>
            <a:r>
              <a:rPr lang="ko-KR" altLang="en-US" sz="900" dirty="0"/>
              <a:t>안정적인 업그레이드 방식은 각 </a:t>
            </a:r>
            <a:r>
              <a:rPr lang="ko-KR" altLang="en-US" sz="900" dirty="0" smtClean="0"/>
              <a:t>쇼핑몰이 </a:t>
            </a:r>
            <a:r>
              <a:rPr lang="ko-KR" altLang="en-US" sz="900" dirty="0"/>
              <a:t>제공하는 공식 </a:t>
            </a:r>
            <a:r>
              <a:rPr lang="ko-KR" altLang="en-US" sz="900" b="1" dirty="0"/>
              <a:t>주문 수집 </a:t>
            </a:r>
            <a:r>
              <a:rPr lang="en-US" altLang="ko-KR" sz="900" b="1" dirty="0"/>
              <a:t>API</a:t>
            </a:r>
            <a:r>
              <a:rPr lang="ko-KR" altLang="en-US" sz="900" dirty="0"/>
              <a:t> 또는 </a:t>
            </a:r>
            <a:endParaRPr lang="en-US" altLang="ko-KR" sz="900" dirty="0" smtClean="0"/>
          </a:p>
          <a:p>
            <a:r>
              <a:rPr lang="ko-KR" altLang="en-US" sz="900" dirty="0" smtClean="0"/>
              <a:t>주문 </a:t>
            </a:r>
            <a:r>
              <a:rPr lang="ko-KR" altLang="en-US" sz="900" dirty="0"/>
              <a:t>발생 시 </a:t>
            </a:r>
            <a:r>
              <a:rPr lang="ko-KR" altLang="en-US" sz="900" dirty="0" smtClean="0"/>
              <a:t>사장님 </a:t>
            </a:r>
            <a:r>
              <a:rPr lang="ko-KR" altLang="en-US" sz="900" dirty="0"/>
              <a:t>메일</a:t>
            </a:r>
            <a:r>
              <a:rPr lang="en-US" altLang="ko-KR" sz="900" dirty="0"/>
              <a:t>/</a:t>
            </a:r>
            <a:r>
              <a:rPr lang="ko-KR" altLang="en-US" sz="900" dirty="0"/>
              <a:t>문자로 날아오는 </a:t>
            </a:r>
            <a:r>
              <a:rPr lang="en-US" altLang="ko-KR" sz="900" dirty="0"/>
              <a:t>'</a:t>
            </a:r>
            <a:r>
              <a:rPr lang="ko-KR" altLang="en-US" sz="900" dirty="0"/>
              <a:t>주문 접수 알림 메일 </a:t>
            </a:r>
            <a:r>
              <a:rPr lang="ko-KR" altLang="en-US" sz="900" dirty="0" err="1"/>
              <a:t>파싱</a:t>
            </a:r>
            <a:r>
              <a:rPr lang="en-US" altLang="ko-KR" sz="900" dirty="0"/>
              <a:t>(Email Parsing) </a:t>
            </a:r>
            <a:r>
              <a:rPr lang="ko-KR" altLang="en-US" sz="900" dirty="0"/>
              <a:t>시스템</a:t>
            </a:r>
            <a:r>
              <a:rPr lang="en-US" altLang="ko-KR" sz="900" dirty="0"/>
              <a:t>'</a:t>
            </a:r>
            <a:r>
              <a:rPr lang="ko-KR" altLang="en-US" sz="900" dirty="0"/>
              <a:t>을 도입하는 것입니다</a:t>
            </a:r>
            <a:r>
              <a:rPr lang="en-US" altLang="ko-KR" sz="900" dirty="0"/>
              <a:t>. </a:t>
            </a:r>
            <a:endParaRPr lang="en-US" altLang="ko-KR" sz="900" dirty="0" smtClean="0"/>
          </a:p>
          <a:p>
            <a:r>
              <a:rPr lang="ko-KR" altLang="en-US" sz="900" dirty="0" smtClean="0"/>
              <a:t>타사 </a:t>
            </a:r>
            <a:r>
              <a:rPr lang="ko-KR" altLang="en-US" sz="900" dirty="0"/>
              <a:t>웹사이트 화면 변화에 영향을 받지 않아 </a:t>
            </a:r>
            <a:r>
              <a:rPr lang="en-US" altLang="ko-KR" sz="900" dirty="0"/>
              <a:t>A/S </a:t>
            </a:r>
            <a:r>
              <a:rPr lang="ko-KR" altLang="en-US" sz="900" dirty="0"/>
              <a:t>발생률이 </a:t>
            </a:r>
            <a:r>
              <a:rPr lang="en-US" altLang="ko-KR" sz="900" dirty="0"/>
              <a:t>95% </a:t>
            </a:r>
            <a:r>
              <a:rPr lang="ko-KR" altLang="en-US" sz="900" dirty="0"/>
              <a:t>이상 감소합니다</a:t>
            </a:r>
            <a:r>
              <a:rPr lang="en-US" altLang="ko-KR" sz="900" dirty="0"/>
              <a:t>.</a:t>
            </a:r>
            <a:endParaRPr lang="ko-KR" altLang="en-US" sz="900" dirty="0"/>
          </a:p>
        </p:txBody>
      </p:sp>
      <p:sp>
        <p:nvSpPr>
          <p:cNvPr id="3" name="TextBox 2"/>
          <p:cNvSpPr txBox="1"/>
          <p:nvPr/>
        </p:nvSpPr>
        <p:spPr>
          <a:xfrm>
            <a:off x="287111" y="266087"/>
            <a:ext cx="6674263" cy="276999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200" b="1" dirty="0" smtClean="0"/>
              <a:t>3-3.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 </a:t>
            </a:r>
            <a:r>
              <a:rPr lang="en-US" altLang="ko-KR" sz="1200" b="1" dirty="0"/>
              <a:t>[</a:t>
            </a:r>
            <a:r>
              <a:rPr lang="ko-KR" altLang="en-US" sz="1200" b="1" dirty="0"/>
              <a:t>핸드폰 앱 채널</a:t>
            </a:r>
            <a:r>
              <a:rPr lang="en-US" altLang="ko-KR" sz="1200" b="1" dirty="0"/>
              <a:t>]: </a:t>
            </a:r>
            <a:r>
              <a:rPr lang="ko-KR" altLang="en-US" sz="1200" b="1" dirty="0"/>
              <a:t>서버 </a:t>
            </a:r>
            <a:r>
              <a:rPr lang="en-US" altLang="ko-KR" sz="1200" b="1" dirty="0"/>
              <a:t>Database</a:t>
            </a:r>
            <a:r>
              <a:rPr lang="ko-KR" altLang="en-US" sz="1200" b="1" dirty="0"/>
              <a:t>에 주문음성파일 </a:t>
            </a:r>
            <a:r>
              <a:rPr lang="ko-KR" altLang="en-US" sz="1200" b="1" dirty="0" err="1"/>
              <a:t>추가시</a:t>
            </a:r>
            <a:r>
              <a:rPr lang="ko-KR" altLang="en-US" sz="1200" b="1" dirty="0"/>
              <a:t> </a:t>
            </a:r>
            <a:r>
              <a:rPr lang="en-US" altLang="ko-KR" sz="1200" b="1" dirty="0" err="1"/>
              <a:t>ggotAIorder</a:t>
            </a:r>
            <a:r>
              <a:rPr lang="ko-KR" altLang="en-US" sz="1200" b="1" dirty="0"/>
              <a:t>가 파악하는 방법</a:t>
            </a:r>
            <a:endParaRPr lang="en-US" altLang="ko-KR" sz="1200" b="1" dirty="0"/>
          </a:p>
        </p:txBody>
      </p:sp>
    </p:spTree>
    <p:extLst>
      <p:ext uri="{BB962C8B-B14F-4D97-AF65-F5344CB8AC3E}">
        <p14:creationId xmlns:p14="http://schemas.microsoft.com/office/powerpoint/2010/main" val="40313312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2" name="직선 연결선 121"/>
          <p:cNvCxnSpPr/>
          <p:nvPr/>
        </p:nvCxnSpPr>
        <p:spPr>
          <a:xfrm flipH="1" flipV="1">
            <a:off x="13629633" y="2047246"/>
            <a:ext cx="1" cy="2887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/>
          <p:cNvCxnSpPr/>
          <p:nvPr/>
        </p:nvCxnSpPr>
        <p:spPr>
          <a:xfrm flipH="1" flipV="1">
            <a:off x="15448908" y="2046707"/>
            <a:ext cx="1" cy="2887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/>
          <p:cNvSpPr/>
          <p:nvPr/>
        </p:nvSpPr>
        <p:spPr>
          <a:xfrm>
            <a:off x="0" y="94710"/>
            <a:ext cx="9901645" cy="64171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 b="1" dirty="0" smtClean="0"/>
              <a:t>3-4. </a:t>
            </a:r>
            <a:r>
              <a:rPr lang="en-US" altLang="ko-KR" sz="1200" b="1" dirty="0"/>
              <a:t>[</a:t>
            </a:r>
            <a:r>
              <a:rPr lang="ko-KR" altLang="en-US" sz="1200" b="1" dirty="0" err="1"/>
              <a:t>인터라넷</a:t>
            </a:r>
            <a:r>
              <a:rPr lang="ko-KR" altLang="en-US" sz="1200" b="1" dirty="0"/>
              <a:t> 채널</a:t>
            </a:r>
            <a:r>
              <a:rPr lang="en-US" altLang="ko-KR" sz="1200" b="1" dirty="0"/>
              <a:t>]: "</a:t>
            </a:r>
            <a:r>
              <a:rPr lang="ko-KR" altLang="en-US" sz="1200" b="1" dirty="0" err="1"/>
              <a:t>인터라넷</a:t>
            </a:r>
            <a:r>
              <a:rPr lang="ko-KR" altLang="en-US" sz="1200" b="1" dirty="0"/>
              <a:t> </a:t>
            </a:r>
            <a:r>
              <a:rPr lang="ko-KR" altLang="en-US" sz="1200" b="1" dirty="0" err="1"/>
              <a:t>크롤링</a:t>
            </a:r>
            <a:r>
              <a:rPr lang="ko-KR" altLang="en-US" sz="1200" b="1" dirty="0"/>
              <a:t> 주문 수집 가이드 및 상세 </a:t>
            </a:r>
          </a:p>
          <a:p>
            <a:pPr lvl="0">
              <a:defRPr/>
            </a:pPr>
            <a:endParaRPr lang="en-US" altLang="ko-KR" sz="900" dirty="0"/>
          </a:p>
          <a:p>
            <a:pPr lvl="0">
              <a:defRPr/>
            </a:pPr>
            <a:r>
              <a:rPr lang="ko-KR" altLang="en-US" sz="900" dirty="0" err="1"/>
              <a:t>바이브</a:t>
            </a:r>
            <a:r>
              <a:rPr lang="ko-KR" altLang="en-US" sz="900" dirty="0"/>
              <a:t> 코딩</a:t>
            </a:r>
            <a:r>
              <a:rPr lang="en-US" altLang="ko-KR" sz="900" dirty="0"/>
              <a:t>(Vibe Coding) </a:t>
            </a:r>
            <a:r>
              <a:rPr lang="ko-KR" altLang="en-US" sz="900" dirty="0"/>
              <a:t>시 </a:t>
            </a:r>
            <a:r>
              <a:rPr lang="en-US" altLang="ko-KR" sz="900" dirty="0"/>
              <a:t>AI</a:t>
            </a:r>
            <a:r>
              <a:rPr lang="ko-KR" altLang="en-US" sz="900" dirty="0"/>
              <a:t>가 올바른 </a:t>
            </a:r>
            <a:r>
              <a:rPr lang="ko-KR" altLang="en-US" sz="900" dirty="0" err="1"/>
              <a:t>크롤링</a:t>
            </a:r>
            <a:r>
              <a:rPr lang="ko-KR" altLang="en-US" sz="900" dirty="0"/>
              <a:t> 봇과 스케줄러 코드를 짜도록 주입할 </a:t>
            </a:r>
            <a:r>
              <a:rPr lang="en-US" altLang="ko-KR" sz="900" dirty="0"/>
              <a:t>"</a:t>
            </a:r>
            <a:r>
              <a:rPr lang="ko-KR" altLang="en-US" sz="900" dirty="0" err="1"/>
              <a:t>인터라넷</a:t>
            </a:r>
            <a:r>
              <a:rPr lang="ko-KR" altLang="en-US" sz="900" dirty="0"/>
              <a:t> </a:t>
            </a:r>
            <a:r>
              <a:rPr lang="ko-KR" altLang="en-US" sz="900" dirty="0" err="1"/>
              <a:t>크롤링</a:t>
            </a:r>
            <a:r>
              <a:rPr lang="ko-KR" altLang="en-US" sz="900" dirty="0"/>
              <a:t> 주문 수집 가이드 및 상세 절차</a:t>
            </a:r>
            <a:r>
              <a:rPr lang="en-US" altLang="ko-KR" sz="900" dirty="0"/>
              <a:t>"</a:t>
            </a:r>
            <a:r>
              <a:rPr lang="ko-KR" altLang="en-US" sz="900" dirty="0" smtClean="0"/>
              <a:t>입니다</a:t>
            </a:r>
            <a:endParaRPr lang="en-US" altLang="ko-KR" sz="900" dirty="0"/>
          </a:p>
          <a:p>
            <a:pPr lvl="0">
              <a:defRPr/>
            </a:pPr>
            <a:endParaRPr lang="en-US" altLang="ko-KR" sz="900" dirty="0"/>
          </a:p>
          <a:p>
            <a:pPr lvl="0">
              <a:defRPr/>
            </a:pPr>
            <a:r>
              <a:rPr lang="en-US" altLang="ko-KR" sz="900" dirty="0"/>
              <a:t>[</a:t>
            </a:r>
            <a:r>
              <a:rPr lang="ko-KR" altLang="en-US" sz="900" dirty="0"/>
              <a:t>상세 명세</a:t>
            </a:r>
            <a:r>
              <a:rPr lang="en-US" altLang="ko-KR" sz="900" dirty="0"/>
              <a:t>] </a:t>
            </a:r>
            <a:r>
              <a:rPr lang="ko-KR" altLang="en-US" sz="900" dirty="0" err="1"/>
              <a:t>인터라넷</a:t>
            </a:r>
            <a:r>
              <a:rPr lang="ko-KR" altLang="en-US" sz="900" dirty="0"/>
              <a:t> </a:t>
            </a:r>
            <a:r>
              <a:rPr lang="ko-KR" altLang="en-US" sz="900" dirty="0" err="1"/>
              <a:t>크롤링</a:t>
            </a:r>
            <a:r>
              <a:rPr lang="ko-KR" altLang="en-US" sz="900" dirty="0"/>
              <a:t> 주문 데이터 수집 절차</a:t>
            </a:r>
          </a:p>
          <a:p>
            <a:pPr lvl="0">
              <a:defRPr/>
            </a:pPr>
            <a:r>
              <a:rPr lang="ko-KR" altLang="en-US" sz="900" dirty="0" err="1"/>
              <a:t>인터라넷</a:t>
            </a:r>
            <a:r>
              <a:rPr lang="ko-KR" altLang="en-US" sz="900" dirty="0"/>
              <a:t> 채널의 </a:t>
            </a:r>
            <a:r>
              <a:rPr lang="ko-KR" altLang="en-US" sz="900" dirty="0" err="1"/>
              <a:t>크롤링</a:t>
            </a:r>
            <a:r>
              <a:rPr lang="ko-KR" altLang="en-US" sz="900" dirty="0"/>
              <a:t> 수집은 웹</a:t>
            </a:r>
            <a:r>
              <a:rPr lang="en-US" altLang="ko-KR" sz="900" dirty="0"/>
              <a:t>1(PC </a:t>
            </a:r>
            <a:r>
              <a:rPr lang="ko-KR" altLang="en-US" sz="900" dirty="0"/>
              <a:t>백그라운드 서비스</a:t>
            </a:r>
            <a:r>
              <a:rPr lang="en-US" altLang="ko-KR" sz="900" dirty="0"/>
              <a:t>, </a:t>
            </a:r>
            <a:r>
              <a:rPr lang="en-US" altLang="ko-KR" sz="900" dirty="0" err="1"/>
              <a:t>ggotAIorder</a:t>
            </a:r>
            <a:r>
              <a:rPr lang="en-US" altLang="ko-KR" sz="900" dirty="0"/>
              <a:t>) </a:t>
            </a:r>
            <a:r>
              <a:rPr lang="ko-KR" altLang="en-US" sz="900" dirty="0"/>
              <a:t>내부의 독립적인 스케줄러 모듈로 구동되며</a:t>
            </a:r>
            <a:r>
              <a:rPr lang="en-US" altLang="ko-KR" sz="900" dirty="0"/>
              <a:t>, </a:t>
            </a:r>
            <a:r>
              <a:rPr lang="ko-KR" altLang="en-US" sz="900" dirty="0"/>
              <a:t>총 </a:t>
            </a:r>
            <a:r>
              <a:rPr lang="en-US" altLang="ko-KR" sz="900" dirty="0"/>
              <a:t>5</a:t>
            </a:r>
            <a:r>
              <a:rPr lang="ko-KR" altLang="en-US" sz="900" dirty="0"/>
              <a:t>단계의 절차를 거칩니다</a:t>
            </a:r>
            <a:r>
              <a:rPr lang="en-US" altLang="ko-KR" sz="900" dirty="0"/>
              <a:t>.</a:t>
            </a:r>
          </a:p>
          <a:p>
            <a:pPr lvl="0">
              <a:defRPr/>
            </a:pPr>
            <a:endParaRPr lang="en-US" altLang="ko-KR" sz="900" dirty="0"/>
          </a:p>
          <a:p>
            <a:pPr lvl="0">
              <a:defRPr/>
            </a:pPr>
            <a:r>
              <a:rPr lang="en-US" altLang="ko-KR" sz="1000" b="1" dirty="0"/>
              <a:t>1</a:t>
            </a:r>
            <a:r>
              <a:rPr lang="ko-KR" altLang="en-US" sz="1000" b="1" dirty="0"/>
              <a:t>단계</a:t>
            </a:r>
            <a:r>
              <a:rPr lang="en-US" altLang="ko-KR" sz="1000" b="1" dirty="0"/>
              <a:t>: </a:t>
            </a:r>
            <a:r>
              <a:rPr lang="ko-KR" altLang="en-US" sz="1000" b="1" dirty="0" err="1"/>
              <a:t>크롤러</a:t>
            </a:r>
            <a:r>
              <a:rPr lang="ko-KR" altLang="en-US" sz="1000" b="1" dirty="0"/>
              <a:t> 환경 초기화 및 자동 로그인 </a:t>
            </a:r>
            <a:r>
              <a:rPr lang="en-US" altLang="ko-KR" sz="1000" b="1" dirty="0"/>
              <a:t>(Session </a:t>
            </a:r>
            <a:r>
              <a:rPr lang="ko-KR" altLang="en-US" sz="1000" b="1" dirty="0"/>
              <a:t>획득</a:t>
            </a:r>
            <a:r>
              <a:rPr lang="en-US" altLang="ko-KR" sz="1000" b="1" dirty="0"/>
              <a:t>)</a:t>
            </a:r>
          </a:p>
          <a:p>
            <a:pPr lvl="0">
              <a:defRPr/>
            </a:pPr>
            <a:r>
              <a:rPr lang="ko-KR" altLang="en-US" sz="900" dirty="0" err="1"/>
              <a:t>크롤러가</a:t>
            </a:r>
            <a:r>
              <a:rPr lang="ko-KR" altLang="en-US" sz="900" dirty="0"/>
              <a:t> 사람이 브라우저를 켜서 들어가는 것처럼 안전하게 </a:t>
            </a:r>
            <a:r>
              <a:rPr lang="ko-KR" altLang="en-US" sz="900" dirty="0" err="1"/>
              <a:t>인터라넷에</a:t>
            </a:r>
            <a:r>
              <a:rPr lang="ko-KR" altLang="en-US" sz="900" dirty="0"/>
              <a:t> 접속하는 단계입니다</a:t>
            </a:r>
            <a:r>
              <a:rPr lang="en-US" altLang="ko-KR" sz="900" dirty="0"/>
              <a:t>.</a:t>
            </a:r>
          </a:p>
          <a:p>
            <a:pPr lvl="0">
              <a:defRPr/>
            </a:pPr>
            <a:endParaRPr lang="en-US" altLang="ko-KR" sz="900" dirty="0"/>
          </a:p>
          <a:p>
            <a:pPr lvl="0">
              <a:defRPr/>
            </a:pPr>
            <a:r>
              <a:rPr lang="en-US" altLang="ko-KR" sz="900" dirty="0"/>
              <a:t>headless </a:t>
            </a:r>
            <a:r>
              <a:rPr lang="ko-KR" altLang="en-US" sz="900" dirty="0"/>
              <a:t>브라우저 구동</a:t>
            </a:r>
            <a:r>
              <a:rPr lang="en-US" altLang="ko-KR" sz="900" dirty="0"/>
              <a:t>: </a:t>
            </a:r>
            <a:r>
              <a:rPr lang="ko-KR" altLang="en-US" sz="900" dirty="0"/>
              <a:t>서버 메모리 자원 절약을 위해 화면이 뜨지 않는 </a:t>
            </a:r>
            <a:r>
              <a:rPr lang="en-US" altLang="ko-KR" sz="900" dirty="0"/>
              <a:t>Headless </a:t>
            </a:r>
            <a:r>
              <a:rPr lang="ko-KR" altLang="en-US" sz="900" dirty="0"/>
              <a:t>모드의 </a:t>
            </a:r>
            <a:r>
              <a:rPr lang="ko-KR" altLang="en-US" sz="900" dirty="0" err="1"/>
              <a:t>크롤러</a:t>
            </a:r>
            <a:r>
              <a:rPr lang="ko-KR" altLang="en-US" sz="900" dirty="0"/>
              <a:t> 라이브러리</a:t>
            </a:r>
            <a:r>
              <a:rPr lang="en-US" altLang="ko-KR" sz="900" dirty="0"/>
              <a:t>(Python</a:t>
            </a:r>
            <a:r>
              <a:rPr lang="ko-KR" altLang="en-US" sz="900" dirty="0"/>
              <a:t>의 </a:t>
            </a:r>
            <a:r>
              <a:rPr lang="en-US" altLang="ko-KR" sz="900" dirty="0"/>
              <a:t>Playwright </a:t>
            </a:r>
            <a:r>
              <a:rPr lang="ko-KR" altLang="en-US" sz="900" dirty="0"/>
              <a:t>또는 </a:t>
            </a:r>
            <a:r>
              <a:rPr lang="en-US" altLang="ko-KR" sz="900" dirty="0"/>
              <a:t>Selenium)</a:t>
            </a:r>
            <a:r>
              <a:rPr lang="ko-KR" altLang="en-US" sz="900" dirty="0"/>
              <a:t>를 실행합니다</a:t>
            </a:r>
            <a:r>
              <a:rPr lang="en-US" altLang="ko-KR" sz="900" dirty="0"/>
              <a:t>.</a:t>
            </a:r>
          </a:p>
          <a:p>
            <a:pPr lvl="0">
              <a:defRPr/>
            </a:pPr>
            <a:endParaRPr lang="en-US" altLang="ko-KR" sz="900" dirty="0"/>
          </a:p>
          <a:p>
            <a:pPr lvl="0">
              <a:defRPr/>
            </a:pPr>
            <a:r>
              <a:rPr lang="ko-KR" altLang="en-US" sz="900" dirty="0"/>
              <a:t>보안 세팅 </a:t>
            </a:r>
            <a:r>
              <a:rPr lang="en-US" altLang="ko-KR" sz="900" dirty="0"/>
              <a:t>(User-Agent </a:t>
            </a:r>
            <a:r>
              <a:rPr lang="ko-KR" altLang="en-US" sz="900" dirty="0"/>
              <a:t>변조</a:t>
            </a:r>
            <a:r>
              <a:rPr lang="en-US" altLang="ko-KR" sz="900" dirty="0"/>
              <a:t>): </a:t>
            </a:r>
            <a:r>
              <a:rPr lang="ko-KR" altLang="en-US" sz="900" dirty="0" err="1"/>
              <a:t>인터라넷</a:t>
            </a:r>
            <a:r>
              <a:rPr lang="ko-KR" altLang="en-US" sz="900" dirty="0"/>
              <a:t> 서버가 </a:t>
            </a:r>
            <a:r>
              <a:rPr lang="en-US" altLang="ko-KR" sz="900" dirty="0"/>
              <a:t>AI </a:t>
            </a:r>
            <a:r>
              <a:rPr lang="ko-KR" altLang="en-US" sz="900" dirty="0"/>
              <a:t>봇의 접근을 차단하지 않도록</a:t>
            </a:r>
            <a:r>
              <a:rPr lang="en-US" altLang="ko-KR" sz="900" dirty="0"/>
              <a:t>, </a:t>
            </a:r>
            <a:r>
              <a:rPr lang="ko-KR" altLang="en-US" sz="900" dirty="0"/>
              <a:t>일반 크롬 브라우저를 쓰는 것처럼 헤더 정보</a:t>
            </a:r>
            <a:r>
              <a:rPr lang="en-US" altLang="ko-KR" sz="900" dirty="0"/>
              <a:t>(User-Agent)</a:t>
            </a:r>
            <a:r>
              <a:rPr lang="ko-KR" altLang="en-US" sz="900" dirty="0"/>
              <a:t>를 사람의 값으로 변조하여 접속합니다</a:t>
            </a:r>
            <a:r>
              <a:rPr lang="en-US" altLang="ko-KR" sz="900" dirty="0"/>
              <a:t>.</a:t>
            </a:r>
          </a:p>
          <a:p>
            <a:pPr lvl="0">
              <a:defRPr/>
            </a:pPr>
            <a:endParaRPr lang="en-US" altLang="ko-KR" sz="900" dirty="0"/>
          </a:p>
          <a:p>
            <a:pPr lvl="0">
              <a:defRPr/>
            </a:pPr>
            <a:r>
              <a:rPr lang="ko-KR" altLang="en-US" sz="900" dirty="0"/>
              <a:t>자동 로그인 처리</a:t>
            </a:r>
            <a:r>
              <a:rPr lang="en-US" altLang="ko-KR" sz="900" dirty="0"/>
              <a:t>: </a:t>
            </a:r>
            <a:r>
              <a:rPr lang="ko-KR" altLang="en-US" sz="900" dirty="0"/>
              <a:t>중앙 </a:t>
            </a:r>
            <a:r>
              <a:rPr lang="en-US" altLang="ko-KR" sz="900" dirty="0"/>
              <a:t>DB </a:t>
            </a:r>
            <a:r>
              <a:rPr lang="ko-KR" altLang="en-US" sz="900" dirty="0"/>
              <a:t>서버에서 암호화되어 관리되고 있는 </a:t>
            </a:r>
            <a:r>
              <a:rPr lang="ko-KR" altLang="en-US" sz="900" dirty="0" err="1"/>
              <a:t>인터라넷</a:t>
            </a:r>
            <a:r>
              <a:rPr lang="ko-KR" altLang="en-US" sz="900" dirty="0"/>
              <a:t> 주소</a:t>
            </a:r>
            <a:r>
              <a:rPr lang="en-US" altLang="ko-KR" sz="900" dirty="0"/>
              <a:t>, </a:t>
            </a:r>
            <a:r>
              <a:rPr lang="ko-KR" altLang="en-US" sz="900" dirty="0"/>
              <a:t>아이디</a:t>
            </a:r>
            <a:r>
              <a:rPr lang="en-US" altLang="ko-KR" sz="900" dirty="0"/>
              <a:t>, </a:t>
            </a:r>
            <a:r>
              <a:rPr lang="ko-KR" altLang="en-US" sz="900" dirty="0"/>
              <a:t>비밀번호를 가져와 </a:t>
            </a:r>
            <a:r>
              <a:rPr lang="ko-KR" altLang="en-US" sz="900" dirty="0" err="1"/>
              <a:t>복호화한</a:t>
            </a:r>
            <a:r>
              <a:rPr lang="ko-KR" altLang="en-US" sz="900" dirty="0"/>
              <a:t> 후</a:t>
            </a:r>
            <a:r>
              <a:rPr lang="en-US" altLang="ko-KR" sz="900" dirty="0"/>
              <a:t>, ID/PW </a:t>
            </a:r>
            <a:r>
              <a:rPr lang="ko-KR" altLang="en-US" sz="900" dirty="0"/>
              <a:t>입력 필드의 </a:t>
            </a:r>
            <a:r>
              <a:rPr lang="en-US" altLang="ko-KR" sz="900" dirty="0"/>
              <a:t>CSS </a:t>
            </a:r>
            <a:r>
              <a:rPr lang="ko-KR" altLang="en-US" sz="900" dirty="0" err="1"/>
              <a:t>선택자</a:t>
            </a:r>
            <a:r>
              <a:rPr lang="en-US" altLang="ko-KR" sz="900" dirty="0"/>
              <a:t>(Selector)</a:t>
            </a:r>
            <a:r>
              <a:rPr lang="ko-KR" altLang="en-US" sz="900" dirty="0"/>
              <a:t>를 찾아 값을 주입하고 로그인 버튼 클릭 이벤트를 발생시킵니다</a:t>
            </a:r>
            <a:r>
              <a:rPr lang="en-US" altLang="ko-KR" sz="900" dirty="0"/>
              <a:t>.</a:t>
            </a:r>
          </a:p>
          <a:p>
            <a:pPr lvl="0">
              <a:defRPr/>
            </a:pPr>
            <a:endParaRPr lang="en-US" altLang="ko-KR" sz="900" dirty="0"/>
          </a:p>
          <a:p>
            <a:pPr lvl="0">
              <a:defRPr/>
            </a:pPr>
            <a:r>
              <a:rPr lang="ko-KR" altLang="en-US" sz="900" dirty="0"/>
              <a:t>세션</a:t>
            </a:r>
            <a:r>
              <a:rPr lang="en-US" altLang="ko-KR" sz="900" dirty="0"/>
              <a:t>(Cookie) </a:t>
            </a:r>
            <a:r>
              <a:rPr lang="ko-KR" altLang="en-US" sz="900" dirty="0"/>
              <a:t>유지</a:t>
            </a:r>
            <a:r>
              <a:rPr lang="en-US" altLang="ko-KR" sz="900" dirty="0"/>
              <a:t>: </a:t>
            </a:r>
            <a:r>
              <a:rPr lang="ko-KR" altLang="en-US" sz="900" dirty="0"/>
              <a:t>매번 로그인하는 번거로움과 서버 부하를 줄이기 위해</a:t>
            </a:r>
            <a:r>
              <a:rPr lang="en-US" altLang="ko-KR" sz="900" dirty="0"/>
              <a:t>, </a:t>
            </a:r>
            <a:r>
              <a:rPr lang="ko-KR" altLang="en-US" sz="900" dirty="0"/>
              <a:t>로그인 후 발급받은 세션 쿠키를 메모리에 유지합니다</a:t>
            </a:r>
            <a:r>
              <a:rPr lang="en-US" altLang="ko-KR" sz="900" dirty="0"/>
              <a:t>.</a:t>
            </a:r>
          </a:p>
          <a:p>
            <a:pPr lvl="0">
              <a:defRPr/>
            </a:pPr>
            <a:endParaRPr lang="en-US" altLang="ko-KR" sz="900" dirty="0"/>
          </a:p>
          <a:p>
            <a:pPr lvl="0">
              <a:defRPr/>
            </a:pPr>
            <a:r>
              <a:rPr lang="en-US" altLang="ko-KR" sz="1000" b="1" dirty="0"/>
              <a:t>2</a:t>
            </a:r>
            <a:r>
              <a:rPr lang="ko-KR" altLang="en-US" sz="1000" b="1" dirty="0"/>
              <a:t>단계</a:t>
            </a:r>
            <a:r>
              <a:rPr lang="en-US" altLang="ko-KR" sz="1000" b="1" dirty="0"/>
              <a:t>: </a:t>
            </a:r>
            <a:r>
              <a:rPr lang="ko-KR" altLang="en-US" sz="1000" b="1" dirty="0"/>
              <a:t>신규 주문 목록 페이지 </a:t>
            </a:r>
            <a:r>
              <a:rPr lang="ko-KR" altLang="en-US" sz="1000" b="1" dirty="0" err="1"/>
              <a:t>타겟팅</a:t>
            </a:r>
            <a:r>
              <a:rPr lang="ko-KR" altLang="en-US" sz="1000" b="1" dirty="0"/>
              <a:t> 및 주기적 감시 </a:t>
            </a:r>
            <a:r>
              <a:rPr lang="en-US" altLang="ko-KR" sz="1000" b="1" dirty="0"/>
              <a:t>(Polling)</a:t>
            </a:r>
          </a:p>
          <a:p>
            <a:pPr lvl="0">
              <a:defRPr/>
            </a:pPr>
            <a:r>
              <a:rPr lang="ko-KR" altLang="en-US" sz="900" dirty="0"/>
              <a:t>실시간 주문 수집을 위해 주문 목록 페이지를 주기적으로 확인하는 단계입니다</a:t>
            </a:r>
            <a:r>
              <a:rPr lang="en-US" altLang="ko-KR" sz="900" dirty="0"/>
              <a:t>.</a:t>
            </a:r>
          </a:p>
          <a:p>
            <a:pPr lvl="0">
              <a:defRPr/>
            </a:pPr>
            <a:endParaRPr lang="en-US" altLang="ko-KR" sz="900" dirty="0"/>
          </a:p>
          <a:p>
            <a:pPr lvl="0">
              <a:defRPr/>
            </a:pPr>
            <a:r>
              <a:rPr lang="ko-KR" altLang="en-US" sz="900" dirty="0"/>
              <a:t>주기적 호출 설정 </a:t>
            </a:r>
            <a:r>
              <a:rPr lang="en-US" altLang="ko-KR" sz="900" dirty="0"/>
              <a:t>(</a:t>
            </a:r>
            <a:r>
              <a:rPr lang="ko-KR" altLang="en-US" sz="900" dirty="0"/>
              <a:t>스케줄러</a:t>
            </a:r>
            <a:r>
              <a:rPr lang="en-US" altLang="ko-KR" sz="900" dirty="0"/>
              <a:t>): </a:t>
            </a:r>
            <a:r>
              <a:rPr lang="ko-KR" altLang="en-US" sz="900" dirty="0"/>
              <a:t>웹</a:t>
            </a:r>
            <a:r>
              <a:rPr lang="en-US" altLang="ko-KR" sz="900" dirty="0" smtClean="0"/>
              <a:t>1(PC </a:t>
            </a:r>
            <a:r>
              <a:rPr lang="ko-KR" altLang="en-US" sz="900" dirty="0"/>
              <a:t>백그라운드 서비스</a:t>
            </a:r>
            <a:r>
              <a:rPr lang="en-US" altLang="ko-KR" sz="900" dirty="0"/>
              <a:t>, </a:t>
            </a:r>
            <a:r>
              <a:rPr lang="en-US" altLang="ko-KR" sz="900" dirty="0" err="1" smtClean="0"/>
              <a:t>ggotAIorder</a:t>
            </a:r>
            <a:r>
              <a:rPr lang="en-US" altLang="ko-KR" sz="900" dirty="0" smtClean="0"/>
              <a:t>) </a:t>
            </a:r>
            <a:r>
              <a:rPr lang="ko-KR" altLang="en-US" sz="900" dirty="0"/>
              <a:t>내부에 백그라운드 타이머</a:t>
            </a:r>
            <a:r>
              <a:rPr lang="en-US" altLang="ko-KR" sz="900" dirty="0"/>
              <a:t>(</a:t>
            </a:r>
            <a:r>
              <a:rPr lang="ko-KR" altLang="en-US" sz="900" dirty="0"/>
              <a:t>예</a:t>
            </a:r>
            <a:r>
              <a:rPr lang="en-US" altLang="ko-KR" sz="900" dirty="0"/>
              <a:t>: </a:t>
            </a:r>
            <a:r>
              <a:rPr lang="en-US" altLang="ko-KR" sz="900" dirty="0" err="1"/>
              <a:t>APScheduler</a:t>
            </a:r>
            <a:r>
              <a:rPr lang="en-US" altLang="ko-KR" sz="900" dirty="0"/>
              <a:t> </a:t>
            </a:r>
            <a:r>
              <a:rPr lang="ko-KR" altLang="en-US" sz="900" dirty="0"/>
              <a:t>라이브러리</a:t>
            </a:r>
            <a:r>
              <a:rPr lang="en-US" altLang="ko-KR" sz="900" dirty="0"/>
              <a:t>)</a:t>
            </a:r>
            <a:r>
              <a:rPr lang="ko-KR" altLang="en-US" sz="900" dirty="0"/>
              <a:t>를 가동하여 </a:t>
            </a:r>
            <a:r>
              <a:rPr lang="en-US" altLang="ko-KR" sz="900" dirty="0"/>
              <a:t>5</a:t>
            </a:r>
            <a:r>
              <a:rPr lang="ko-KR" altLang="en-US" sz="900" dirty="0"/>
              <a:t>분</a:t>
            </a:r>
            <a:r>
              <a:rPr lang="en-US" altLang="ko-KR" sz="900" dirty="0"/>
              <a:t>~10</a:t>
            </a:r>
            <a:r>
              <a:rPr lang="ko-KR" altLang="en-US" sz="900" dirty="0"/>
              <a:t>분 주기로 </a:t>
            </a:r>
            <a:r>
              <a:rPr lang="ko-KR" altLang="en-US" sz="900" dirty="0" err="1"/>
              <a:t>인터라넷의</a:t>
            </a:r>
            <a:r>
              <a:rPr lang="ko-KR" altLang="en-US" sz="900" dirty="0"/>
              <a:t> </a:t>
            </a:r>
            <a:r>
              <a:rPr lang="en-US" altLang="ko-KR" sz="900" dirty="0"/>
              <a:t>'</a:t>
            </a:r>
            <a:r>
              <a:rPr lang="ko-KR" altLang="en-US" sz="900" dirty="0"/>
              <a:t>신규 주문 내역</a:t>
            </a:r>
            <a:r>
              <a:rPr lang="en-US" altLang="ko-KR" sz="900" dirty="0"/>
              <a:t>' </a:t>
            </a:r>
            <a:r>
              <a:rPr lang="ko-KR" altLang="en-US" sz="900" dirty="0"/>
              <a:t>또는 </a:t>
            </a:r>
            <a:r>
              <a:rPr lang="en-US" altLang="ko-KR" sz="900" dirty="0"/>
              <a:t>'</a:t>
            </a:r>
            <a:r>
              <a:rPr lang="ko-KR" altLang="en-US" sz="900" dirty="0"/>
              <a:t>접수 대기</a:t>
            </a:r>
            <a:r>
              <a:rPr lang="en-US" altLang="ko-KR" sz="900" dirty="0"/>
              <a:t>' </a:t>
            </a:r>
            <a:r>
              <a:rPr lang="ko-KR" altLang="en-US" sz="900" dirty="0"/>
              <a:t>페이지 </a:t>
            </a:r>
            <a:r>
              <a:rPr lang="en-US" altLang="ko-KR" sz="900" dirty="0"/>
              <a:t>URL</a:t>
            </a:r>
            <a:r>
              <a:rPr lang="ko-KR" altLang="en-US" sz="900" dirty="0"/>
              <a:t>로 다이렉트 이동합니다</a:t>
            </a:r>
            <a:r>
              <a:rPr lang="en-US" altLang="ko-KR" sz="900" dirty="0"/>
              <a:t>.</a:t>
            </a:r>
          </a:p>
          <a:p>
            <a:pPr lvl="0">
              <a:defRPr/>
            </a:pPr>
            <a:endParaRPr lang="en-US" altLang="ko-KR" sz="900" dirty="0"/>
          </a:p>
          <a:p>
            <a:pPr lvl="0">
              <a:defRPr/>
            </a:pPr>
            <a:r>
              <a:rPr lang="en-US" altLang="ko-KR" sz="900" dirty="0"/>
              <a:t>HTML </a:t>
            </a:r>
            <a:r>
              <a:rPr lang="ko-KR" altLang="en-US" sz="900" dirty="0"/>
              <a:t>돔</a:t>
            </a:r>
            <a:r>
              <a:rPr lang="en-US" altLang="ko-KR" sz="900" dirty="0"/>
              <a:t>(DOM) </a:t>
            </a:r>
            <a:r>
              <a:rPr lang="ko-KR" altLang="en-US" sz="900" dirty="0"/>
              <a:t>구조 분석</a:t>
            </a:r>
            <a:r>
              <a:rPr lang="en-US" altLang="ko-KR" sz="900" dirty="0"/>
              <a:t>: </a:t>
            </a:r>
            <a:r>
              <a:rPr lang="ko-KR" altLang="en-US" sz="900" dirty="0"/>
              <a:t>페이지가 로딩 완료되면 </a:t>
            </a:r>
            <a:r>
              <a:rPr lang="en-US" altLang="ko-KR" sz="900" dirty="0"/>
              <a:t>HTML </a:t>
            </a:r>
            <a:r>
              <a:rPr lang="ko-KR" altLang="en-US" sz="900" dirty="0"/>
              <a:t>소스를 가져와 주문 테이블의 행</a:t>
            </a:r>
            <a:r>
              <a:rPr lang="en-US" altLang="ko-KR" sz="900" dirty="0"/>
              <a:t>(Row) </a:t>
            </a:r>
            <a:r>
              <a:rPr lang="ko-KR" altLang="en-US" sz="900" dirty="0"/>
              <a:t>요소를 </a:t>
            </a:r>
            <a:r>
              <a:rPr lang="ko-KR" altLang="en-US" sz="900" dirty="0" err="1"/>
              <a:t>파싱합니다</a:t>
            </a:r>
            <a:r>
              <a:rPr lang="en-US" altLang="ko-KR" sz="900" dirty="0"/>
              <a:t>.</a:t>
            </a:r>
          </a:p>
          <a:p>
            <a:pPr lvl="0">
              <a:defRPr/>
            </a:pPr>
            <a:endParaRPr lang="en-US" altLang="ko-KR" sz="900" dirty="0"/>
          </a:p>
          <a:p>
            <a:pPr lvl="0">
              <a:defRPr/>
            </a:pPr>
            <a:r>
              <a:rPr lang="ko-KR" altLang="en-US" sz="900" dirty="0"/>
              <a:t>기존 주문 교차 검증 </a:t>
            </a:r>
            <a:r>
              <a:rPr lang="en-US" altLang="ko-KR" sz="900" dirty="0"/>
              <a:t>(</a:t>
            </a:r>
            <a:r>
              <a:rPr lang="ko-KR" altLang="en-US" sz="900" dirty="0"/>
              <a:t>중복 수집 방지</a:t>
            </a:r>
            <a:r>
              <a:rPr lang="en-US" altLang="ko-KR" sz="900" dirty="0"/>
              <a:t>): * </a:t>
            </a:r>
            <a:r>
              <a:rPr lang="ko-KR" altLang="en-US" sz="900" dirty="0" err="1"/>
              <a:t>크롤러가</a:t>
            </a:r>
            <a:r>
              <a:rPr lang="ko-KR" altLang="en-US" sz="900" dirty="0"/>
              <a:t> 읽어온 목록의 </a:t>
            </a:r>
            <a:r>
              <a:rPr lang="en-US" altLang="ko-KR" sz="900" dirty="0"/>
              <a:t>'</a:t>
            </a:r>
            <a:r>
              <a:rPr lang="ko-KR" altLang="en-US" sz="900" dirty="0" err="1"/>
              <a:t>인터라넷</a:t>
            </a:r>
            <a:r>
              <a:rPr lang="ko-KR" altLang="en-US" sz="900" dirty="0"/>
              <a:t> 주문번호</a:t>
            </a:r>
            <a:r>
              <a:rPr lang="en-US" altLang="ko-KR" sz="900" dirty="0"/>
              <a:t>' </a:t>
            </a:r>
            <a:r>
              <a:rPr lang="ko-KR" altLang="en-US" sz="900" dirty="0"/>
              <a:t>또는 </a:t>
            </a:r>
            <a:r>
              <a:rPr lang="en-US" altLang="ko-KR" sz="900" dirty="0"/>
              <a:t>'</a:t>
            </a:r>
            <a:r>
              <a:rPr lang="ko-KR" altLang="en-US" sz="900" dirty="0"/>
              <a:t>시간</a:t>
            </a:r>
            <a:r>
              <a:rPr lang="en-US" altLang="ko-KR" sz="900" dirty="0"/>
              <a:t>+</a:t>
            </a:r>
            <a:r>
              <a:rPr lang="ko-KR" altLang="en-US" sz="900" dirty="0"/>
              <a:t>고객명</a:t>
            </a:r>
            <a:r>
              <a:rPr lang="en-US" altLang="ko-KR" sz="900" dirty="0"/>
              <a:t>' </a:t>
            </a:r>
            <a:r>
              <a:rPr lang="ko-KR" altLang="en-US" sz="900" dirty="0"/>
              <a:t>조합을 추출합니다</a:t>
            </a:r>
            <a:r>
              <a:rPr lang="en-US" altLang="ko-KR" sz="900" dirty="0"/>
              <a:t>.</a:t>
            </a:r>
          </a:p>
          <a:p>
            <a:pPr lvl="0">
              <a:defRPr/>
            </a:pPr>
            <a:endParaRPr lang="en-US" altLang="ko-KR" sz="900" dirty="0"/>
          </a:p>
          <a:p>
            <a:pPr lvl="0">
              <a:defRPr/>
            </a:pPr>
            <a:r>
              <a:rPr lang="ko-KR" altLang="en-US" sz="900" dirty="0"/>
              <a:t>중앙 </a:t>
            </a:r>
            <a:r>
              <a:rPr lang="en-US" altLang="ko-KR" sz="900" dirty="0"/>
              <a:t>DB</a:t>
            </a:r>
            <a:r>
              <a:rPr lang="ko-KR" altLang="en-US" sz="900" dirty="0"/>
              <a:t>의 </a:t>
            </a:r>
            <a:r>
              <a:rPr lang="en-US" altLang="ko-KR" sz="900" dirty="0" err="1"/>
              <a:t>server_call_history</a:t>
            </a:r>
            <a:r>
              <a:rPr lang="en-US" altLang="ko-KR" sz="900" dirty="0"/>
              <a:t> </a:t>
            </a:r>
            <a:r>
              <a:rPr lang="ko-KR" altLang="en-US" sz="900" dirty="0"/>
              <a:t>및 주문 테이블을 조회하여 이미 수집된 데이터인지 대조합니다</a:t>
            </a:r>
            <a:r>
              <a:rPr lang="en-US" altLang="ko-KR" sz="900" dirty="0"/>
              <a:t>.</a:t>
            </a:r>
          </a:p>
          <a:p>
            <a:pPr lvl="0">
              <a:defRPr/>
            </a:pPr>
            <a:endParaRPr lang="en-US" altLang="ko-KR" sz="900" dirty="0"/>
          </a:p>
          <a:p>
            <a:pPr lvl="0">
              <a:defRPr/>
            </a:pPr>
            <a:r>
              <a:rPr lang="ko-KR" altLang="en-US" sz="900" dirty="0"/>
              <a:t>이미 존재하는 데이터라면 </a:t>
            </a:r>
            <a:r>
              <a:rPr lang="ko-KR" altLang="en-US" sz="900" dirty="0" err="1"/>
              <a:t>스킵</a:t>
            </a:r>
            <a:r>
              <a:rPr lang="en-US" altLang="ko-KR" sz="900" dirty="0"/>
              <a:t>(Skip)</a:t>
            </a:r>
            <a:r>
              <a:rPr lang="ko-KR" altLang="en-US" sz="900" dirty="0"/>
              <a:t>하고</a:t>
            </a:r>
            <a:r>
              <a:rPr lang="en-US" altLang="ko-KR" sz="900" dirty="0"/>
              <a:t>, DB</a:t>
            </a:r>
            <a:r>
              <a:rPr lang="ko-KR" altLang="en-US" sz="900" dirty="0"/>
              <a:t>에 없는 고유한 주문 번호가 발견되면 </a:t>
            </a:r>
            <a:r>
              <a:rPr lang="en-US" altLang="ko-KR" sz="900" dirty="0"/>
              <a:t>'</a:t>
            </a:r>
            <a:r>
              <a:rPr lang="ko-KR" altLang="en-US" sz="900" dirty="0"/>
              <a:t>신규 주문</a:t>
            </a:r>
            <a:r>
              <a:rPr lang="en-US" altLang="ko-KR" sz="900" dirty="0"/>
              <a:t>'</a:t>
            </a:r>
            <a:r>
              <a:rPr lang="ko-KR" altLang="en-US" sz="900" dirty="0"/>
              <a:t>으로 인식하고 다음 단계로 이동합니다</a:t>
            </a:r>
            <a:r>
              <a:rPr lang="en-US" altLang="ko-KR" sz="900" dirty="0"/>
              <a:t>.</a:t>
            </a:r>
          </a:p>
          <a:p>
            <a:pPr lvl="0">
              <a:defRPr/>
            </a:pPr>
            <a:endParaRPr lang="en-US" altLang="ko-KR" sz="900" dirty="0"/>
          </a:p>
          <a:p>
            <a:pPr lvl="0">
              <a:defRPr/>
            </a:pPr>
            <a:r>
              <a:rPr lang="en-US" altLang="ko-KR" sz="1000" b="1" dirty="0"/>
              <a:t>3</a:t>
            </a:r>
            <a:r>
              <a:rPr lang="ko-KR" altLang="en-US" sz="1000" b="1" dirty="0"/>
              <a:t>단계</a:t>
            </a:r>
            <a:r>
              <a:rPr lang="en-US" altLang="ko-KR" sz="1000" b="1" dirty="0"/>
              <a:t>: </a:t>
            </a:r>
            <a:r>
              <a:rPr lang="ko-KR" altLang="en-US" sz="1000" b="1" dirty="0"/>
              <a:t>상세 데이터 추출 및 데이터 정형화</a:t>
            </a:r>
          </a:p>
          <a:p>
            <a:pPr lvl="0">
              <a:defRPr/>
            </a:pPr>
            <a:r>
              <a:rPr lang="ko-KR" altLang="en-US" sz="900" dirty="0"/>
              <a:t>목록 화면에서는 누락될 수 있는 상세 리본 문구</a:t>
            </a:r>
            <a:r>
              <a:rPr lang="en-US" altLang="ko-KR" sz="900" dirty="0"/>
              <a:t>, </a:t>
            </a:r>
            <a:r>
              <a:rPr lang="ko-KR" altLang="en-US" sz="900" dirty="0" err="1"/>
              <a:t>배송지</a:t>
            </a:r>
            <a:r>
              <a:rPr lang="ko-KR" altLang="en-US" sz="900" dirty="0"/>
              <a:t> 주소 등을 정확히 긁어오는 단계입니다</a:t>
            </a:r>
            <a:r>
              <a:rPr lang="en-US" altLang="ko-KR" sz="900" dirty="0"/>
              <a:t>.</a:t>
            </a:r>
          </a:p>
          <a:p>
            <a:pPr lvl="0">
              <a:defRPr/>
            </a:pPr>
            <a:endParaRPr lang="en-US" altLang="ko-KR" sz="900" dirty="0"/>
          </a:p>
          <a:p>
            <a:pPr lvl="0">
              <a:defRPr/>
            </a:pPr>
            <a:r>
              <a:rPr lang="ko-KR" altLang="en-US" sz="900" dirty="0"/>
              <a:t>상세 페이지 진입</a:t>
            </a:r>
            <a:r>
              <a:rPr lang="en-US" altLang="ko-KR" sz="900" dirty="0"/>
              <a:t>: </a:t>
            </a:r>
            <a:r>
              <a:rPr lang="ko-KR" altLang="en-US" sz="900" dirty="0"/>
              <a:t>신규 주문의 </a:t>
            </a:r>
            <a:r>
              <a:rPr lang="en-US" altLang="ko-KR" sz="900" dirty="0"/>
              <a:t>'</a:t>
            </a:r>
            <a:r>
              <a:rPr lang="ko-KR" altLang="en-US" sz="900" dirty="0"/>
              <a:t>상세보기</a:t>
            </a:r>
            <a:r>
              <a:rPr lang="en-US" altLang="ko-KR" sz="900" dirty="0"/>
              <a:t>' </a:t>
            </a:r>
            <a:r>
              <a:rPr lang="ko-KR" altLang="en-US" sz="900" dirty="0"/>
              <a:t>버튼 스크립트를 클릭하거나 상세 페이지 </a:t>
            </a:r>
            <a:r>
              <a:rPr lang="en-US" altLang="ko-KR" sz="900" dirty="0"/>
              <a:t>URL</a:t>
            </a:r>
            <a:r>
              <a:rPr lang="ko-KR" altLang="en-US" sz="900" dirty="0"/>
              <a:t>로 브라우저를 이동시킵니다</a:t>
            </a:r>
            <a:r>
              <a:rPr lang="en-US" altLang="ko-KR" sz="900" dirty="0"/>
              <a:t>.</a:t>
            </a:r>
          </a:p>
          <a:p>
            <a:pPr lvl="0">
              <a:defRPr/>
            </a:pPr>
            <a:endParaRPr lang="en-US" altLang="ko-KR" sz="900" dirty="0"/>
          </a:p>
          <a:p>
            <a:pPr lvl="0">
              <a:defRPr/>
            </a:pPr>
            <a:r>
              <a:rPr lang="ko-KR" altLang="en-US" sz="900" dirty="0"/>
              <a:t>텍스트 </a:t>
            </a:r>
            <a:r>
              <a:rPr lang="ko-KR" altLang="en-US" sz="900" dirty="0" err="1"/>
              <a:t>긁어오기</a:t>
            </a:r>
            <a:r>
              <a:rPr lang="ko-KR" altLang="en-US" sz="900" dirty="0"/>
              <a:t> </a:t>
            </a:r>
            <a:r>
              <a:rPr lang="en-US" altLang="ko-KR" sz="900" dirty="0"/>
              <a:t>(Scraping): </a:t>
            </a:r>
            <a:r>
              <a:rPr lang="ko-KR" altLang="en-US" sz="900" dirty="0"/>
              <a:t>상세 화면 내에서 </a:t>
            </a:r>
            <a:r>
              <a:rPr lang="en-US" altLang="ko-KR" sz="900" dirty="0"/>
              <a:t>RPA</a:t>
            </a:r>
            <a:r>
              <a:rPr lang="ko-KR" altLang="en-US" sz="900" dirty="0"/>
              <a:t>와 </a:t>
            </a:r>
            <a:r>
              <a:rPr lang="en-US" altLang="ko-KR" sz="900" dirty="0" smtClean="0"/>
              <a:t>Gemini</a:t>
            </a:r>
            <a:r>
              <a:rPr lang="ko-KR" altLang="en-US" sz="900" dirty="0" smtClean="0"/>
              <a:t>가 </a:t>
            </a:r>
            <a:r>
              <a:rPr lang="ko-KR" altLang="en-US" sz="900" dirty="0"/>
              <a:t>필요로 하는 아래 항목들의 표</a:t>
            </a:r>
            <a:r>
              <a:rPr lang="en-US" altLang="ko-KR" sz="900" dirty="0"/>
              <a:t>(Table) </a:t>
            </a:r>
            <a:r>
              <a:rPr lang="ko-KR" altLang="en-US" sz="900" dirty="0"/>
              <a:t>위치나 텍스트 태그를 정확히 정밀 쿼리하여 데이터 객체</a:t>
            </a:r>
            <a:r>
              <a:rPr lang="en-US" altLang="ko-KR" sz="900" dirty="0"/>
              <a:t>(JSON)</a:t>
            </a:r>
            <a:r>
              <a:rPr lang="ko-KR" altLang="en-US" sz="900" dirty="0"/>
              <a:t>로 변환합니다</a:t>
            </a:r>
            <a:r>
              <a:rPr lang="en-US" altLang="ko-KR" sz="900" dirty="0"/>
              <a:t>.</a:t>
            </a:r>
          </a:p>
          <a:p>
            <a:pPr lvl="0">
              <a:defRPr/>
            </a:pPr>
            <a:endParaRPr lang="en-US" altLang="ko-KR" sz="900" dirty="0"/>
          </a:p>
          <a:p>
            <a:pPr lvl="0">
              <a:defRPr/>
            </a:pPr>
            <a:r>
              <a:rPr lang="ko-KR" altLang="en-US" sz="900" dirty="0"/>
              <a:t>추출 항목</a:t>
            </a:r>
            <a:r>
              <a:rPr lang="en-US" altLang="ko-KR" sz="900" dirty="0"/>
              <a:t>: </a:t>
            </a:r>
            <a:r>
              <a:rPr lang="ko-KR" altLang="en-US" sz="900" dirty="0"/>
              <a:t>상품명</a:t>
            </a:r>
            <a:r>
              <a:rPr lang="en-US" altLang="ko-KR" sz="900" dirty="0"/>
              <a:t>, </a:t>
            </a:r>
            <a:r>
              <a:rPr lang="ko-KR" altLang="en-US" sz="900" dirty="0"/>
              <a:t>수량</a:t>
            </a:r>
            <a:r>
              <a:rPr lang="en-US" altLang="ko-KR" sz="900" dirty="0"/>
              <a:t>, </a:t>
            </a:r>
            <a:r>
              <a:rPr lang="ko-KR" altLang="en-US" sz="900" dirty="0" err="1"/>
              <a:t>배송지</a:t>
            </a:r>
            <a:r>
              <a:rPr lang="ko-KR" altLang="en-US" sz="900" dirty="0"/>
              <a:t> 주소</a:t>
            </a:r>
            <a:r>
              <a:rPr lang="en-US" altLang="ko-KR" sz="900" dirty="0"/>
              <a:t>, </a:t>
            </a:r>
            <a:r>
              <a:rPr lang="ko-KR" altLang="en-US" sz="900" dirty="0"/>
              <a:t>받는 분 성함</a:t>
            </a:r>
            <a:r>
              <a:rPr lang="en-US" altLang="ko-KR" sz="900" dirty="0"/>
              <a:t>/</a:t>
            </a:r>
            <a:r>
              <a:rPr lang="ko-KR" altLang="en-US" sz="900" dirty="0"/>
              <a:t>연락처</a:t>
            </a:r>
            <a:r>
              <a:rPr lang="en-US" altLang="ko-KR" sz="900" dirty="0"/>
              <a:t>, </a:t>
            </a:r>
            <a:r>
              <a:rPr lang="ko-KR" altLang="en-US" sz="900" dirty="0"/>
              <a:t>보내는 분 성함</a:t>
            </a:r>
            <a:r>
              <a:rPr lang="en-US" altLang="ko-KR" sz="900" dirty="0"/>
              <a:t>, </a:t>
            </a:r>
            <a:r>
              <a:rPr lang="ko-KR" altLang="en-US" sz="900" dirty="0"/>
              <a:t>배송 희망 일시</a:t>
            </a:r>
            <a:r>
              <a:rPr lang="en-US" altLang="ko-KR" sz="900" dirty="0"/>
              <a:t>, </a:t>
            </a:r>
            <a:r>
              <a:rPr lang="ko-KR" altLang="en-US" sz="900" dirty="0"/>
              <a:t>리본 및 카드 문구</a:t>
            </a:r>
          </a:p>
          <a:p>
            <a:pPr lvl="0">
              <a:defRPr/>
            </a:pPr>
            <a:endParaRPr lang="ko-KR" altLang="en-US" sz="900" dirty="0"/>
          </a:p>
          <a:p>
            <a:pPr lvl="0">
              <a:defRPr/>
            </a:pPr>
            <a:r>
              <a:rPr lang="ko-KR" altLang="en-US" sz="900" dirty="0"/>
              <a:t>임시 이미지 처리 </a:t>
            </a:r>
            <a:r>
              <a:rPr lang="en-US" altLang="ko-KR" sz="900" dirty="0"/>
              <a:t>(</a:t>
            </a:r>
            <a:r>
              <a:rPr lang="ko-KR" altLang="en-US" sz="900" dirty="0"/>
              <a:t>선택사항</a:t>
            </a:r>
            <a:r>
              <a:rPr lang="en-US" altLang="ko-KR" sz="900" dirty="0"/>
              <a:t>): </a:t>
            </a:r>
            <a:r>
              <a:rPr lang="ko-KR" altLang="en-US" sz="900" dirty="0"/>
              <a:t>만약 배송할 꽃의 참고 이미지나 특이사항이 이미지 형태로 첨부되어 있다면</a:t>
            </a:r>
            <a:r>
              <a:rPr lang="en-US" altLang="ko-KR" sz="900" dirty="0"/>
              <a:t>, </a:t>
            </a:r>
            <a:r>
              <a:rPr lang="ko-KR" altLang="en-US" sz="900" dirty="0"/>
              <a:t>해당 이미지 </a:t>
            </a:r>
            <a:r>
              <a:rPr lang="en-US" altLang="ko-KR" sz="900" dirty="0"/>
              <a:t>URL</a:t>
            </a:r>
            <a:r>
              <a:rPr lang="ko-KR" altLang="en-US" sz="900" dirty="0"/>
              <a:t>을 다운로드하여 </a:t>
            </a:r>
            <a:r>
              <a:rPr lang="en-US" altLang="ko-KR" sz="900" dirty="0" err="1"/>
              <a:t>Supabase</a:t>
            </a:r>
            <a:r>
              <a:rPr lang="en-US" altLang="ko-KR" sz="900" dirty="0"/>
              <a:t> Storage(</a:t>
            </a:r>
            <a:r>
              <a:rPr lang="ko-KR" altLang="en-US" sz="900" dirty="0"/>
              <a:t>스토리지</a:t>
            </a:r>
            <a:r>
              <a:rPr lang="en-US" altLang="ko-KR" sz="900" dirty="0"/>
              <a:t>)</a:t>
            </a:r>
            <a:r>
              <a:rPr lang="ko-KR" altLang="en-US" sz="900" dirty="0"/>
              <a:t>에 업로드하고 </a:t>
            </a:r>
            <a:r>
              <a:rPr lang="ko-KR" altLang="en-US" sz="900" dirty="0" err="1"/>
              <a:t>주소값을</a:t>
            </a:r>
            <a:r>
              <a:rPr lang="ko-KR" altLang="en-US" sz="900" dirty="0"/>
              <a:t> </a:t>
            </a:r>
            <a:r>
              <a:rPr lang="ko-KR" altLang="en-US" sz="900" dirty="0" err="1"/>
              <a:t>맵핑합니다</a:t>
            </a:r>
            <a:r>
              <a:rPr lang="en-US" altLang="ko-KR" sz="900" dirty="0"/>
              <a:t>.</a:t>
            </a:r>
            <a:endParaRPr lang="ko-KR" alt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2" name="직선 연결선 121"/>
          <p:cNvCxnSpPr/>
          <p:nvPr/>
        </p:nvCxnSpPr>
        <p:spPr>
          <a:xfrm flipH="1" flipV="1">
            <a:off x="13629633" y="2047246"/>
            <a:ext cx="1" cy="2887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/>
          <p:cNvCxnSpPr/>
          <p:nvPr/>
        </p:nvCxnSpPr>
        <p:spPr>
          <a:xfrm flipH="1" flipV="1">
            <a:off x="15448908" y="2046707"/>
            <a:ext cx="1" cy="2887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/>
          <p:cNvSpPr/>
          <p:nvPr/>
        </p:nvSpPr>
        <p:spPr>
          <a:xfrm>
            <a:off x="278674" y="216630"/>
            <a:ext cx="9901645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ko-KR" sz="900" dirty="0" smtClean="0"/>
          </a:p>
          <a:p>
            <a:r>
              <a:rPr lang="en-US" altLang="ko-KR" sz="1000" b="1" dirty="0" smtClean="0"/>
              <a:t>4</a:t>
            </a:r>
            <a:r>
              <a:rPr lang="ko-KR" altLang="en-US" sz="1000" b="1" dirty="0" smtClean="0"/>
              <a:t>단계</a:t>
            </a:r>
            <a:r>
              <a:rPr lang="en-US" altLang="ko-KR" sz="1000" b="1" dirty="0"/>
              <a:t>: </a:t>
            </a:r>
            <a:r>
              <a:rPr lang="ko-KR" altLang="en-US" sz="1000" b="1" dirty="0"/>
              <a:t>중앙 데이터베이스 적재 </a:t>
            </a:r>
            <a:r>
              <a:rPr lang="en-US" altLang="ko-KR" sz="1000" b="1" dirty="0"/>
              <a:t>(Data Insertion)</a:t>
            </a:r>
          </a:p>
          <a:p>
            <a:r>
              <a:rPr lang="ko-KR" altLang="en-US" sz="900" dirty="0"/>
              <a:t>크롤링한 비정형</a:t>
            </a:r>
            <a:r>
              <a:rPr lang="en-US" altLang="ko-KR" sz="900" dirty="0"/>
              <a:t>/</a:t>
            </a:r>
            <a:r>
              <a:rPr lang="ko-KR" altLang="en-US" sz="900" dirty="0" err="1"/>
              <a:t>반정형</a:t>
            </a:r>
            <a:r>
              <a:rPr lang="ko-KR" altLang="en-US" sz="900" dirty="0"/>
              <a:t> 데이터를 우리 시스템 아키텍처에 맞게 안전하게 집어넣는 단계입니다</a:t>
            </a:r>
            <a:r>
              <a:rPr lang="en-US" altLang="ko-KR" sz="900" dirty="0"/>
              <a:t>.</a:t>
            </a:r>
          </a:p>
          <a:p>
            <a:endParaRPr lang="en-US" altLang="ko-KR" sz="900" dirty="0"/>
          </a:p>
          <a:p>
            <a:r>
              <a:rPr lang="ko-KR" altLang="en-US" sz="900" dirty="0"/>
              <a:t>수집 이력 생성</a:t>
            </a:r>
            <a:r>
              <a:rPr lang="en-US" altLang="ko-KR" sz="900" dirty="0"/>
              <a:t>: </a:t>
            </a:r>
            <a:r>
              <a:rPr lang="en-US" altLang="ko-KR" sz="900" dirty="0" err="1"/>
              <a:t>server_call_history</a:t>
            </a:r>
            <a:r>
              <a:rPr lang="en-US" altLang="ko-KR" sz="900" dirty="0"/>
              <a:t> </a:t>
            </a:r>
            <a:r>
              <a:rPr lang="ko-KR" altLang="en-US" sz="900" dirty="0"/>
              <a:t>테이블에 데이터를 밀어 넣습니다</a:t>
            </a:r>
            <a:r>
              <a:rPr lang="en-US" altLang="ko-KR" sz="900" dirty="0"/>
              <a:t>.</a:t>
            </a:r>
          </a:p>
          <a:p>
            <a:endParaRPr lang="en-US" altLang="ko-KR" sz="900" dirty="0"/>
          </a:p>
          <a:p>
            <a:r>
              <a:rPr lang="ko-KR" altLang="en-US" sz="900" dirty="0"/>
              <a:t>이때 </a:t>
            </a:r>
            <a:r>
              <a:rPr lang="en-US" altLang="ko-KR" sz="900" dirty="0" err="1"/>
              <a:t>user_phone_number</a:t>
            </a:r>
            <a:r>
              <a:rPr lang="ko-KR" altLang="en-US" sz="900" dirty="0"/>
              <a:t>는 </a:t>
            </a:r>
            <a:r>
              <a:rPr lang="ko-KR" altLang="en-US" sz="900" dirty="0" err="1"/>
              <a:t>인터라넷</a:t>
            </a:r>
            <a:r>
              <a:rPr lang="ko-KR" altLang="en-US" sz="900" dirty="0"/>
              <a:t> 수집 기기 계정 코드로 </a:t>
            </a:r>
            <a:r>
              <a:rPr lang="ko-KR" altLang="en-US" sz="900" dirty="0" err="1"/>
              <a:t>마킹하고</a:t>
            </a:r>
            <a:r>
              <a:rPr lang="en-US" altLang="ko-KR" sz="900" dirty="0"/>
              <a:t>, </a:t>
            </a:r>
            <a:r>
              <a:rPr lang="ko-KR" altLang="en-US" sz="900" dirty="0"/>
              <a:t>음성이 없는 데이터이므로 </a:t>
            </a:r>
            <a:r>
              <a:rPr lang="en-US" altLang="ko-KR" sz="900" dirty="0" err="1"/>
              <a:t>audio_file_name</a:t>
            </a:r>
            <a:r>
              <a:rPr lang="ko-KR" altLang="en-US" sz="900" dirty="0"/>
              <a:t>은 </a:t>
            </a:r>
            <a:r>
              <a:rPr lang="en-US" altLang="ko-KR" sz="900" dirty="0"/>
              <a:t>'INTRANET_CRAWLED'</a:t>
            </a:r>
            <a:r>
              <a:rPr lang="ko-KR" altLang="en-US" sz="900" dirty="0"/>
              <a:t>로 대체합니다</a:t>
            </a:r>
            <a:r>
              <a:rPr lang="en-US" altLang="ko-KR" sz="900" dirty="0"/>
              <a:t>.</a:t>
            </a:r>
          </a:p>
          <a:p>
            <a:endParaRPr lang="en-US" altLang="ko-KR" sz="900" dirty="0"/>
          </a:p>
          <a:p>
            <a:r>
              <a:rPr lang="ko-KR" altLang="en-US" sz="900" dirty="0" err="1"/>
              <a:t>크롤링으로</a:t>
            </a:r>
            <a:r>
              <a:rPr lang="ko-KR" altLang="en-US" sz="900" dirty="0"/>
              <a:t> 이미 텍스트가 </a:t>
            </a:r>
            <a:r>
              <a:rPr lang="ko-KR" altLang="en-US" sz="900" dirty="0" err="1"/>
              <a:t>추출되었으므로</a:t>
            </a:r>
            <a:r>
              <a:rPr lang="ko-KR" altLang="en-US" sz="900" dirty="0"/>
              <a:t> </a:t>
            </a:r>
            <a:r>
              <a:rPr lang="en-US" altLang="ko-KR" sz="900" dirty="0" err="1"/>
              <a:t>stt_text</a:t>
            </a:r>
            <a:r>
              <a:rPr lang="en-US" altLang="ko-KR" sz="900" dirty="0"/>
              <a:t> </a:t>
            </a:r>
            <a:r>
              <a:rPr lang="ko-KR" altLang="en-US" sz="900" dirty="0"/>
              <a:t>필드에 긁어온 텍스트 원본을 바로 저장합니다</a:t>
            </a:r>
            <a:r>
              <a:rPr lang="en-US" altLang="ko-KR" sz="900" dirty="0"/>
              <a:t>.</a:t>
            </a:r>
          </a:p>
          <a:p>
            <a:endParaRPr lang="en-US" altLang="ko-KR" sz="900" dirty="0"/>
          </a:p>
          <a:p>
            <a:r>
              <a:rPr lang="ko-KR" altLang="en-US" sz="900" dirty="0"/>
              <a:t>주문 상세 데이터 즉시 적재</a:t>
            </a:r>
            <a:r>
              <a:rPr lang="en-US" altLang="ko-KR" sz="900" dirty="0"/>
              <a:t>: </a:t>
            </a:r>
            <a:r>
              <a:rPr lang="ko-KR" altLang="en-US" sz="900" dirty="0"/>
              <a:t>긁어온 데이터가 이미 정형화 구조를 갖추고 있으므로</a:t>
            </a:r>
            <a:r>
              <a:rPr lang="en-US" altLang="ko-KR" sz="900" dirty="0"/>
              <a:t>, </a:t>
            </a:r>
            <a:r>
              <a:rPr lang="ko-KR" altLang="en-US" sz="900" dirty="0"/>
              <a:t>굳이 </a:t>
            </a:r>
            <a:r>
              <a:rPr lang="en-US" altLang="ko-KR" sz="900" dirty="0" smtClean="0"/>
              <a:t>Gemini(LLM</a:t>
            </a:r>
            <a:r>
              <a:rPr lang="en-US" altLang="ko-KR" sz="900" dirty="0"/>
              <a:t>)</a:t>
            </a:r>
            <a:r>
              <a:rPr lang="ko-KR" altLang="en-US" sz="900" dirty="0"/>
              <a:t>를 거치지 않고 곧바로 </a:t>
            </a:r>
            <a:r>
              <a:rPr lang="en-US" altLang="ko-KR" sz="900" dirty="0" err="1"/>
              <a:t>order_details</a:t>
            </a:r>
            <a:r>
              <a:rPr lang="en-US" altLang="ko-KR" sz="900" dirty="0"/>
              <a:t> </a:t>
            </a:r>
            <a:r>
              <a:rPr lang="ko-KR" altLang="en-US" sz="900" dirty="0"/>
              <a:t>테이블에 정형화된 상태로 값을 </a:t>
            </a:r>
            <a:r>
              <a:rPr lang="en-US" altLang="ko-KR" sz="900" dirty="0"/>
              <a:t>INSERT</a:t>
            </a:r>
            <a:r>
              <a:rPr lang="ko-KR" altLang="en-US" sz="900" dirty="0"/>
              <a:t>합니다</a:t>
            </a:r>
            <a:r>
              <a:rPr lang="en-US" altLang="ko-KR" sz="900" dirty="0"/>
              <a:t>. </a:t>
            </a:r>
            <a:r>
              <a:rPr lang="ko-KR" altLang="en-US" sz="900" dirty="0"/>
              <a:t>이때 </a:t>
            </a:r>
            <a:r>
              <a:rPr lang="en-US" altLang="ko-KR" sz="900" dirty="0"/>
              <a:t>RPA </a:t>
            </a:r>
            <a:r>
              <a:rPr lang="ko-KR" altLang="en-US" sz="900" dirty="0"/>
              <a:t>상태 필드인 </a:t>
            </a:r>
            <a:r>
              <a:rPr lang="en-US" altLang="ko-KR" sz="900" dirty="0" err="1"/>
              <a:t>rpa_status</a:t>
            </a:r>
            <a:r>
              <a:rPr lang="ko-KR" altLang="en-US" sz="900" dirty="0"/>
              <a:t>는 </a:t>
            </a:r>
            <a:r>
              <a:rPr lang="en-US" altLang="ko-KR" sz="900" dirty="0"/>
              <a:t>'READY'(</a:t>
            </a:r>
            <a:r>
              <a:rPr lang="ko-KR" altLang="en-US" sz="900" dirty="0"/>
              <a:t>대기</a:t>
            </a:r>
            <a:r>
              <a:rPr lang="en-US" altLang="ko-KR" sz="900" dirty="0"/>
              <a:t>) </a:t>
            </a:r>
            <a:r>
              <a:rPr lang="ko-KR" altLang="en-US" sz="900" dirty="0"/>
              <a:t>상태로 설정합니다</a:t>
            </a:r>
            <a:r>
              <a:rPr lang="en-US" altLang="ko-KR" sz="900" dirty="0"/>
              <a:t>.</a:t>
            </a:r>
          </a:p>
          <a:p>
            <a:endParaRPr lang="en-US" altLang="ko-KR" sz="900" dirty="0"/>
          </a:p>
          <a:p>
            <a:r>
              <a:rPr lang="en-US" altLang="ko-KR" sz="1000" b="1" dirty="0"/>
              <a:t>5</a:t>
            </a:r>
            <a:r>
              <a:rPr lang="ko-KR" altLang="en-US" sz="1000" b="1" dirty="0"/>
              <a:t>단계</a:t>
            </a:r>
            <a:r>
              <a:rPr lang="en-US" altLang="ko-KR" sz="1000" b="1" dirty="0"/>
              <a:t>: </a:t>
            </a:r>
            <a:r>
              <a:rPr lang="ko-KR" altLang="en-US" sz="1000" b="1" dirty="0"/>
              <a:t>예외 처리 및 알림 </a:t>
            </a:r>
            <a:r>
              <a:rPr lang="en-US" altLang="ko-KR" sz="1000" b="1" dirty="0"/>
              <a:t>(A/S </a:t>
            </a:r>
            <a:r>
              <a:rPr lang="ko-KR" altLang="en-US" sz="1000" b="1" dirty="0"/>
              <a:t>대응 핵심 프로세스</a:t>
            </a:r>
            <a:r>
              <a:rPr lang="en-US" altLang="ko-KR" sz="1000" b="1" dirty="0"/>
              <a:t>)</a:t>
            </a:r>
          </a:p>
          <a:p>
            <a:r>
              <a:rPr lang="ko-KR" altLang="en-US" sz="900" dirty="0" err="1"/>
              <a:t>인터라넷</a:t>
            </a:r>
            <a:r>
              <a:rPr lang="ko-KR" altLang="en-US" sz="900" dirty="0"/>
              <a:t> 사이트 변경으로 </a:t>
            </a:r>
            <a:r>
              <a:rPr lang="ko-KR" altLang="en-US" sz="900" dirty="0" err="1"/>
              <a:t>크롤러가</a:t>
            </a:r>
            <a:r>
              <a:rPr lang="ko-KR" altLang="en-US" sz="900" dirty="0"/>
              <a:t> 터졌을 때 즉시 대응하기 위한 가장 중요한 보안 단계입니다</a:t>
            </a:r>
            <a:r>
              <a:rPr lang="en-US" altLang="ko-KR" sz="900" dirty="0"/>
              <a:t>.</a:t>
            </a:r>
          </a:p>
          <a:p>
            <a:endParaRPr lang="en-US" altLang="ko-KR" sz="900" dirty="0"/>
          </a:p>
          <a:p>
            <a:r>
              <a:rPr lang="ko-KR" altLang="en-US" sz="900" dirty="0"/>
              <a:t>구조 변경 감지 </a:t>
            </a:r>
            <a:r>
              <a:rPr lang="en-US" altLang="ko-KR" sz="900" dirty="0"/>
              <a:t>(DOM Exception): </a:t>
            </a:r>
            <a:r>
              <a:rPr lang="ko-KR" altLang="en-US" sz="900" dirty="0" err="1"/>
              <a:t>인터라넷</a:t>
            </a:r>
            <a:r>
              <a:rPr lang="ko-KR" altLang="en-US" sz="900" dirty="0"/>
              <a:t> 사이트가 </a:t>
            </a:r>
            <a:r>
              <a:rPr lang="ko-KR" altLang="en-US" sz="900" dirty="0" err="1"/>
              <a:t>리뉴얼되어</a:t>
            </a:r>
            <a:r>
              <a:rPr lang="ko-KR" altLang="en-US" sz="900" dirty="0"/>
              <a:t> 로그인 버튼 위치가 바뀌거나 주문 테이블 태그가 바뀌면 </a:t>
            </a:r>
            <a:r>
              <a:rPr lang="ko-KR" altLang="en-US" sz="900" dirty="0" err="1"/>
              <a:t>크롤러는</a:t>
            </a:r>
            <a:r>
              <a:rPr lang="ko-KR" altLang="en-US" sz="900" dirty="0"/>
              <a:t> </a:t>
            </a:r>
            <a:r>
              <a:rPr lang="en-US" altLang="ko-KR" sz="900" dirty="0"/>
              <a:t>HTML </a:t>
            </a:r>
            <a:r>
              <a:rPr lang="ko-KR" altLang="en-US" sz="900" dirty="0"/>
              <a:t>요소를 찾지 못해 에러</a:t>
            </a:r>
            <a:r>
              <a:rPr lang="en-US" altLang="ko-KR" sz="900" dirty="0"/>
              <a:t>(</a:t>
            </a:r>
            <a:r>
              <a:rPr lang="en-US" altLang="ko-KR" sz="900" dirty="0" err="1"/>
              <a:t>ElementNotFoundException</a:t>
            </a:r>
            <a:r>
              <a:rPr lang="en-US" altLang="ko-KR" sz="900" dirty="0"/>
              <a:t>)</a:t>
            </a:r>
            <a:r>
              <a:rPr lang="ko-KR" altLang="en-US" sz="900" dirty="0"/>
              <a:t>를 뱉습니다</a:t>
            </a:r>
            <a:r>
              <a:rPr lang="en-US" altLang="ko-KR" sz="900" dirty="0"/>
              <a:t>.</a:t>
            </a:r>
          </a:p>
          <a:p>
            <a:endParaRPr lang="en-US" altLang="ko-KR" sz="900" dirty="0"/>
          </a:p>
          <a:p>
            <a:r>
              <a:rPr lang="ko-KR" altLang="en-US" sz="900" dirty="0"/>
              <a:t>유령 대기 방지</a:t>
            </a:r>
            <a:r>
              <a:rPr lang="en-US" altLang="ko-KR" sz="900" dirty="0"/>
              <a:t>: </a:t>
            </a:r>
            <a:r>
              <a:rPr lang="ko-KR" altLang="en-US" sz="900" dirty="0"/>
              <a:t>에러가 발생하면 무한정 대기하거나 프로그램이 다운되지 않도록 즉시 해당 </a:t>
            </a:r>
            <a:r>
              <a:rPr lang="ko-KR" altLang="en-US" sz="900" dirty="0" err="1"/>
              <a:t>회차의</a:t>
            </a:r>
            <a:r>
              <a:rPr lang="ko-KR" altLang="en-US" sz="900" dirty="0"/>
              <a:t> </a:t>
            </a:r>
            <a:r>
              <a:rPr lang="ko-KR" altLang="en-US" sz="900" dirty="0" err="1"/>
              <a:t>크롤링</a:t>
            </a:r>
            <a:r>
              <a:rPr lang="ko-KR" altLang="en-US" sz="900" dirty="0"/>
              <a:t> 루프를 탈출</a:t>
            </a:r>
            <a:r>
              <a:rPr lang="en-US" altLang="ko-KR" sz="900" dirty="0"/>
              <a:t>(try-except-finally)</a:t>
            </a:r>
            <a:r>
              <a:rPr lang="ko-KR" altLang="en-US" sz="900" dirty="0"/>
              <a:t>시킵니다</a:t>
            </a:r>
            <a:r>
              <a:rPr lang="en-US" altLang="ko-KR" sz="900" dirty="0"/>
              <a:t>.</a:t>
            </a:r>
          </a:p>
          <a:p>
            <a:endParaRPr lang="en-US" altLang="ko-KR" sz="900" dirty="0"/>
          </a:p>
          <a:p>
            <a:r>
              <a:rPr lang="ko-KR" altLang="en-US" sz="900" dirty="0"/>
              <a:t>관리자 </a:t>
            </a:r>
            <a:r>
              <a:rPr lang="en-US" altLang="ko-KR" sz="900" dirty="0"/>
              <a:t>SOS </a:t>
            </a:r>
            <a:r>
              <a:rPr lang="ko-KR" altLang="en-US" sz="900" dirty="0" err="1"/>
              <a:t>알림톡</a:t>
            </a:r>
            <a:r>
              <a:rPr lang="ko-KR" altLang="en-US" sz="900" dirty="0"/>
              <a:t> 발송</a:t>
            </a:r>
            <a:r>
              <a:rPr lang="en-US" altLang="ko-KR" sz="900" dirty="0"/>
              <a:t>: </a:t>
            </a:r>
            <a:r>
              <a:rPr lang="ko-KR" altLang="en-US" sz="900" dirty="0" err="1"/>
              <a:t>크롤링</a:t>
            </a:r>
            <a:r>
              <a:rPr lang="ko-KR" altLang="en-US" sz="900" dirty="0"/>
              <a:t> 실패 횟수가 연속 </a:t>
            </a:r>
            <a:r>
              <a:rPr lang="en-US" altLang="ko-KR" sz="900" dirty="0"/>
              <a:t>3</a:t>
            </a:r>
            <a:r>
              <a:rPr lang="ko-KR" altLang="en-US" sz="900" dirty="0"/>
              <a:t>회 이상 누적되면</a:t>
            </a:r>
            <a:r>
              <a:rPr lang="en-US" altLang="ko-KR" sz="900" dirty="0"/>
              <a:t>, </a:t>
            </a:r>
            <a:r>
              <a:rPr lang="ko-KR" altLang="en-US" sz="900" dirty="0" err="1"/>
              <a:t>인터라넷</a:t>
            </a:r>
            <a:r>
              <a:rPr lang="ko-KR" altLang="en-US" sz="900" dirty="0"/>
              <a:t> 구조 변동으로 판단하고 사장님의 </a:t>
            </a:r>
            <a:r>
              <a:rPr lang="ko-KR" altLang="en-US" sz="900" dirty="0" err="1"/>
              <a:t>카카오톡</a:t>
            </a:r>
            <a:r>
              <a:rPr lang="en-US" altLang="ko-KR" sz="900" dirty="0"/>
              <a:t>(</a:t>
            </a:r>
            <a:r>
              <a:rPr lang="ko-KR" altLang="en-US" sz="900" dirty="0"/>
              <a:t>웹</a:t>
            </a:r>
            <a:r>
              <a:rPr lang="en-US" altLang="ko-KR" sz="900" dirty="0" smtClean="0"/>
              <a:t>2 “</a:t>
            </a:r>
            <a:r>
              <a:rPr lang="ko-KR" altLang="en-US" sz="900" dirty="0"/>
              <a:t>관리용 </a:t>
            </a:r>
            <a:r>
              <a:rPr lang="en-US" altLang="ko-KR" sz="900" dirty="0"/>
              <a:t>UI </a:t>
            </a:r>
            <a:r>
              <a:rPr lang="ko-KR" altLang="en-US" sz="900" dirty="0"/>
              <a:t>애플리케이션 </a:t>
            </a:r>
            <a:r>
              <a:rPr lang="en-US" altLang="ko-KR" sz="900" dirty="0" err="1" smtClean="0"/>
              <a:t>ggotAIya</a:t>
            </a:r>
            <a:r>
              <a:rPr lang="en-US" altLang="ko-KR" sz="900" dirty="0" smtClean="0"/>
              <a:t>”</a:t>
            </a:r>
            <a:r>
              <a:rPr lang="ko-KR" altLang="en-US" sz="900" dirty="0" smtClean="0"/>
              <a:t>에서 설정한</a:t>
            </a:r>
            <a:r>
              <a:rPr lang="en-US" altLang="ko-KR" sz="900" dirty="0" smtClean="0"/>
              <a:t> </a:t>
            </a:r>
            <a:r>
              <a:rPr lang="ko-KR" altLang="en-US" sz="900" dirty="0"/>
              <a:t>설정 </a:t>
            </a:r>
            <a:r>
              <a:rPr lang="ko-KR" altLang="en-US" sz="900" dirty="0" err="1"/>
              <a:t>카톡</a:t>
            </a:r>
            <a:r>
              <a:rPr lang="ko-KR" altLang="en-US" sz="900" dirty="0"/>
              <a:t> </a:t>
            </a:r>
            <a:r>
              <a:rPr lang="en-US" altLang="ko-KR" sz="900" dirty="0"/>
              <a:t>ID)</a:t>
            </a:r>
            <a:r>
              <a:rPr lang="ko-KR" altLang="en-US" sz="900" dirty="0"/>
              <a:t>으로 </a:t>
            </a:r>
            <a:r>
              <a:rPr lang="en-US" altLang="ko-KR" sz="900" dirty="0"/>
              <a:t>"[</a:t>
            </a:r>
            <a:r>
              <a:rPr lang="en-US" altLang="ko-KR" sz="900" dirty="0" err="1"/>
              <a:t>ggotAI</a:t>
            </a:r>
            <a:r>
              <a:rPr lang="en-US" altLang="ko-KR" sz="900" dirty="0"/>
              <a:t> </a:t>
            </a:r>
            <a:r>
              <a:rPr lang="ko-KR" altLang="en-US" sz="900" dirty="0"/>
              <a:t>경고</a:t>
            </a:r>
            <a:r>
              <a:rPr lang="en-US" altLang="ko-KR" sz="900" dirty="0"/>
              <a:t>] </a:t>
            </a:r>
            <a:r>
              <a:rPr lang="ko-KR" altLang="en-US" sz="900" dirty="0" err="1"/>
              <a:t>인터라넷</a:t>
            </a:r>
            <a:r>
              <a:rPr lang="ko-KR" altLang="en-US" sz="900" dirty="0"/>
              <a:t> 사이트 구조 변경 감지</a:t>
            </a:r>
            <a:r>
              <a:rPr lang="en-US" altLang="ko-KR" sz="900" dirty="0"/>
              <a:t>! </a:t>
            </a:r>
            <a:r>
              <a:rPr lang="ko-KR" altLang="en-US" sz="900" dirty="0" err="1"/>
              <a:t>크롤러</a:t>
            </a:r>
            <a:r>
              <a:rPr lang="ko-KR" altLang="en-US" sz="900" dirty="0"/>
              <a:t> 정지 상태이므로 수동 확인 바람</a:t>
            </a:r>
            <a:r>
              <a:rPr lang="en-US" altLang="ko-KR" sz="900" dirty="0"/>
              <a:t>!"</a:t>
            </a:r>
            <a:r>
              <a:rPr lang="ko-KR" altLang="en-US" sz="900" dirty="0"/>
              <a:t>이라는 에러 메시지를 자동 발송하도록 설계합니다</a:t>
            </a:r>
            <a:r>
              <a:rPr lang="en-US" altLang="ko-KR" sz="900" dirty="0"/>
              <a:t>.</a:t>
            </a:r>
          </a:p>
          <a:p>
            <a:endParaRPr lang="en-US" altLang="ko-KR" sz="900" dirty="0"/>
          </a:p>
          <a:p>
            <a:r>
              <a:rPr lang="ko-KR" altLang="en-US" sz="1000" b="1" dirty="0">
                <a:solidFill>
                  <a:srgbClr val="FF0000"/>
                </a:solidFill>
              </a:rPr>
              <a:t>🤖 </a:t>
            </a:r>
            <a:r>
              <a:rPr lang="ko-KR" altLang="en-US" sz="1000" b="1" dirty="0" err="1">
                <a:solidFill>
                  <a:srgbClr val="FF0000"/>
                </a:solidFill>
              </a:rPr>
              <a:t>바이브</a:t>
            </a:r>
            <a:r>
              <a:rPr lang="ko-KR" altLang="en-US" sz="1000" b="1" dirty="0">
                <a:solidFill>
                  <a:srgbClr val="FF0000"/>
                </a:solidFill>
              </a:rPr>
              <a:t> </a:t>
            </a:r>
            <a:r>
              <a:rPr lang="ko-KR" altLang="en-US" sz="1000" b="1" dirty="0" err="1">
                <a:solidFill>
                  <a:srgbClr val="FF0000"/>
                </a:solidFill>
              </a:rPr>
              <a:t>코딩용</a:t>
            </a:r>
            <a:r>
              <a:rPr lang="ko-KR" altLang="en-US" sz="1000" b="1" dirty="0">
                <a:solidFill>
                  <a:srgbClr val="FF0000"/>
                </a:solidFill>
              </a:rPr>
              <a:t> </a:t>
            </a:r>
            <a:r>
              <a:rPr lang="en-US" altLang="ko-KR" sz="1000" b="1" dirty="0">
                <a:solidFill>
                  <a:srgbClr val="FF0000"/>
                </a:solidFill>
              </a:rPr>
              <a:t>AI </a:t>
            </a:r>
            <a:r>
              <a:rPr lang="ko-KR" altLang="en-US" sz="1000" b="1" dirty="0">
                <a:solidFill>
                  <a:srgbClr val="FF0000"/>
                </a:solidFill>
              </a:rPr>
              <a:t>명령 프롬프트 팁</a:t>
            </a:r>
          </a:p>
          <a:p>
            <a:r>
              <a:rPr lang="ko-KR" altLang="en-US" sz="900" dirty="0" err="1"/>
              <a:t>인터라넷</a:t>
            </a:r>
            <a:r>
              <a:rPr lang="ko-KR" altLang="en-US" sz="900" dirty="0"/>
              <a:t> </a:t>
            </a:r>
            <a:r>
              <a:rPr lang="ko-KR" altLang="en-US" sz="900" dirty="0" err="1"/>
              <a:t>크롤링</a:t>
            </a:r>
            <a:r>
              <a:rPr lang="ko-KR" altLang="en-US" sz="900" dirty="0"/>
              <a:t> 엔진 개발을 시작할 때 </a:t>
            </a:r>
            <a:r>
              <a:rPr lang="en-US" altLang="ko-KR" sz="900" dirty="0"/>
              <a:t>AI</a:t>
            </a:r>
            <a:r>
              <a:rPr lang="ko-KR" altLang="en-US" sz="900" dirty="0"/>
              <a:t>에게 아래와 같이 구체적인 프롬프트를 던지시면 원 원하시는 절차가 </a:t>
            </a:r>
            <a:r>
              <a:rPr lang="en-US" altLang="ko-KR" sz="900" dirty="0"/>
              <a:t>100% </a:t>
            </a:r>
            <a:r>
              <a:rPr lang="ko-KR" altLang="en-US" sz="900" dirty="0"/>
              <a:t>반영된 코드를 얻을 수 있습니다</a:t>
            </a:r>
            <a:r>
              <a:rPr lang="en-US" altLang="ko-KR" sz="900" dirty="0"/>
              <a:t>.</a:t>
            </a:r>
          </a:p>
          <a:p>
            <a:endParaRPr lang="en-US" altLang="ko-KR" sz="900" dirty="0"/>
          </a:p>
          <a:p>
            <a:r>
              <a:rPr lang="en-US" altLang="ko-KR" sz="900" dirty="0"/>
              <a:t>"</a:t>
            </a:r>
            <a:r>
              <a:rPr lang="ko-KR" altLang="en-US" sz="900" dirty="0"/>
              <a:t>웹</a:t>
            </a:r>
            <a:r>
              <a:rPr lang="en-US" altLang="ko-KR" sz="900" dirty="0" smtClean="0"/>
              <a:t>1(PC </a:t>
            </a:r>
            <a:r>
              <a:rPr lang="ko-KR" altLang="en-US" sz="900" dirty="0"/>
              <a:t>백그라운드 서비스</a:t>
            </a:r>
            <a:r>
              <a:rPr lang="en-US" altLang="ko-KR" sz="900" dirty="0"/>
              <a:t>, </a:t>
            </a:r>
            <a:r>
              <a:rPr lang="en-US" altLang="ko-KR" sz="900" dirty="0" err="1"/>
              <a:t>ggotAIorder</a:t>
            </a:r>
            <a:r>
              <a:rPr lang="en-US" altLang="ko-KR" sz="900" dirty="0"/>
              <a:t>) </a:t>
            </a:r>
            <a:r>
              <a:rPr lang="ko-KR" altLang="en-US" sz="900" dirty="0"/>
              <a:t>프로그램 내에 </a:t>
            </a:r>
            <a:r>
              <a:rPr lang="ko-KR" altLang="en-US" sz="900" dirty="0" err="1"/>
              <a:t>인터라넷</a:t>
            </a:r>
            <a:r>
              <a:rPr lang="ko-KR" altLang="en-US" sz="900" dirty="0"/>
              <a:t> 주문 수집을 위한 </a:t>
            </a:r>
            <a:r>
              <a:rPr lang="en-US" altLang="ko-KR" sz="900" dirty="0"/>
              <a:t>Playwright </a:t>
            </a:r>
            <a:r>
              <a:rPr lang="ko-KR" altLang="en-US" sz="900" dirty="0"/>
              <a:t>기반의 </a:t>
            </a:r>
            <a:r>
              <a:rPr lang="en-US" altLang="ko-KR" sz="900" dirty="0"/>
              <a:t>Python </a:t>
            </a:r>
            <a:r>
              <a:rPr lang="ko-KR" altLang="en-US" sz="900" dirty="0" err="1"/>
              <a:t>크롤러</a:t>
            </a:r>
            <a:r>
              <a:rPr lang="ko-KR" altLang="en-US" sz="900" dirty="0"/>
              <a:t> 모듈을 만들어줘</a:t>
            </a:r>
            <a:r>
              <a:rPr lang="en-US" altLang="ko-KR" sz="900" dirty="0"/>
              <a:t>.</a:t>
            </a:r>
          </a:p>
          <a:p>
            <a:endParaRPr lang="en-US" altLang="ko-KR" sz="900" dirty="0"/>
          </a:p>
          <a:p>
            <a:r>
              <a:rPr lang="en-US" altLang="ko-KR" sz="900" dirty="0" err="1"/>
              <a:t>member_info</a:t>
            </a:r>
            <a:r>
              <a:rPr lang="en-US" altLang="ko-KR" sz="900" dirty="0"/>
              <a:t> </a:t>
            </a:r>
            <a:r>
              <a:rPr lang="ko-KR" altLang="en-US" sz="900" dirty="0"/>
              <a:t>테이블에서 </a:t>
            </a:r>
            <a:r>
              <a:rPr lang="ko-KR" altLang="en-US" sz="900" dirty="0" err="1"/>
              <a:t>인터라넷</a:t>
            </a:r>
            <a:r>
              <a:rPr lang="ko-KR" altLang="en-US" sz="900" dirty="0"/>
              <a:t> 계정 정보를 가져와서 </a:t>
            </a:r>
            <a:r>
              <a:rPr lang="en-US" altLang="ko-KR" sz="900" dirty="0"/>
              <a:t>Headless </a:t>
            </a:r>
            <a:r>
              <a:rPr lang="ko-KR" altLang="en-US" sz="900" dirty="0"/>
              <a:t>브라우저로 자동 </a:t>
            </a:r>
            <a:r>
              <a:rPr lang="ko-KR" altLang="en-US" sz="900" dirty="0" err="1"/>
              <a:t>로그인을</a:t>
            </a:r>
            <a:r>
              <a:rPr lang="ko-KR" altLang="en-US" sz="900" dirty="0"/>
              <a:t> 수행해야 해</a:t>
            </a:r>
            <a:r>
              <a:rPr lang="en-US" altLang="ko-KR" sz="900" dirty="0"/>
              <a:t>.</a:t>
            </a:r>
          </a:p>
          <a:p>
            <a:endParaRPr lang="en-US" altLang="ko-KR" sz="900" dirty="0"/>
          </a:p>
          <a:p>
            <a:r>
              <a:rPr lang="en-US" altLang="ko-KR" sz="900" dirty="0"/>
              <a:t>10</a:t>
            </a:r>
            <a:r>
              <a:rPr lang="ko-KR" altLang="en-US" sz="900" dirty="0"/>
              <a:t>분 주기로 주문 목록을 </a:t>
            </a:r>
            <a:r>
              <a:rPr lang="ko-KR" altLang="en-US" sz="900" dirty="0" err="1"/>
              <a:t>폴링하되</a:t>
            </a:r>
            <a:r>
              <a:rPr lang="en-US" altLang="ko-KR" sz="900" dirty="0"/>
              <a:t>, </a:t>
            </a:r>
            <a:r>
              <a:rPr lang="ko-KR" altLang="en-US" sz="900" dirty="0"/>
              <a:t>데이터가 수집되면 </a:t>
            </a:r>
            <a:r>
              <a:rPr lang="en-US" altLang="ko-KR" sz="900" dirty="0" err="1"/>
              <a:t>Supabase</a:t>
            </a:r>
            <a:r>
              <a:rPr lang="en-US" altLang="ko-KR" sz="900" dirty="0"/>
              <a:t> DB</a:t>
            </a:r>
            <a:r>
              <a:rPr lang="ko-KR" altLang="en-US" sz="900" dirty="0"/>
              <a:t>에 기존 주문 번호가 있는지 체크해서 중복 수집을 차단해줘</a:t>
            </a:r>
            <a:r>
              <a:rPr lang="en-US" altLang="ko-KR" sz="900" dirty="0"/>
              <a:t>.</a:t>
            </a:r>
          </a:p>
          <a:p>
            <a:endParaRPr lang="en-US" altLang="ko-KR" sz="900" dirty="0"/>
          </a:p>
          <a:p>
            <a:r>
              <a:rPr lang="ko-KR" altLang="en-US" sz="900" dirty="0"/>
              <a:t>신규 주문 발견 시 상세 페이지의 상품명</a:t>
            </a:r>
            <a:r>
              <a:rPr lang="en-US" altLang="ko-KR" sz="900" dirty="0"/>
              <a:t>, </a:t>
            </a:r>
            <a:r>
              <a:rPr lang="ko-KR" altLang="en-US" sz="900" dirty="0"/>
              <a:t>주소</a:t>
            </a:r>
            <a:r>
              <a:rPr lang="en-US" altLang="ko-KR" sz="900" dirty="0"/>
              <a:t>, </a:t>
            </a:r>
            <a:r>
              <a:rPr lang="ko-KR" altLang="en-US" sz="900" dirty="0"/>
              <a:t>리본 문구를 긁어와서 </a:t>
            </a:r>
            <a:r>
              <a:rPr lang="en-US" altLang="ko-KR" sz="900" dirty="0" err="1"/>
              <a:t>order_details</a:t>
            </a:r>
            <a:r>
              <a:rPr lang="en-US" altLang="ko-KR" sz="900" dirty="0"/>
              <a:t> </a:t>
            </a:r>
            <a:r>
              <a:rPr lang="ko-KR" altLang="en-US" sz="900" dirty="0"/>
              <a:t>테이블에 </a:t>
            </a:r>
            <a:r>
              <a:rPr lang="en-US" altLang="ko-KR" sz="900" dirty="0" err="1"/>
              <a:t>rpa_status</a:t>
            </a:r>
            <a:r>
              <a:rPr lang="en-US" altLang="ko-KR" sz="900" dirty="0"/>
              <a:t>='READY'</a:t>
            </a:r>
            <a:r>
              <a:rPr lang="ko-KR" altLang="en-US" sz="900" dirty="0"/>
              <a:t>로 인서트 해야 해</a:t>
            </a:r>
            <a:r>
              <a:rPr lang="en-US" altLang="ko-KR" sz="900" dirty="0"/>
              <a:t>.</a:t>
            </a:r>
          </a:p>
          <a:p>
            <a:endParaRPr lang="en-US" altLang="ko-KR" sz="900" dirty="0"/>
          </a:p>
          <a:p>
            <a:r>
              <a:rPr lang="ko-KR" altLang="en-US" sz="900" dirty="0"/>
              <a:t>만약 </a:t>
            </a:r>
            <a:r>
              <a:rPr lang="ko-KR" altLang="en-US" sz="900" dirty="0" err="1"/>
              <a:t>인터라넷</a:t>
            </a:r>
            <a:r>
              <a:rPr lang="ko-KR" altLang="en-US" sz="900" dirty="0"/>
              <a:t> </a:t>
            </a:r>
            <a:r>
              <a:rPr lang="en-US" altLang="ko-KR" sz="900" dirty="0"/>
              <a:t>HTML </a:t>
            </a:r>
            <a:r>
              <a:rPr lang="ko-KR" altLang="en-US" sz="900" dirty="0"/>
              <a:t>태그를 찾지 못하는 </a:t>
            </a:r>
            <a:r>
              <a:rPr lang="ko-KR" altLang="en-US" sz="900" dirty="0" err="1"/>
              <a:t>크롤링</a:t>
            </a:r>
            <a:r>
              <a:rPr lang="ko-KR" altLang="en-US" sz="900" dirty="0"/>
              <a:t> 에러가 발생하면</a:t>
            </a:r>
            <a:r>
              <a:rPr lang="en-US" altLang="ko-KR" sz="900" dirty="0"/>
              <a:t>, </a:t>
            </a:r>
            <a:r>
              <a:rPr lang="ko-KR" altLang="en-US" sz="900" dirty="0"/>
              <a:t>즉시 예외 처리를 하고 사장님 </a:t>
            </a:r>
            <a:r>
              <a:rPr lang="ko-KR" altLang="en-US" sz="900" dirty="0" err="1"/>
              <a:t>카카오톡</a:t>
            </a:r>
            <a:r>
              <a:rPr lang="ko-KR" altLang="en-US" sz="900" dirty="0"/>
              <a:t> </a:t>
            </a:r>
            <a:r>
              <a:rPr lang="en-US" altLang="ko-KR" sz="900" dirty="0"/>
              <a:t>API</a:t>
            </a:r>
            <a:r>
              <a:rPr lang="ko-KR" altLang="en-US" sz="900" dirty="0"/>
              <a:t>로 알림을 쏘는 안전장치 코드를 포함해줘</a:t>
            </a:r>
            <a:r>
              <a:rPr lang="en-US" altLang="ko-KR" sz="900" dirty="0"/>
              <a:t>."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599150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7108" y="266087"/>
            <a:ext cx="1404552" cy="276999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200" b="1" dirty="0" smtClean="0"/>
              <a:t>4</a:t>
            </a:r>
            <a:r>
              <a:rPr lang="en-US" altLang="ko-KR" sz="1200" b="1" dirty="0" smtClean="0"/>
              <a:t>. </a:t>
            </a:r>
            <a:r>
              <a:rPr lang="en-US" altLang="ko-KR" sz="1200" b="1" dirty="0"/>
              <a:t>STT (Whisper)</a:t>
            </a:r>
            <a:endParaRPr lang="ko-KR" altLang="en-US" sz="1200" b="1" dirty="0"/>
          </a:p>
        </p:txBody>
      </p:sp>
      <p:grpSp>
        <p:nvGrpSpPr>
          <p:cNvPr id="22" name="그룹 21"/>
          <p:cNvGrpSpPr/>
          <p:nvPr/>
        </p:nvGrpSpPr>
        <p:grpSpPr>
          <a:xfrm>
            <a:off x="764513" y="1303650"/>
            <a:ext cx="3646619" cy="680854"/>
            <a:chOff x="764513" y="998849"/>
            <a:chExt cx="3646619" cy="680854"/>
          </a:xfrm>
        </p:grpSpPr>
        <p:sp>
          <p:nvSpPr>
            <p:cNvPr id="6" name="TextBox 5"/>
            <p:cNvSpPr txBox="1"/>
            <p:nvPr/>
          </p:nvSpPr>
          <p:spPr>
            <a:xfrm>
              <a:off x="1962748" y="998849"/>
              <a:ext cx="1152987" cy="680854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txBody>
            <a:bodyPr wrap="none" anchor="ctr" anchorCtr="0">
              <a:noAutofit/>
            </a:bodyPr>
            <a:lstStyle/>
            <a:p>
              <a:pPr algn="ctr">
                <a:defRPr/>
              </a:pPr>
              <a:r>
                <a:rPr lang="en-US" altLang="ko-KR" b="1"/>
                <a:t>Whisper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64513" y="1092215"/>
              <a:ext cx="1188146" cy="2308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>
                <a:defRPr/>
              </a:pPr>
              <a:r>
                <a:rPr lang="ko-KR" altLang="en-US" sz="900" dirty="0">
                  <a:latin typeface="맑은 고딕" panose="020B0503020000020004" pitchFamily="50" charset="-127"/>
                </a:rPr>
                <a:t>①</a:t>
              </a:r>
              <a:r>
                <a:rPr lang="ko-KR" altLang="en-US" sz="900" dirty="0" smtClean="0"/>
                <a:t>비정형 </a:t>
              </a:r>
              <a:r>
                <a:rPr lang="ko-KR" altLang="en-US" sz="900" dirty="0"/>
                <a:t>주문 음성</a:t>
              </a:r>
            </a:p>
          </p:txBody>
        </p:sp>
        <p:cxnSp>
          <p:nvCxnSpPr>
            <p:cNvPr id="8" name="직선 화살표 연결선 7"/>
            <p:cNvCxnSpPr/>
            <p:nvPr/>
          </p:nvCxnSpPr>
          <p:spPr>
            <a:xfrm>
              <a:off x="869033" y="1346896"/>
              <a:ext cx="1080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화살표 연결선 8"/>
            <p:cNvCxnSpPr/>
            <p:nvPr/>
          </p:nvCxnSpPr>
          <p:spPr>
            <a:xfrm>
              <a:off x="3112694" y="1346896"/>
              <a:ext cx="1239173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3082816" y="1092215"/>
              <a:ext cx="132831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ko-KR" altLang="en-US" sz="900" dirty="0">
                  <a:latin typeface="맑은 고딕" panose="020B0503020000020004" pitchFamily="50" charset="-127"/>
                </a:rPr>
                <a:t>②</a:t>
              </a:r>
              <a:r>
                <a:rPr lang="ko-KR" altLang="en-US" sz="900" dirty="0" smtClean="0"/>
                <a:t>비정형 </a:t>
              </a:r>
              <a:r>
                <a:rPr lang="ko-KR" altLang="en-US" sz="900" dirty="0"/>
                <a:t>주문 텍스트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780339" y="2455344"/>
            <a:ext cx="508664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①</a:t>
            </a:r>
            <a:r>
              <a:rPr lang="ko-KR" altLang="en-US" sz="900" dirty="0" smtClean="0"/>
              <a:t>비정형 </a:t>
            </a:r>
            <a:r>
              <a:rPr lang="ko-KR" altLang="en-US" sz="900" dirty="0"/>
              <a:t>주문 </a:t>
            </a:r>
            <a:r>
              <a:rPr lang="ko-KR" altLang="en-US" sz="900" dirty="0" smtClean="0"/>
              <a:t>음성</a:t>
            </a:r>
            <a:r>
              <a:rPr lang="en-US" altLang="ko-KR" sz="900" dirty="0" smtClean="0"/>
              <a:t>: </a:t>
            </a:r>
            <a:r>
              <a:rPr lang="ko-KR" altLang="en-US" sz="900" dirty="0" smtClean="0"/>
              <a:t>고객이 핸드폰 또는 가게 전화로 꽃 주문을 한 통화 음성으로서</a:t>
            </a:r>
            <a:r>
              <a:rPr lang="en-US" altLang="ko-KR" sz="900" dirty="0" smtClean="0"/>
              <a:t>, </a:t>
            </a:r>
          </a:p>
          <a:p>
            <a:pPr>
              <a:defRPr/>
            </a:pPr>
            <a:r>
              <a:rPr lang="en-US" altLang="ko-KR" sz="900" dirty="0"/>
              <a:t> </a:t>
            </a:r>
            <a:r>
              <a:rPr lang="en-US" altLang="ko-KR" sz="900" dirty="0" smtClean="0"/>
              <a:t>  </a:t>
            </a:r>
            <a:r>
              <a:rPr lang="ko-KR" altLang="en-US" sz="900" dirty="0" smtClean="0"/>
              <a:t>꽃가게 관리 프로그램에 입력할 수 있는 양식</a:t>
            </a:r>
            <a:r>
              <a:rPr lang="en-US" altLang="ko-KR" sz="900" dirty="0" smtClean="0"/>
              <a:t>, </a:t>
            </a:r>
            <a:r>
              <a:rPr lang="ko-KR" altLang="en-US" sz="900" dirty="0" smtClean="0"/>
              <a:t>또는 주문 양식에 </a:t>
            </a:r>
            <a:r>
              <a:rPr lang="ko-KR" altLang="en-US" sz="900" dirty="0" smtClean="0"/>
              <a:t>맞게 조정되지 않은</a:t>
            </a:r>
            <a:r>
              <a:rPr lang="ko-KR" altLang="en-US" sz="900" dirty="0" smtClean="0"/>
              <a:t> 데이터 </a:t>
            </a:r>
            <a:r>
              <a:rPr lang="ko-KR" altLang="en-US" sz="900" dirty="0" smtClean="0"/>
              <a:t> </a:t>
            </a:r>
            <a:endParaRPr lang="en-US" altLang="ko-KR" sz="900" dirty="0" smtClean="0"/>
          </a:p>
          <a:p>
            <a:pPr>
              <a:defRPr/>
            </a:pPr>
            <a:r>
              <a:rPr lang="ko-KR" altLang="en-US" sz="900" dirty="0" smtClean="0">
                <a:latin typeface="맑은 고딕" panose="020B0503020000020004" pitchFamily="50" charset="-127"/>
              </a:rPr>
              <a:t>②</a:t>
            </a:r>
            <a:r>
              <a:rPr lang="ko-KR" altLang="en-US" sz="900" dirty="0" smtClean="0"/>
              <a:t>비정형 </a:t>
            </a:r>
            <a:r>
              <a:rPr lang="ko-KR" altLang="en-US" sz="900" dirty="0"/>
              <a:t>주문 </a:t>
            </a:r>
            <a:r>
              <a:rPr lang="ko-KR" altLang="en-US" sz="900" dirty="0" smtClean="0"/>
              <a:t>텍스트</a:t>
            </a:r>
            <a:r>
              <a:rPr lang="en-US" altLang="ko-KR" sz="900" dirty="0" smtClean="0"/>
              <a:t>: </a:t>
            </a:r>
            <a:r>
              <a:rPr lang="ko-KR" altLang="en-US" sz="900" dirty="0" smtClean="0"/>
              <a:t>통화내용 텍스트로서</a:t>
            </a:r>
            <a:r>
              <a:rPr lang="en-US" altLang="ko-KR" sz="900" dirty="0" smtClean="0"/>
              <a:t>, </a:t>
            </a:r>
            <a:r>
              <a:rPr lang="ko-KR" altLang="en-US" sz="900" dirty="0"/>
              <a:t>꽃가게 관리 프로그램에 입력할 수 있는 양식</a:t>
            </a:r>
            <a:r>
              <a:rPr lang="en-US" altLang="ko-KR" sz="900" dirty="0"/>
              <a:t>, </a:t>
            </a:r>
            <a:endParaRPr lang="en-US" altLang="ko-KR" sz="900" dirty="0" smtClean="0"/>
          </a:p>
          <a:p>
            <a:pPr>
              <a:defRPr/>
            </a:pPr>
            <a:r>
              <a:rPr lang="en-US" altLang="ko-KR" sz="900" dirty="0"/>
              <a:t> </a:t>
            </a:r>
            <a:r>
              <a:rPr lang="en-US" altLang="ko-KR" sz="900" dirty="0" smtClean="0"/>
              <a:t>  </a:t>
            </a:r>
            <a:r>
              <a:rPr lang="ko-KR" altLang="en-US" sz="900" dirty="0" smtClean="0"/>
              <a:t>또는 </a:t>
            </a:r>
            <a:r>
              <a:rPr lang="ko-KR" altLang="en-US" sz="900" dirty="0"/>
              <a:t>주문 양식에 맞게 조정되지 않은 데이터 </a:t>
            </a:r>
            <a:endParaRPr lang="en-US" altLang="ko-KR" sz="900" dirty="0" smtClean="0"/>
          </a:p>
        </p:txBody>
      </p:sp>
      <p:sp>
        <p:nvSpPr>
          <p:cNvPr id="18" name="직사각형 17"/>
          <p:cNvSpPr/>
          <p:nvPr/>
        </p:nvSpPr>
        <p:spPr>
          <a:xfrm>
            <a:off x="601133" y="778932"/>
            <a:ext cx="6485467" cy="24214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1550801" y="2065880"/>
            <a:ext cx="21406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9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입력값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‘</a:t>
            </a:r>
            <a:r>
              <a:rPr lang="ko-KR" altLang="en-US" sz="900" dirty="0"/>
              <a:t>비정형 주문 </a:t>
            </a:r>
            <a:r>
              <a:rPr lang="ko-KR" altLang="en-US" sz="900" dirty="0" smtClean="0"/>
              <a:t>음성</a:t>
            </a:r>
            <a:r>
              <a:rPr lang="en-US" altLang="ko-KR" sz="900" dirty="0" smtClean="0"/>
              <a:t>’</a:t>
            </a:r>
          </a:p>
          <a:p>
            <a:pPr>
              <a:defRPr/>
            </a:pPr>
            <a:r>
              <a:rPr lang="ko-KR" altLang="en-US" sz="9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출력값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‘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비</a:t>
            </a:r>
            <a:r>
              <a:rPr lang="ko-KR" altLang="en-US" sz="900" dirty="0" smtClean="0"/>
              <a:t>정형 주문 텍스트</a:t>
            </a:r>
            <a:r>
              <a:rPr lang="en-US" altLang="ko-KR" sz="900" dirty="0" smtClean="0"/>
              <a:t>’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900" dirty="0"/>
          </a:p>
        </p:txBody>
      </p:sp>
      <p:sp>
        <p:nvSpPr>
          <p:cNvPr id="20" name="TextBox 19"/>
          <p:cNvSpPr txBox="1"/>
          <p:nvPr/>
        </p:nvSpPr>
        <p:spPr>
          <a:xfrm>
            <a:off x="644872" y="922882"/>
            <a:ext cx="1047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1.</a:t>
            </a:r>
            <a:r>
              <a:rPr lang="en-US" altLang="ko-KR" sz="900" dirty="0" smtClean="0"/>
              <a:t> </a:t>
            </a:r>
            <a:r>
              <a:rPr lang="ko-KR" altLang="en-US" sz="900" dirty="0" smtClean="0"/>
              <a:t>변환 프로세스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3200296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7108" y="266087"/>
            <a:ext cx="1661032" cy="276999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200" b="1" dirty="0" smtClean="0"/>
              <a:t>5. Gemini(LLM) </a:t>
            </a:r>
            <a:r>
              <a:rPr lang="ko-KR" altLang="en-US" sz="1200" b="1" dirty="0" smtClean="0"/>
              <a:t>분석</a:t>
            </a:r>
            <a:endParaRPr lang="ko-KR" altLang="en-US" sz="1200" b="1" dirty="0"/>
          </a:p>
        </p:txBody>
      </p:sp>
      <p:sp>
        <p:nvSpPr>
          <p:cNvPr id="2" name="직사각형 1"/>
          <p:cNvSpPr/>
          <p:nvPr/>
        </p:nvSpPr>
        <p:spPr>
          <a:xfrm>
            <a:off x="7950200" y="452735"/>
            <a:ext cx="291253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1000" dirty="0"/>
              <a:t>Gemini(LLM) </a:t>
            </a:r>
            <a:r>
              <a:rPr lang="ko-KR" altLang="en-US" sz="1000" dirty="0"/>
              <a:t>분석</a:t>
            </a:r>
            <a:r>
              <a:rPr lang="en-US" altLang="ko-KR" sz="1000" dirty="0"/>
              <a:t> </a:t>
            </a:r>
            <a:r>
              <a:rPr lang="ko-KR" altLang="en-US" sz="1000" dirty="0"/>
              <a:t>구동</a:t>
            </a:r>
          </a:p>
          <a:p>
            <a:pPr>
              <a:defRPr/>
            </a:pPr>
            <a:r>
              <a:rPr lang="en-US" altLang="ko-KR" sz="1000" dirty="0"/>
              <a:t>- </a:t>
            </a:r>
            <a:r>
              <a:rPr lang="ko-KR" altLang="en-US" sz="1000" dirty="0"/>
              <a:t>주문 여부 판별</a:t>
            </a:r>
            <a:r>
              <a:rPr lang="en-US" altLang="ko-KR" sz="1000" dirty="0"/>
              <a:t>(</a:t>
            </a:r>
            <a:r>
              <a:rPr lang="en-US" altLang="ko-KR" sz="1000" dirty="0" err="1"/>
              <a:t>is_Order</a:t>
            </a:r>
            <a:r>
              <a:rPr lang="en-US" altLang="ko-KR" sz="1000" dirty="0"/>
              <a:t>: Y/N)</a:t>
            </a:r>
          </a:p>
          <a:p>
            <a:pPr>
              <a:defRPr/>
            </a:pPr>
            <a:r>
              <a:rPr lang="en-US" altLang="ko-KR" sz="1000" dirty="0"/>
              <a:t>- </a:t>
            </a:r>
            <a:r>
              <a:rPr lang="ko-KR" altLang="en-US" sz="1000" dirty="0"/>
              <a:t>비정형 텍스트에서 주문서 양식 추출</a:t>
            </a:r>
            <a:endParaRPr lang="en-US" altLang="ko-KR" sz="1000" dirty="0"/>
          </a:p>
        </p:txBody>
      </p:sp>
      <p:grpSp>
        <p:nvGrpSpPr>
          <p:cNvPr id="22" name="그룹 21"/>
          <p:cNvGrpSpPr/>
          <p:nvPr/>
        </p:nvGrpSpPr>
        <p:grpSpPr>
          <a:xfrm>
            <a:off x="764513" y="1303650"/>
            <a:ext cx="6127352" cy="680854"/>
            <a:chOff x="764513" y="998849"/>
            <a:chExt cx="6127352" cy="680854"/>
          </a:xfrm>
        </p:grpSpPr>
        <p:sp>
          <p:nvSpPr>
            <p:cNvPr id="6" name="TextBox 5"/>
            <p:cNvSpPr txBox="1"/>
            <p:nvPr/>
          </p:nvSpPr>
          <p:spPr>
            <a:xfrm>
              <a:off x="1962748" y="998849"/>
              <a:ext cx="1152987" cy="680854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txBody>
            <a:bodyPr wrap="none" anchor="ctr" anchorCtr="0">
              <a:noAutofit/>
            </a:bodyPr>
            <a:lstStyle/>
            <a:p>
              <a:pPr algn="ctr">
                <a:defRPr/>
              </a:pPr>
              <a:r>
                <a:rPr lang="en-US" altLang="ko-KR" b="1"/>
                <a:t>Whisper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64513" y="1092215"/>
              <a:ext cx="1188146" cy="2308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>
                <a:defRPr/>
              </a:pPr>
              <a:r>
                <a:rPr lang="ko-KR" altLang="en-US" sz="900" dirty="0">
                  <a:latin typeface="맑은 고딕" panose="020B0503020000020004" pitchFamily="50" charset="-127"/>
                </a:rPr>
                <a:t>①</a:t>
              </a:r>
              <a:r>
                <a:rPr lang="ko-KR" altLang="en-US" sz="900" dirty="0" smtClean="0"/>
                <a:t>비정형 </a:t>
              </a:r>
              <a:r>
                <a:rPr lang="ko-KR" altLang="en-US" sz="900" dirty="0"/>
                <a:t>주문 음성</a:t>
              </a:r>
            </a:p>
          </p:txBody>
        </p:sp>
        <p:cxnSp>
          <p:nvCxnSpPr>
            <p:cNvPr id="8" name="직선 화살표 연결선 7"/>
            <p:cNvCxnSpPr/>
            <p:nvPr/>
          </p:nvCxnSpPr>
          <p:spPr>
            <a:xfrm>
              <a:off x="869033" y="1346896"/>
              <a:ext cx="1080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화살표 연결선 8"/>
            <p:cNvCxnSpPr/>
            <p:nvPr/>
          </p:nvCxnSpPr>
          <p:spPr>
            <a:xfrm>
              <a:off x="3112694" y="1346896"/>
              <a:ext cx="1239173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3082816" y="1092215"/>
              <a:ext cx="132831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ko-KR" altLang="en-US" sz="900" dirty="0">
                  <a:latin typeface="맑은 고딕" panose="020B0503020000020004" pitchFamily="50" charset="-127"/>
                </a:rPr>
                <a:t>②</a:t>
              </a:r>
              <a:r>
                <a:rPr lang="ko-KR" altLang="en-US" sz="900" dirty="0" smtClean="0"/>
                <a:t>비정형 </a:t>
              </a:r>
              <a:r>
                <a:rPr lang="ko-KR" altLang="en-US" sz="900" dirty="0"/>
                <a:t>주문 텍스트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350347" y="998849"/>
              <a:ext cx="1152987" cy="680854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txBody>
            <a:bodyPr wrap="none" anchor="ctr" anchorCtr="0">
              <a:noAutofit/>
            </a:bodyPr>
            <a:lstStyle/>
            <a:p>
              <a:pPr algn="ctr">
                <a:defRPr/>
              </a:pPr>
              <a:r>
                <a:rPr lang="en-US" altLang="ko-KR" b="1" dirty="0" smtClean="0"/>
                <a:t>Gemini</a:t>
              </a:r>
              <a:endParaRPr lang="en-US" altLang="ko-KR" b="1" dirty="0"/>
            </a:p>
          </p:txBody>
        </p:sp>
        <p:cxnSp>
          <p:nvCxnSpPr>
            <p:cNvPr id="13" name="직선 화살표 연결선 12"/>
            <p:cNvCxnSpPr/>
            <p:nvPr/>
          </p:nvCxnSpPr>
          <p:spPr>
            <a:xfrm>
              <a:off x="5508767" y="1346896"/>
              <a:ext cx="131536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5419618" y="1092215"/>
              <a:ext cx="1472247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ko-KR" altLang="en-US" sz="900" dirty="0">
                  <a:latin typeface="맑은 고딕" panose="020B0503020000020004" pitchFamily="50" charset="-127"/>
                </a:rPr>
                <a:t>③</a:t>
              </a:r>
              <a:r>
                <a:rPr lang="ko-KR" altLang="en-US" sz="900" dirty="0" smtClean="0"/>
                <a:t>정형</a:t>
              </a:r>
              <a:r>
                <a:rPr lang="ko-KR" altLang="en-US" sz="900" dirty="0" smtClean="0"/>
                <a:t>화된</a:t>
              </a:r>
              <a:r>
                <a:rPr lang="ko-KR" altLang="en-US" sz="900" dirty="0" smtClean="0"/>
                <a:t> </a:t>
              </a:r>
              <a:r>
                <a:rPr lang="ko-KR" altLang="en-US" sz="900" dirty="0"/>
                <a:t>주문 텍스트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780339" y="2455344"/>
            <a:ext cx="5489003" cy="7848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①</a:t>
            </a:r>
            <a:r>
              <a:rPr lang="ko-KR" altLang="en-US" sz="900" dirty="0" smtClean="0"/>
              <a:t>비정형 </a:t>
            </a:r>
            <a:r>
              <a:rPr lang="ko-KR" altLang="en-US" sz="900" dirty="0"/>
              <a:t>주문 </a:t>
            </a:r>
            <a:r>
              <a:rPr lang="ko-KR" altLang="en-US" sz="900" dirty="0" smtClean="0"/>
              <a:t>음성</a:t>
            </a:r>
            <a:r>
              <a:rPr lang="en-US" altLang="ko-KR" sz="900" dirty="0" smtClean="0"/>
              <a:t>: </a:t>
            </a:r>
            <a:r>
              <a:rPr lang="ko-KR" altLang="en-US" sz="900" dirty="0" smtClean="0"/>
              <a:t>고객이 핸드폰 또는 가게 전화로 꽃 주문을 한 통화 음성으로서</a:t>
            </a:r>
            <a:r>
              <a:rPr lang="en-US" altLang="ko-KR" sz="900" dirty="0" smtClean="0"/>
              <a:t>, </a:t>
            </a:r>
          </a:p>
          <a:p>
            <a:pPr>
              <a:defRPr/>
            </a:pPr>
            <a:r>
              <a:rPr lang="en-US" altLang="ko-KR" sz="900" dirty="0"/>
              <a:t> </a:t>
            </a:r>
            <a:r>
              <a:rPr lang="en-US" altLang="ko-KR" sz="900" dirty="0" smtClean="0"/>
              <a:t>  </a:t>
            </a:r>
            <a:r>
              <a:rPr lang="ko-KR" altLang="en-US" sz="900" dirty="0" smtClean="0"/>
              <a:t>꽃가게 관리 프로그램에 입력할 수 있는 양식</a:t>
            </a:r>
            <a:r>
              <a:rPr lang="en-US" altLang="ko-KR" sz="900" dirty="0" smtClean="0"/>
              <a:t>, </a:t>
            </a:r>
            <a:r>
              <a:rPr lang="ko-KR" altLang="en-US" sz="900" dirty="0" smtClean="0"/>
              <a:t>또는 주문 양식에 </a:t>
            </a:r>
            <a:r>
              <a:rPr lang="ko-KR" altLang="en-US" sz="900" dirty="0" smtClean="0"/>
              <a:t>맞게 조정되지 않은</a:t>
            </a:r>
            <a:r>
              <a:rPr lang="ko-KR" altLang="en-US" sz="900" dirty="0" smtClean="0"/>
              <a:t> 데이터 </a:t>
            </a:r>
            <a:r>
              <a:rPr lang="ko-KR" altLang="en-US" sz="900" dirty="0" smtClean="0"/>
              <a:t> </a:t>
            </a:r>
            <a:endParaRPr lang="en-US" altLang="ko-KR" sz="900" dirty="0" smtClean="0"/>
          </a:p>
          <a:p>
            <a:pPr>
              <a:defRPr/>
            </a:pPr>
            <a:r>
              <a:rPr lang="ko-KR" altLang="en-US" sz="900" dirty="0" smtClean="0">
                <a:latin typeface="맑은 고딕" panose="020B0503020000020004" pitchFamily="50" charset="-127"/>
              </a:rPr>
              <a:t>②</a:t>
            </a:r>
            <a:r>
              <a:rPr lang="ko-KR" altLang="en-US" sz="900" dirty="0" smtClean="0"/>
              <a:t>비정형 </a:t>
            </a:r>
            <a:r>
              <a:rPr lang="ko-KR" altLang="en-US" sz="900" dirty="0"/>
              <a:t>주문 </a:t>
            </a:r>
            <a:r>
              <a:rPr lang="ko-KR" altLang="en-US" sz="900" dirty="0" smtClean="0"/>
              <a:t>텍스트</a:t>
            </a:r>
            <a:r>
              <a:rPr lang="en-US" altLang="ko-KR" sz="900" dirty="0" smtClean="0"/>
              <a:t>: </a:t>
            </a:r>
            <a:r>
              <a:rPr lang="ko-KR" altLang="en-US" sz="900" dirty="0" smtClean="0"/>
              <a:t>통화내용 텍스트로서</a:t>
            </a:r>
            <a:r>
              <a:rPr lang="en-US" altLang="ko-KR" sz="900" dirty="0" smtClean="0"/>
              <a:t>, </a:t>
            </a:r>
            <a:r>
              <a:rPr lang="ko-KR" altLang="en-US" sz="900" dirty="0"/>
              <a:t>꽃가게 관리 프로그램에 입력할 수 있는 양식</a:t>
            </a:r>
            <a:r>
              <a:rPr lang="en-US" altLang="ko-KR" sz="900" dirty="0"/>
              <a:t>, </a:t>
            </a:r>
            <a:endParaRPr lang="en-US" altLang="ko-KR" sz="900" dirty="0" smtClean="0"/>
          </a:p>
          <a:p>
            <a:pPr>
              <a:defRPr/>
            </a:pPr>
            <a:r>
              <a:rPr lang="en-US" altLang="ko-KR" sz="900" dirty="0"/>
              <a:t> </a:t>
            </a:r>
            <a:r>
              <a:rPr lang="en-US" altLang="ko-KR" sz="900" dirty="0" smtClean="0"/>
              <a:t>  </a:t>
            </a:r>
            <a:r>
              <a:rPr lang="ko-KR" altLang="en-US" sz="900" dirty="0" smtClean="0"/>
              <a:t>또는 </a:t>
            </a:r>
            <a:r>
              <a:rPr lang="ko-KR" altLang="en-US" sz="900" dirty="0"/>
              <a:t>주문 양식에 맞게 조정되지 않은 데이터 </a:t>
            </a:r>
            <a:endParaRPr lang="en-US" altLang="ko-KR" sz="900" dirty="0" smtClean="0"/>
          </a:p>
          <a:p>
            <a:pPr>
              <a:defRPr/>
            </a:pPr>
            <a:r>
              <a:rPr lang="ko-KR" altLang="en-US" sz="900" dirty="0" smtClean="0">
                <a:latin typeface="맑은 고딕" panose="020B0503020000020004" pitchFamily="50" charset="-127"/>
              </a:rPr>
              <a:t>③</a:t>
            </a:r>
            <a:r>
              <a:rPr lang="ko-KR" altLang="en-US" sz="900" dirty="0" smtClean="0"/>
              <a:t>정형화된 </a:t>
            </a:r>
            <a:r>
              <a:rPr lang="ko-KR" altLang="en-US" sz="900" dirty="0"/>
              <a:t>주문 음성</a:t>
            </a:r>
            <a:r>
              <a:rPr lang="en-US" altLang="ko-KR" sz="900" dirty="0"/>
              <a:t>: </a:t>
            </a:r>
            <a:r>
              <a:rPr lang="ko-KR" altLang="en-US" sz="900" dirty="0" smtClean="0"/>
              <a:t>꽃가게 관리 프로그램에 입력하거나</a:t>
            </a:r>
            <a:r>
              <a:rPr lang="en-US" altLang="ko-KR" sz="900" dirty="0" smtClean="0"/>
              <a:t>, </a:t>
            </a:r>
            <a:r>
              <a:rPr lang="ko-KR" altLang="en-US" sz="900" dirty="0" smtClean="0"/>
              <a:t>특정 주문 양식에 맞게 조정된 주문 텍스트</a:t>
            </a:r>
            <a:endParaRPr lang="ko-KR" altLang="en-US" sz="900" dirty="0"/>
          </a:p>
        </p:txBody>
      </p:sp>
      <p:sp>
        <p:nvSpPr>
          <p:cNvPr id="18" name="직사각형 17"/>
          <p:cNvSpPr/>
          <p:nvPr/>
        </p:nvSpPr>
        <p:spPr>
          <a:xfrm>
            <a:off x="601133" y="778932"/>
            <a:ext cx="6485467" cy="59457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4040001" y="2015080"/>
            <a:ext cx="17935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9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입력값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‘</a:t>
            </a:r>
            <a:r>
              <a:rPr lang="ko-KR" altLang="en-US" sz="900" dirty="0"/>
              <a:t>비정형 주문 </a:t>
            </a:r>
            <a:r>
              <a:rPr lang="ko-KR" altLang="en-US" sz="900" dirty="0" smtClean="0"/>
              <a:t>텍스트</a:t>
            </a:r>
            <a:r>
              <a:rPr lang="en-US" altLang="ko-KR" sz="900" dirty="0" smtClean="0"/>
              <a:t>’</a:t>
            </a:r>
          </a:p>
          <a:p>
            <a:pPr>
              <a:defRPr/>
            </a:pPr>
            <a:r>
              <a:rPr lang="ko-KR" altLang="en-US" sz="9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출력값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‘</a:t>
            </a:r>
            <a:r>
              <a:rPr lang="ko-KR" altLang="en-US" sz="900" dirty="0"/>
              <a:t>정형화된 주문 </a:t>
            </a:r>
            <a:r>
              <a:rPr lang="ko-KR" altLang="en-US" sz="900" dirty="0" smtClean="0"/>
              <a:t>텍스트</a:t>
            </a:r>
            <a:r>
              <a:rPr lang="en-US" altLang="ko-KR" sz="900" dirty="0" smtClean="0"/>
              <a:t>’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900" dirty="0"/>
          </a:p>
        </p:txBody>
      </p:sp>
      <p:sp>
        <p:nvSpPr>
          <p:cNvPr id="20" name="TextBox 19"/>
          <p:cNvSpPr txBox="1"/>
          <p:nvPr/>
        </p:nvSpPr>
        <p:spPr>
          <a:xfrm>
            <a:off x="644872" y="922882"/>
            <a:ext cx="1047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1.</a:t>
            </a:r>
            <a:r>
              <a:rPr lang="en-US" altLang="ko-KR" sz="900" dirty="0" smtClean="0"/>
              <a:t> </a:t>
            </a:r>
            <a:r>
              <a:rPr lang="ko-KR" altLang="en-US" sz="900" dirty="0" smtClean="0"/>
              <a:t>분석 프로세스</a:t>
            </a:r>
            <a:endParaRPr lang="ko-KR" altLang="en-US" sz="900" dirty="0"/>
          </a:p>
        </p:txBody>
      </p:sp>
      <p:cxnSp>
        <p:nvCxnSpPr>
          <p:cNvPr id="24" name="직선 연결선 23"/>
          <p:cNvCxnSpPr/>
          <p:nvPr/>
        </p:nvCxnSpPr>
        <p:spPr>
          <a:xfrm>
            <a:off x="643467" y="3318937"/>
            <a:ext cx="6350000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4872" y="3462879"/>
            <a:ext cx="173477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2.</a:t>
            </a:r>
            <a:r>
              <a:rPr lang="en-US" altLang="ko-KR" sz="900" dirty="0" smtClean="0"/>
              <a:t> </a:t>
            </a:r>
            <a:r>
              <a:rPr lang="ko-KR" altLang="en-US" sz="900" dirty="0" smtClean="0"/>
              <a:t>분석 내용</a:t>
            </a:r>
            <a:r>
              <a:rPr lang="en-US" altLang="ko-KR" sz="900" dirty="0" smtClean="0"/>
              <a:t>(</a:t>
            </a:r>
            <a:r>
              <a:rPr lang="ko-KR" altLang="en-US" sz="900" dirty="0" smtClean="0"/>
              <a:t>정형화된 텍스트</a:t>
            </a:r>
            <a:r>
              <a:rPr lang="en-US" altLang="ko-KR" sz="900" dirty="0" smtClean="0"/>
              <a:t>)</a:t>
            </a:r>
            <a:endParaRPr lang="ko-KR" altLang="en-US" sz="900" dirty="0"/>
          </a:p>
        </p:txBody>
      </p:sp>
      <p:sp>
        <p:nvSpPr>
          <p:cNvPr id="28" name="TextBox 27"/>
          <p:cNvSpPr txBox="1"/>
          <p:nvPr/>
        </p:nvSpPr>
        <p:spPr>
          <a:xfrm>
            <a:off x="771870" y="5621874"/>
            <a:ext cx="6253635" cy="7848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900" dirty="0" smtClean="0"/>
              <a:t>(2) </a:t>
            </a:r>
            <a:r>
              <a:rPr lang="ko-KR" altLang="en-US" sz="900" dirty="0" smtClean="0"/>
              <a:t>통화 내용이 꽃 주문 내용인지 판단</a:t>
            </a:r>
            <a:endParaRPr lang="en-US" altLang="ko-KR" sz="900" dirty="0" smtClean="0"/>
          </a:p>
          <a:p>
            <a:pPr>
              <a:defRPr/>
            </a:pPr>
            <a:r>
              <a:rPr lang="en-US" altLang="ko-KR" sz="900" dirty="0" smtClean="0"/>
              <a:t>   - </a:t>
            </a:r>
            <a:r>
              <a:rPr lang="ko-KR" altLang="en-US" sz="900" dirty="0" smtClean="0"/>
              <a:t>정형화된 텍스트 내용의 </a:t>
            </a:r>
            <a:r>
              <a:rPr lang="en-US" altLang="ko-KR" sz="900" dirty="0" smtClean="0"/>
              <a:t>3</a:t>
            </a:r>
            <a:r>
              <a:rPr lang="ko-KR" altLang="en-US" sz="900" dirty="0" smtClean="0"/>
              <a:t>개 이상 항목이 공백이면</a:t>
            </a:r>
            <a:r>
              <a:rPr lang="en-US" altLang="ko-KR" sz="900" dirty="0" smtClean="0"/>
              <a:t>, </a:t>
            </a:r>
            <a:r>
              <a:rPr lang="ko-KR" altLang="en-US" sz="900" dirty="0" smtClean="0"/>
              <a:t>꽃 주문이  </a:t>
            </a:r>
            <a:r>
              <a:rPr lang="ko-KR" altLang="en-US" sz="900" dirty="0" err="1" smtClean="0"/>
              <a:t>아닌걸로</a:t>
            </a:r>
            <a:r>
              <a:rPr lang="ko-KR" altLang="en-US" sz="900" dirty="0" smtClean="0"/>
              <a:t> 판단함</a:t>
            </a:r>
            <a:r>
              <a:rPr lang="en-US" altLang="ko-KR" sz="900" dirty="0" smtClean="0"/>
              <a:t>.</a:t>
            </a:r>
          </a:p>
          <a:p>
            <a:pPr>
              <a:defRPr/>
            </a:pPr>
            <a:r>
              <a:rPr lang="en-US" altLang="ko-KR" sz="900" dirty="0"/>
              <a:t>"Gemini</a:t>
            </a:r>
            <a:r>
              <a:rPr lang="ko-KR" altLang="en-US" sz="900" dirty="0"/>
              <a:t>가 </a:t>
            </a:r>
            <a:r>
              <a:rPr lang="ko-KR" altLang="en-US" sz="900" dirty="0" err="1"/>
              <a:t>리턴한</a:t>
            </a:r>
            <a:r>
              <a:rPr lang="ko-KR" altLang="en-US" sz="900" dirty="0"/>
              <a:t> </a:t>
            </a:r>
            <a:r>
              <a:rPr lang="en-US" altLang="ko-KR" sz="900" dirty="0"/>
              <a:t>JSON </a:t>
            </a:r>
            <a:r>
              <a:rPr lang="ko-KR" altLang="en-US" sz="900" dirty="0"/>
              <a:t>구조체에서 </a:t>
            </a:r>
            <a:r>
              <a:rPr lang="en-US" altLang="ko-KR" sz="900" dirty="0"/>
              <a:t>11</a:t>
            </a:r>
            <a:r>
              <a:rPr lang="ko-KR" altLang="en-US" sz="900" dirty="0"/>
              <a:t>가지 주문서 항목 중 값이 비어있는 항목</a:t>
            </a:r>
            <a:r>
              <a:rPr lang="en-US" altLang="ko-KR" sz="900" dirty="0"/>
              <a:t>(None </a:t>
            </a:r>
            <a:r>
              <a:rPr lang="ko-KR" altLang="en-US" sz="900" dirty="0"/>
              <a:t>또는 공백</a:t>
            </a:r>
            <a:r>
              <a:rPr lang="en-US" altLang="ko-KR" sz="900" dirty="0"/>
              <a:t>)</a:t>
            </a:r>
            <a:r>
              <a:rPr lang="ko-KR" altLang="en-US" sz="900" dirty="0"/>
              <a:t>이 </a:t>
            </a:r>
            <a:r>
              <a:rPr lang="en-US" altLang="ko-KR" sz="900" dirty="0"/>
              <a:t>3</a:t>
            </a:r>
            <a:r>
              <a:rPr lang="ko-KR" altLang="en-US" sz="900" dirty="0"/>
              <a:t>개 이상일 경우</a:t>
            </a:r>
            <a:r>
              <a:rPr lang="en-US" altLang="ko-KR" sz="900" dirty="0"/>
              <a:t>, </a:t>
            </a:r>
            <a:endParaRPr lang="en-US" altLang="ko-KR" sz="900" dirty="0" smtClean="0"/>
          </a:p>
          <a:p>
            <a:pPr>
              <a:defRPr/>
            </a:pPr>
            <a:r>
              <a:rPr lang="ko-KR" altLang="en-US" sz="900" dirty="0" smtClean="0"/>
              <a:t>시스템은 </a:t>
            </a:r>
            <a:r>
              <a:rPr lang="ko-KR" altLang="en-US" sz="900" dirty="0"/>
              <a:t>자동으로 </a:t>
            </a:r>
            <a:r>
              <a:rPr lang="en-US" altLang="ko-KR" sz="900" dirty="0"/>
              <a:t>'</a:t>
            </a:r>
            <a:r>
              <a:rPr lang="en-US" altLang="ko-KR" sz="900" dirty="0" err="1"/>
              <a:t>is_order</a:t>
            </a:r>
            <a:r>
              <a:rPr lang="en-US" altLang="ko-KR" sz="900" dirty="0"/>
              <a:t> = N'</a:t>
            </a:r>
            <a:r>
              <a:rPr lang="ko-KR" altLang="en-US" sz="900" dirty="0"/>
              <a:t>으로 판별하고 설계서 </a:t>
            </a:r>
            <a:r>
              <a:rPr lang="en-US" altLang="ko-KR" sz="900" dirty="0"/>
              <a:t>9</a:t>
            </a:r>
            <a:r>
              <a:rPr lang="ko-KR" altLang="en-US" sz="900" dirty="0"/>
              <a:t>페이지 순서도에 따라 </a:t>
            </a:r>
            <a:endParaRPr lang="en-US" altLang="ko-KR" sz="900" dirty="0" smtClean="0"/>
          </a:p>
          <a:p>
            <a:pPr>
              <a:defRPr/>
            </a:pPr>
            <a:r>
              <a:rPr lang="ko-KR" altLang="en-US" sz="900" dirty="0" smtClean="0"/>
              <a:t>서버 </a:t>
            </a:r>
            <a:r>
              <a:rPr lang="ko-KR" altLang="en-US" sz="900" dirty="0"/>
              <a:t>임시 파일을 즉시 삭제하는 예외 처리 </a:t>
            </a:r>
            <a:r>
              <a:rPr lang="ko-KR" altLang="en-US" sz="900" dirty="0" err="1"/>
              <a:t>파이썬</a:t>
            </a:r>
            <a:r>
              <a:rPr lang="ko-KR" altLang="en-US" sz="900" dirty="0"/>
              <a:t> 함수를 작성해줘</a:t>
            </a:r>
            <a:r>
              <a:rPr lang="en-US" altLang="ko-KR" sz="900" dirty="0" smtClean="0"/>
              <a:t>."</a:t>
            </a:r>
            <a:endParaRPr lang="ko-KR" altLang="en-US" sz="900" dirty="0"/>
          </a:p>
        </p:txBody>
      </p:sp>
      <p:sp>
        <p:nvSpPr>
          <p:cNvPr id="21" name="TextBox 20"/>
          <p:cNvSpPr txBox="1"/>
          <p:nvPr/>
        </p:nvSpPr>
        <p:spPr>
          <a:xfrm>
            <a:off x="771870" y="3674545"/>
            <a:ext cx="3329758" cy="18928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900" dirty="0" smtClean="0"/>
              <a:t>(1) </a:t>
            </a:r>
            <a:r>
              <a:rPr lang="ko-KR" altLang="en-US" sz="900" dirty="0" smtClean="0"/>
              <a:t>통화 </a:t>
            </a:r>
            <a:r>
              <a:rPr lang="ko-KR" altLang="en-US" sz="900" dirty="0"/>
              <a:t>내용을 주문서 양식에 맞게 정형화된 </a:t>
            </a:r>
            <a:r>
              <a:rPr lang="ko-KR" altLang="en-US" sz="900" dirty="0" smtClean="0"/>
              <a:t>텍스트로</a:t>
            </a:r>
            <a:r>
              <a:rPr lang="en-US" altLang="ko-KR" sz="900" dirty="0" smtClean="0"/>
              <a:t> </a:t>
            </a:r>
            <a:r>
              <a:rPr lang="ko-KR" altLang="en-US" sz="900" dirty="0" smtClean="0"/>
              <a:t>정리</a:t>
            </a:r>
            <a:endParaRPr lang="en-US" altLang="ko-KR" sz="900" dirty="0" smtClean="0"/>
          </a:p>
          <a:p>
            <a:pPr>
              <a:defRPr/>
            </a:pPr>
            <a:r>
              <a:rPr lang="en-US" altLang="ko-KR" sz="900" dirty="0" smtClean="0"/>
              <a:t> </a:t>
            </a:r>
            <a:r>
              <a:rPr lang="ko-KR" altLang="en-US" sz="900" dirty="0" smtClean="0">
                <a:latin typeface="맑은 고딕" panose="020B0503020000020004" pitchFamily="50" charset="-127"/>
              </a:rPr>
              <a:t>① </a:t>
            </a:r>
            <a:r>
              <a:rPr lang="ko-KR" altLang="en-US" sz="900" dirty="0" err="1" smtClean="0"/>
              <a:t>주문고객</a:t>
            </a:r>
            <a:r>
              <a:rPr lang="en-US" altLang="ko-KR" sz="900" dirty="0"/>
              <a:t>: </a:t>
            </a:r>
          </a:p>
          <a:p>
            <a:pPr>
              <a:defRPr/>
            </a:pPr>
            <a:r>
              <a:rPr lang="en-US" altLang="ko-KR" sz="900" dirty="0" smtClean="0"/>
              <a:t> 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② </a:t>
            </a:r>
            <a:r>
              <a:rPr lang="ko-KR" altLang="en-US" sz="900" dirty="0" err="1" smtClean="0"/>
              <a:t>주문고객</a:t>
            </a:r>
            <a:r>
              <a:rPr lang="ko-KR" altLang="en-US" sz="900" dirty="0" smtClean="0"/>
              <a:t> </a:t>
            </a:r>
            <a:r>
              <a:rPr lang="ko-KR" altLang="en-US" sz="900" dirty="0"/>
              <a:t>연락처</a:t>
            </a:r>
            <a:r>
              <a:rPr lang="en-US" altLang="ko-KR" sz="900" dirty="0"/>
              <a:t>: </a:t>
            </a:r>
          </a:p>
          <a:p>
            <a:pPr>
              <a:defRPr/>
            </a:pPr>
            <a:r>
              <a:rPr lang="en-US" altLang="ko-KR" sz="900" dirty="0" smtClean="0"/>
              <a:t> </a:t>
            </a:r>
            <a:r>
              <a:rPr lang="en-US" altLang="ko-KR" sz="900" dirty="0" smtClean="0">
                <a:latin typeface="맑은 고딕" panose="020B0503020000020004" pitchFamily="50" charset="-127"/>
              </a:rPr>
              <a:t>③ </a:t>
            </a:r>
            <a:r>
              <a:rPr lang="ko-KR" altLang="en-US" sz="900" dirty="0" smtClean="0"/>
              <a:t>상품명</a:t>
            </a:r>
            <a:r>
              <a:rPr lang="en-US" altLang="ko-KR" sz="900" dirty="0"/>
              <a:t>: </a:t>
            </a:r>
          </a:p>
          <a:p>
            <a:pPr>
              <a:defRPr/>
            </a:pPr>
            <a:r>
              <a:rPr lang="en-US" altLang="ko-KR" sz="900" dirty="0" smtClean="0"/>
              <a:t> </a:t>
            </a:r>
            <a:r>
              <a:rPr lang="en-US" altLang="ko-KR" sz="900" dirty="0" smtClean="0">
                <a:latin typeface="맑은 고딕" panose="020B0503020000020004" pitchFamily="50" charset="-127"/>
              </a:rPr>
              <a:t>④ </a:t>
            </a:r>
            <a:r>
              <a:rPr lang="ko-KR" altLang="en-US" sz="900" dirty="0" smtClean="0"/>
              <a:t>상품가격</a:t>
            </a:r>
            <a:r>
              <a:rPr lang="en-US" altLang="ko-KR" sz="900" dirty="0"/>
              <a:t>: </a:t>
            </a:r>
          </a:p>
          <a:p>
            <a:pPr>
              <a:defRPr/>
            </a:pPr>
            <a:r>
              <a:rPr lang="en-US" altLang="ko-KR" sz="900" dirty="0" smtClean="0"/>
              <a:t> </a:t>
            </a:r>
            <a:r>
              <a:rPr lang="en-US" altLang="ko-KR" sz="900" dirty="0" smtClean="0">
                <a:latin typeface="맑은 고딕" panose="020B0503020000020004" pitchFamily="50" charset="-127"/>
              </a:rPr>
              <a:t>⑤ </a:t>
            </a:r>
            <a:r>
              <a:rPr lang="ko-KR" altLang="en-US" sz="900" dirty="0" err="1" smtClean="0"/>
              <a:t>상품수량</a:t>
            </a:r>
            <a:r>
              <a:rPr lang="en-US" altLang="ko-KR" sz="900" dirty="0"/>
              <a:t>: </a:t>
            </a:r>
          </a:p>
          <a:p>
            <a:pPr>
              <a:defRPr/>
            </a:pPr>
            <a:r>
              <a:rPr lang="en-US" altLang="ko-KR" sz="900" dirty="0" smtClean="0"/>
              <a:t> </a:t>
            </a:r>
            <a:r>
              <a:rPr lang="en-US" altLang="ko-KR" sz="900" dirty="0" smtClean="0">
                <a:latin typeface="맑은 고딕" panose="020B0503020000020004" pitchFamily="50" charset="-127"/>
              </a:rPr>
              <a:t>⑥ </a:t>
            </a:r>
            <a:r>
              <a:rPr lang="ko-KR" altLang="en-US" sz="900" dirty="0" err="1" smtClean="0"/>
              <a:t>배달장소</a:t>
            </a:r>
            <a:r>
              <a:rPr lang="en-US" altLang="ko-KR" sz="900" dirty="0"/>
              <a:t>: </a:t>
            </a:r>
          </a:p>
          <a:p>
            <a:pPr>
              <a:defRPr/>
            </a:pPr>
            <a:r>
              <a:rPr lang="en-US" altLang="ko-KR" sz="900" dirty="0" smtClean="0"/>
              <a:t> </a:t>
            </a:r>
            <a:r>
              <a:rPr lang="en-US" altLang="ko-KR" sz="900" dirty="0" smtClean="0">
                <a:latin typeface="맑은 고딕" panose="020B0503020000020004" pitchFamily="50" charset="-127"/>
              </a:rPr>
              <a:t>⑦ </a:t>
            </a:r>
            <a:r>
              <a:rPr lang="ko-KR" altLang="en-US" sz="900" dirty="0" err="1" smtClean="0"/>
              <a:t>받는사람</a:t>
            </a:r>
            <a:r>
              <a:rPr lang="en-US" altLang="ko-KR" sz="900" dirty="0" smtClean="0"/>
              <a:t>: </a:t>
            </a:r>
            <a:endParaRPr lang="en-US" altLang="ko-KR" sz="900" dirty="0"/>
          </a:p>
          <a:p>
            <a:pPr>
              <a:defRPr/>
            </a:pPr>
            <a:r>
              <a:rPr lang="en-US" altLang="ko-KR" sz="900" dirty="0" smtClean="0"/>
              <a:t> </a:t>
            </a:r>
            <a:r>
              <a:rPr lang="en-US" altLang="ko-KR" sz="900" dirty="0" smtClean="0">
                <a:latin typeface="맑은 고딕" panose="020B0503020000020004" pitchFamily="50" charset="-127"/>
              </a:rPr>
              <a:t>⑧ </a:t>
            </a:r>
            <a:r>
              <a:rPr lang="ko-KR" altLang="en-US" sz="900" dirty="0" err="1" smtClean="0"/>
              <a:t>받는사람</a:t>
            </a:r>
            <a:r>
              <a:rPr lang="ko-KR" altLang="en-US" sz="900" dirty="0" smtClean="0"/>
              <a:t> </a:t>
            </a:r>
            <a:r>
              <a:rPr lang="ko-KR" altLang="en-US" sz="900" dirty="0"/>
              <a:t>연락처</a:t>
            </a:r>
            <a:r>
              <a:rPr lang="en-US" altLang="ko-KR" sz="900" dirty="0"/>
              <a:t>: </a:t>
            </a:r>
          </a:p>
          <a:p>
            <a:pPr>
              <a:defRPr/>
            </a:pPr>
            <a:r>
              <a:rPr lang="en-US" altLang="ko-KR" sz="900" dirty="0" smtClean="0"/>
              <a:t> </a:t>
            </a:r>
            <a:r>
              <a:rPr lang="en-US" altLang="ko-KR" sz="900" dirty="0" smtClean="0">
                <a:latin typeface="맑은 고딕" panose="020B0503020000020004" pitchFamily="50" charset="-127"/>
              </a:rPr>
              <a:t>⑨ </a:t>
            </a:r>
            <a:r>
              <a:rPr lang="ko-KR" altLang="en-US" sz="900" dirty="0" err="1" smtClean="0"/>
              <a:t>리본문구</a:t>
            </a:r>
            <a:r>
              <a:rPr lang="en-US" altLang="ko-KR" sz="900" dirty="0"/>
              <a:t>(</a:t>
            </a:r>
            <a:r>
              <a:rPr lang="ko-KR" altLang="en-US" sz="900" dirty="0" err="1"/>
              <a:t>경조사어</a:t>
            </a:r>
            <a:r>
              <a:rPr lang="en-US" altLang="ko-KR" sz="900" dirty="0"/>
              <a:t>): </a:t>
            </a:r>
          </a:p>
          <a:p>
            <a:pPr>
              <a:defRPr/>
            </a:pPr>
            <a:r>
              <a:rPr lang="en-US" altLang="ko-KR" sz="900" dirty="0" smtClean="0"/>
              <a:t> </a:t>
            </a:r>
            <a:r>
              <a:rPr lang="en-US" altLang="ko-KR" sz="900" dirty="0" smtClean="0">
                <a:latin typeface="맑은 고딕" panose="020B0503020000020004" pitchFamily="50" charset="-127"/>
              </a:rPr>
              <a:t>⑩ </a:t>
            </a:r>
            <a:r>
              <a:rPr lang="ko-KR" altLang="en-US" sz="900" dirty="0" err="1" smtClean="0"/>
              <a:t>리본문구</a:t>
            </a:r>
            <a:r>
              <a:rPr lang="en-US" altLang="ko-KR" sz="900" dirty="0"/>
              <a:t>(</a:t>
            </a:r>
            <a:r>
              <a:rPr lang="ko-KR" altLang="en-US" sz="900" dirty="0"/>
              <a:t>보내는 사람</a:t>
            </a:r>
            <a:r>
              <a:rPr lang="en-US" altLang="ko-KR" sz="900" dirty="0"/>
              <a:t>): </a:t>
            </a:r>
          </a:p>
          <a:p>
            <a:pPr>
              <a:defRPr/>
            </a:pPr>
            <a:r>
              <a:rPr lang="en-US" altLang="ko-KR" sz="900" dirty="0" smtClean="0"/>
              <a:t> </a:t>
            </a:r>
            <a:r>
              <a:rPr lang="en-US" altLang="ko-KR" sz="900" dirty="0" smtClean="0">
                <a:latin typeface="맑은 고딕" panose="020B0503020000020004" pitchFamily="50" charset="-127"/>
              </a:rPr>
              <a:t>⑪ </a:t>
            </a:r>
            <a:r>
              <a:rPr lang="ko-KR" altLang="en-US" sz="900" dirty="0" err="1" smtClean="0"/>
              <a:t>카드메세지</a:t>
            </a:r>
            <a:r>
              <a:rPr lang="en-US" altLang="ko-KR" sz="900" dirty="0"/>
              <a:t>: </a:t>
            </a:r>
          </a:p>
          <a:p>
            <a:pPr>
              <a:defRPr/>
            </a:pPr>
            <a:r>
              <a:rPr lang="ko-KR" altLang="en-US" sz="900" dirty="0"/>
              <a:t>로 분리해주세요</a:t>
            </a:r>
            <a:r>
              <a:rPr lang="en-US" altLang="ko-KR" sz="900" dirty="0"/>
              <a:t>. </a:t>
            </a:r>
            <a:r>
              <a:rPr lang="ko-KR" altLang="en-US" sz="900" dirty="0"/>
              <a:t>내용이 없는 항목은 비워두세요</a:t>
            </a:r>
            <a:r>
              <a:rPr lang="en-US" altLang="ko-KR" sz="9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435178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2" name="직선 연결선 121"/>
          <p:cNvCxnSpPr/>
          <p:nvPr/>
        </p:nvCxnSpPr>
        <p:spPr>
          <a:xfrm flipH="1" flipV="1">
            <a:off x="13629633" y="2047246"/>
            <a:ext cx="1" cy="2887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/>
          <p:cNvCxnSpPr/>
          <p:nvPr/>
        </p:nvCxnSpPr>
        <p:spPr>
          <a:xfrm flipH="1" flipV="1">
            <a:off x="15448908" y="2046707"/>
            <a:ext cx="1" cy="2887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60985" y="196419"/>
            <a:ext cx="1468755" cy="3693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b="1"/>
              <a:t>4. RPA</a:t>
            </a:r>
            <a:r>
              <a:rPr lang="ko-KR" altLang="en-US" b="1"/>
              <a:t> 처리</a:t>
            </a:r>
            <a:endParaRPr lang="en-US" altLang="ko-KR" b="1"/>
          </a:p>
        </p:txBody>
      </p:sp>
      <p:sp>
        <p:nvSpPr>
          <p:cNvPr id="126" name="직사각형 2"/>
          <p:cNvSpPr/>
          <p:nvPr/>
        </p:nvSpPr>
        <p:spPr>
          <a:xfrm>
            <a:off x="628650" y="830499"/>
            <a:ext cx="5347678" cy="53919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000" dirty="0">
                <a:solidFill>
                  <a:schemeClr val="dk1"/>
                </a:solidFill>
              </a:rPr>
              <a:t>"RPA 작업은 무조건 하나의 큐(</a:t>
            </a:r>
            <a:r>
              <a:rPr lang="ko-KR" altLang="en-US" sz="1000" dirty="0" err="1">
                <a:solidFill>
                  <a:schemeClr val="dk1"/>
                </a:solidFill>
              </a:rPr>
              <a:t>Queue</a:t>
            </a:r>
            <a:r>
              <a:rPr lang="ko-KR" altLang="en-US" sz="1000" dirty="0">
                <a:solidFill>
                  <a:schemeClr val="dk1"/>
                </a:solidFill>
              </a:rPr>
              <a:t>)</a:t>
            </a:r>
            <a:r>
              <a:rPr lang="ko-KR" altLang="en-US" sz="1000" dirty="0" err="1">
                <a:solidFill>
                  <a:schemeClr val="dk1"/>
                </a:solidFill>
              </a:rPr>
              <a:t>를</a:t>
            </a:r>
            <a:r>
              <a:rPr lang="ko-KR" altLang="en-US" sz="1000" dirty="0">
                <a:solidFill>
                  <a:schemeClr val="dk1"/>
                </a:solidFill>
              </a:rPr>
              <a:t> 통해 순차적으로 실행되어야 하며, </a:t>
            </a:r>
          </a:p>
          <a:p>
            <a:pPr lvl="0">
              <a:defRPr/>
            </a:pPr>
            <a:r>
              <a:rPr lang="ko-KR" altLang="en-US" sz="1000" dirty="0">
                <a:solidFill>
                  <a:schemeClr val="dk1"/>
                </a:solidFill>
              </a:rPr>
              <a:t>하나의 </a:t>
            </a:r>
            <a:r>
              <a:rPr lang="ko-KR" altLang="en-US" sz="1000" dirty="0" err="1">
                <a:solidFill>
                  <a:schemeClr val="dk1"/>
                </a:solidFill>
              </a:rPr>
              <a:t>RPA가</a:t>
            </a:r>
            <a:r>
              <a:rPr lang="ko-KR" altLang="en-US" sz="1000" dirty="0">
                <a:solidFill>
                  <a:schemeClr val="dk1"/>
                </a:solidFill>
              </a:rPr>
              <a:t> 실행 중일 때는 다른 RPA 작업이 대기하도록 </a:t>
            </a:r>
            <a:r>
              <a:rPr lang="en-US" altLang="ko-KR" sz="1000" dirty="0">
                <a:solidFill>
                  <a:schemeClr val="dk1"/>
                </a:solidFill>
              </a:rPr>
              <a:t>,</a:t>
            </a:r>
          </a:p>
          <a:p>
            <a:pPr lvl="0">
              <a:defRPr/>
            </a:pPr>
            <a:r>
              <a:rPr lang="ko-KR" altLang="en-US" sz="1000" dirty="0" err="1">
                <a:solidFill>
                  <a:schemeClr val="dk1"/>
                </a:solidFill>
              </a:rPr>
              <a:t>싱글턴</a:t>
            </a:r>
            <a:r>
              <a:rPr lang="ko-KR" altLang="en-US" sz="1000" dirty="0">
                <a:solidFill>
                  <a:schemeClr val="dk1"/>
                </a:solidFill>
              </a:rPr>
              <a:t>(</a:t>
            </a:r>
            <a:r>
              <a:rPr lang="ko-KR" altLang="en-US" sz="1000" dirty="0" err="1">
                <a:solidFill>
                  <a:schemeClr val="dk1"/>
                </a:solidFill>
              </a:rPr>
              <a:t>Singleton</a:t>
            </a:r>
            <a:r>
              <a:rPr lang="ko-KR" altLang="en-US" sz="1000" dirty="0">
                <a:solidFill>
                  <a:schemeClr val="dk1"/>
                </a:solidFill>
              </a:rPr>
              <a:t>) 또는 </a:t>
            </a:r>
            <a:r>
              <a:rPr lang="ko-KR" altLang="en-US" sz="1000" dirty="0" err="1">
                <a:solidFill>
                  <a:schemeClr val="dk1"/>
                </a:solidFill>
              </a:rPr>
              <a:t>락</a:t>
            </a:r>
            <a:r>
              <a:rPr lang="ko-KR" altLang="en-US" sz="1000" dirty="0">
                <a:solidFill>
                  <a:schemeClr val="dk1"/>
                </a:solidFill>
              </a:rPr>
              <a:t>(</a:t>
            </a:r>
            <a:r>
              <a:rPr lang="ko-KR" altLang="en-US" sz="1000" dirty="0" err="1">
                <a:solidFill>
                  <a:schemeClr val="dk1"/>
                </a:solidFill>
              </a:rPr>
              <a:t>Lock</a:t>
            </a:r>
            <a:r>
              <a:rPr lang="ko-KR" altLang="en-US" sz="1000" dirty="0">
                <a:solidFill>
                  <a:schemeClr val="dk1"/>
                </a:solidFill>
              </a:rPr>
              <a:t>) </a:t>
            </a:r>
            <a:r>
              <a:rPr lang="ko-KR" altLang="en-US" sz="1000" dirty="0" err="1">
                <a:solidFill>
                  <a:schemeClr val="dk1"/>
                </a:solidFill>
              </a:rPr>
              <a:t>매커니즘을</a:t>
            </a:r>
            <a:r>
              <a:rPr lang="ko-KR" altLang="en-US" sz="1000" dirty="0">
                <a:solidFill>
                  <a:schemeClr val="dk1"/>
                </a:solidFill>
              </a:rPr>
              <a:t> 구현해줘"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8650" y="1755384"/>
            <a:ext cx="8474319" cy="3667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900" dirty="0"/>
              <a:t>"PC 내에서 여러 채널(전화, 쇼핑몰, </a:t>
            </a:r>
            <a:r>
              <a:rPr lang="ko-KR" altLang="en-US" sz="900" dirty="0" err="1"/>
              <a:t>인터라넷</a:t>
            </a:r>
            <a:r>
              <a:rPr lang="ko-KR" altLang="en-US" sz="900" dirty="0"/>
              <a:t>)의 주문이 동시다발적으로 입력 완료되어 RPA 호출이 겹치더라도 , </a:t>
            </a:r>
          </a:p>
          <a:p>
            <a:pPr>
              <a:defRPr/>
            </a:pPr>
            <a:r>
              <a:rPr lang="ko-KR" altLang="en-US" sz="900" dirty="0"/>
              <a:t>윈도우 화면 제어가 꼬이지 않도록 </a:t>
            </a:r>
            <a:r>
              <a:rPr lang="ko-KR" altLang="en-US" sz="900" dirty="0" err="1"/>
              <a:t>파이썬의</a:t>
            </a:r>
            <a:r>
              <a:rPr lang="ko-KR" altLang="en-US" sz="900" dirty="0"/>
              <a:t> </a:t>
            </a:r>
            <a:r>
              <a:rPr lang="ko-KR" altLang="en-US" sz="900" dirty="0" err="1"/>
              <a:t>threading.Lock</a:t>
            </a:r>
            <a:r>
              <a:rPr lang="ko-KR" altLang="en-US" sz="900" dirty="0"/>
              <a:t>() 또는 비동기 **</a:t>
            </a:r>
            <a:r>
              <a:rPr lang="ko-KR" altLang="en-US" sz="900" dirty="0" err="1"/>
              <a:t>asyncio.Lock</a:t>
            </a:r>
            <a:r>
              <a:rPr lang="ko-KR" altLang="en-US" sz="900" dirty="0"/>
              <a:t>()**을 사용하여 RPA </a:t>
            </a:r>
            <a:r>
              <a:rPr lang="ko-KR" altLang="en-US" sz="900" dirty="0" err="1"/>
              <a:t>진입점을</a:t>
            </a:r>
            <a:r>
              <a:rPr lang="ko-KR" altLang="en-US" sz="900" dirty="0"/>
              <a:t> 원천 동기화 제어해줘."  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628650" y="2304187"/>
            <a:ext cx="9372600" cy="400110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000" dirty="0"/>
              <a:t>"RPA 모듈 구동 시, 윈도우 상에서 꽃가게 관리 프로그램 창(</a:t>
            </a:r>
            <a:r>
              <a:rPr lang="ko-KR" altLang="en-US" sz="1000" dirty="0" err="1"/>
              <a:t>Window</a:t>
            </a:r>
            <a:r>
              <a:rPr lang="ko-KR" altLang="en-US" sz="1000" dirty="0"/>
              <a:t> </a:t>
            </a:r>
            <a:r>
              <a:rPr lang="ko-KR" altLang="en-US" sz="1000" dirty="0" err="1"/>
              <a:t>Title</a:t>
            </a:r>
            <a:r>
              <a:rPr lang="ko-KR" altLang="en-US" sz="1000" dirty="0"/>
              <a:t>)을 찾지 못할 경우 프로세스를 터뜨리지 말고, </a:t>
            </a:r>
          </a:p>
          <a:p>
            <a:r>
              <a:rPr lang="ko-KR" altLang="en-US" sz="1000" dirty="0"/>
              <a:t>수집된 정형 데이터를 바탕으로 지정된 폴더에 엑셀(.</a:t>
            </a:r>
            <a:r>
              <a:rPr lang="ko-KR" altLang="en-US" sz="1000" dirty="0" err="1"/>
              <a:t>xlsx</a:t>
            </a:r>
            <a:r>
              <a:rPr lang="ko-KR" altLang="en-US" sz="1000" dirty="0"/>
              <a:t>) 파일과 텍스트 형태의 인수증 영수증 파일을 자동 생성하여 저장하도록 예외 분기를 짜줘."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3502</ep:Words>
  <ep:PresentationFormat>와이드스크린</ep:PresentationFormat>
  <ep:Paragraphs>435</ep:Paragraphs>
  <ep:Slides>19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ep:HeadingPairs>
  <ep:TitlesOfParts>
    <vt:vector size="20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2026-02-22T10:01:34.000</dcterms:created>
  <dc:creator>박선희</dc:creator>
  <cp:lastModifiedBy>SAMSUNG</cp:lastModifiedBy>
  <dcterms:modified xsi:type="dcterms:W3CDTF">2026-06-01T04:37:55.777</dcterms:modified>
  <cp:revision>668</cp:revision>
  <dc:title>PowerPoint 프레젠테이션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