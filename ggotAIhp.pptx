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sldIdLst>
    <p:sldId id="334" r:id="rId2"/>
    <p:sldId id="335" r:id="rId3"/>
    <p:sldId id="336" r:id="rId4"/>
    <p:sldId id="337" r:id="rId5"/>
    <p:sldId id="349" r:id="rId6"/>
    <p:sldId id="35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21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94" y="96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75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64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388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65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80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222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69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20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09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94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45820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E5127-86E3-4B5C-BF35-3FAFAC2DEAC0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EFBB0-19D1-42DC-BF6B-A79D002F11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888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2426327"/>
            <a:ext cx="12192000" cy="1000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6000" b="1">
                <a:latin typeface="맑은 고딕"/>
                <a:ea typeface="맑은 고딕"/>
              </a:rPr>
              <a:t>Ⅰ. </a:t>
            </a:r>
            <a:r>
              <a:rPr lang="en-US" altLang="ko-KR" sz="6000" b="1"/>
              <a:t>ggotAI(</a:t>
            </a:r>
            <a:r>
              <a:rPr lang="ko-KR" altLang="en-US" sz="6000" b="1"/>
              <a:t>꽃아이</a:t>
            </a:r>
            <a:r>
              <a:rPr lang="en-US" altLang="ko-KR" sz="6000" b="1"/>
              <a:t>)</a:t>
            </a:r>
            <a:endParaRPr lang="en-US" altLang="ko-KR" sz="6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47610" y="224994"/>
            <a:ext cx="37032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1. ggotAI(</a:t>
            </a:r>
            <a:r>
              <a:rPr lang="ko-KR" altLang="en-US" b="1"/>
              <a:t>꽃아이</a:t>
            </a:r>
            <a:r>
              <a:rPr lang="en-US" altLang="ko-KR" b="1"/>
              <a:t>) </a:t>
            </a:r>
            <a:r>
              <a:rPr lang="ko-KR" altLang="en-US" b="1"/>
              <a:t>전체 업무 흐름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91116" y="5056192"/>
            <a:ext cx="1072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sp>
        <p:nvSpPr>
          <p:cNvPr id="70" name="모서리가 둥근 직사각형 69"/>
          <p:cNvSpPr/>
          <p:nvPr/>
        </p:nvSpPr>
        <p:spPr>
          <a:xfrm>
            <a:off x="5017389" y="2753909"/>
            <a:ext cx="1270578" cy="1849967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4000">
                <a:solidFill>
                  <a:srgbClr val="0070C0"/>
                </a:solidFill>
              </a:rPr>
              <a:t>웹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40681" y="2954648"/>
            <a:ext cx="1675232" cy="6808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anchor="ctr" anchorCtr="0">
            <a:noAutofit/>
          </a:bodyPr>
          <a:lstStyle/>
          <a:p>
            <a:pPr algn="ctr">
              <a:defRPr/>
            </a:pPr>
            <a:r>
              <a:rPr lang="en-US" altLang="ko-KR" b="1"/>
              <a:t>Whisper</a:t>
            </a:r>
          </a:p>
        </p:txBody>
      </p:sp>
      <p:cxnSp>
        <p:nvCxnSpPr>
          <p:cNvPr id="105" name="직선 연결선 104"/>
          <p:cNvCxnSpPr>
            <a:stCxn id="104" idx="3"/>
          </p:cNvCxnSpPr>
          <p:nvPr/>
        </p:nvCxnSpPr>
        <p:spPr>
          <a:xfrm>
            <a:off x="3642918" y="3338405"/>
            <a:ext cx="1375049" cy="156338"/>
          </a:xfrm>
          <a:prstGeom prst="line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>
            <a:stCxn id="84" idx="3"/>
          </p:cNvCxnSpPr>
          <p:nvPr/>
        </p:nvCxnSpPr>
        <p:spPr>
          <a:xfrm flipV="1">
            <a:off x="3642918" y="3943477"/>
            <a:ext cx="1383515" cy="4512"/>
          </a:xfrm>
          <a:prstGeom prst="line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>
            <a:off x="3965510" y="4618653"/>
            <a:ext cx="811763" cy="979714"/>
          </a:xfrm>
          <a:prstGeom prst="line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>
            <a:stCxn id="96" idx="3"/>
          </p:cNvCxnSpPr>
          <p:nvPr/>
        </p:nvCxnSpPr>
        <p:spPr>
          <a:xfrm>
            <a:off x="3642918" y="2733983"/>
            <a:ext cx="1330298" cy="279805"/>
          </a:xfrm>
          <a:prstGeom prst="line">
            <a:avLst/>
          </a:prstGeom>
          <a:ln>
            <a:solidFill>
              <a:schemeClr val="tx1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764603" y="3739151"/>
            <a:ext cx="1072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07059" y="2895615"/>
            <a:ext cx="10727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cxnSp>
        <p:nvCxnSpPr>
          <p:cNvPr id="113" name="직선 화살표 연결선 112"/>
          <p:cNvCxnSpPr/>
          <p:nvPr/>
        </p:nvCxnSpPr>
        <p:spPr>
          <a:xfrm>
            <a:off x="6321564" y="3150296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/>
          <p:cNvCxnSpPr/>
          <p:nvPr/>
        </p:nvCxnSpPr>
        <p:spPr>
          <a:xfrm>
            <a:off x="6321564" y="3510025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249351" y="3261901"/>
            <a:ext cx="11881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59988" y="3803483"/>
            <a:ext cx="11881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cxnSp>
        <p:nvCxnSpPr>
          <p:cNvPr id="117" name="직선 화살표 연결선 116"/>
          <p:cNvCxnSpPr/>
          <p:nvPr/>
        </p:nvCxnSpPr>
        <p:spPr>
          <a:xfrm>
            <a:off x="6321564" y="4020064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/>
          <p:cNvCxnSpPr/>
          <p:nvPr/>
        </p:nvCxnSpPr>
        <p:spPr>
          <a:xfrm>
            <a:off x="6321564" y="4344902"/>
            <a:ext cx="1080000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6222301" y="4110224"/>
            <a:ext cx="13176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900"/>
              <a:t>정형화된 주문 텍스트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59731" y="3783323"/>
            <a:ext cx="1656182" cy="6808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anchor="ctr" anchorCtr="0">
            <a:noAutofit/>
          </a:bodyPr>
          <a:lstStyle/>
          <a:p>
            <a:pPr algn="ctr">
              <a:defRPr/>
            </a:pPr>
            <a:r>
              <a:rPr lang="en-US" altLang="ko-KR" b="1"/>
              <a:t>Gemini</a:t>
            </a:r>
            <a:endParaRPr lang="en-US" altLang="ko-KR" sz="900"/>
          </a:p>
        </p:txBody>
      </p:sp>
      <p:sp>
        <p:nvSpPr>
          <p:cNvPr id="121" name="TextBox 120"/>
          <p:cNvSpPr txBox="1"/>
          <p:nvPr/>
        </p:nvSpPr>
        <p:spPr>
          <a:xfrm>
            <a:off x="6305758" y="4738681"/>
            <a:ext cx="181652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900"/>
              <a:t>RPA </a:t>
            </a:r>
            <a:r>
              <a:rPr lang="ko-KR" altLang="en-US" sz="900"/>
              <a:t>실행</a:t>
            </a:r>
            <a:r>
              <a:rPr lang="en-US" altLang="ko-KR" sz="900"/>
              <a:t>(</a:t>
            </a:r>
            <a:r>
              <a:rPr lang="ko-KR" altLang="en-US" sz="900"/>
              <a:t>정형화된주문 텍스트</a:t>
            </a:r>
            <a:r>
              <a:rPr lang="en-US" altLang="ko-KR" sz="900"/>
              <a:t>)</a:t>
            </a:r>
            <a:endParaRPr lang="ko-KR" altLang="en-US" sz="900"/>
          </a:p>
        </p:txBody>
      </p:sp>
      <p:sp>
        <p:nvSpPr>
          <p:cNvPr id="137" name="모서리가 둥근 직사각형 136"/>
          <p:cNvSpPr/>
          <p:nvPr/>
        </p:nvSpPr>
        <p:spPr>
          <a:xfrm>
            <a:off x="6181986" y="5097205"/>
            <a:ext cx="787981" cy="445179"/>
          </a:xfrm>
          <a:prstGeom prst="roundRect">
            <a:avLst>
              <a:gd name="adj" fmla="val 16667"/>
            </a:avLst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123" name="직선 화살표 연결선 122"/>
          <p:cNvCxnSpPr/>
          <p:nvPr/>
        </p:nvCxnSpPr>
        <p:spPr>
          <a:xfrm>
            <a:off x="5950540" y="4623120"/>
            <a:ext cx="506244" cy="4340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7044834" y="5598764"/>
            <a:ext cx="206659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/>
              <a:t>꽃집 업무 관리 프로그램에</a:t>
            </a:r>
          </a:p>
          <a:p>
            <a:pPr lvl="0">
              <a:defRPr/>
            </a:pPr>
            <a:r>
              <a:rPr lang="ko-KR" altLang="en-US" sz="900"/>
              <a:t>주문내역</a:t>
            </a:r>
            <a:r>
              <a:rPr lang="en-US" altLang="ko-KR" sz="900"/>
              <a:t>(</a:t>
            </a:r>
            <a:r>
              <a:rPr lang="ko-KR" altLang="en-US" sz="900"/>
              <a:t>정형화된주문 텍스트</a:t>
            </a:r>
            <a:r>
              <a:rPr lang="en-US" altLang="ko-KR" sz="900"/>
              <a:t>)</a:t>
            </a:r>
            <a:r>
              <a:rPr lang="ko-KR" altLang="en-US" sz="900"/>
              <a:t> 입력</a:t>
            </a:r>
          </a:p>
        </p:txBody>
      </p:sp>
      <p:cxnSp>
        <p:nvCxnSpPr>
          <p:cNvPr id="126" name="직선 화살표 연결선 125"/>
          <p:cNvCxnSpPr/>
          <p:nvPr/>
        </p:nvCxnSpPr>
        <p:spPr>
          <a:xfrm>
            <a:off x="6678911" y="5579084"/>
            <a:ext cx="598967" cy="5138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2677092" y="2603177"/>
            <a:ext cx="965826" cy="261610"/>
            <a:chOff x="2677092" y="2603177"/>
            <a:chExt cx="965826" cy="261610"/>
          </a:xfrm>
        </p:grpSpPr>
        <p:sp>
          <p:nvSpPr>
            <p:cNvPr id="96" name="TextBox 95"/>
            <p:cNvSpPr txBox="1"/>
            <p:nvPr/>
          </p:nvSpPr>
          <p:spPr>
            <a:xfrm>
              <a:off x="2951718" y="2610872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쇼핑몰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677092" y="2603177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100">
                  <a:latin typeface="맑은 고딕"/>
                  <a:ea typeface="맑은 고딕"/>
                </a:rPr>
                <a:t>①</a:t>
              </a:r>
              <a:endParaRPr lang="ko-KR" altLang="en-US" sz="1100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2677092" y="3207599"/>
            <a:ext cx="965826" cy="261610"/>
            <a:chOff x="2677092" y="3207599"/>
            <a:chExt cx="965826" cy="261610"/>
          </a:xfrm>
        </p:grpSpPr>
        <p:sp>
          <p:nvSpPr>
            <p:cNvPr id="104" name="TextBox 103"/>
            <p:cNvSpPr txBox="1"/>
            <p:nvPr/>
          </p:nvSpPr>
          <p:spPr>
            <a:xfrm>
              <a:off x="2951718" y="3215294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인터라넷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677092" y="3207599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100">
                  <a:latin typeface="맑은 고딕"/>
                  <a:ea typeface="맑은 고딕"/>
                </a:rPr>
                <a:t>②</a:t>
              </a:r>
              <a:endParaRPr lang="ko-KR" altLang="en-US" sz="1100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2677092" y="3817183"/>
            <a:ext cx="965826" cy="261610"/>
            <a:chOff x="2677092" y="3817183"/>
            <a:chExt cx="965826" cy="261610"/>
          </a:xfrm>
        </p:grpSpPr>
        <p:sp>
          <p:nvSpPr>
            <p:cNvPr id="84" name="TextBox 83"/>
            <p:cNvSpPr txBox="1"/>
            <p:nvPr/>
          </p:nvSpPr>
          <p:spPr>
            <a:xfrm>
              <a:off x="2951718" y="3824878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가게전화</a:t>
              </a:r>
              <a:endParaRPr lang="en-US" altLang="ko-KR" sz="1000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2677092" y="3817183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100">
                  <a:latin typeface="맑은 고딕"/>
                  <a:ea typeface="맑은 고딕"/>
                </a:rPr>
                <a:t>③</a:t>
              </a:r>
              <a:endParaRPr lang="ko-KR" altLang="en-US" sz="110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677092" y="4422292"/>
            <a:ext cx="1271656" cy="292098"/>
            <a:chOff x="2677092" y="4422292"/>
            <a:chExt cx="1271656" cy="292098"/>
          </a:xfrm>
        </p:grpSpPr>
        <p:sp>
          <p:nvSpPr>
            <p:cNvPr id="138" name="모서리가 둥근 직사각형 137"/>
            <p:cNvSpPr/>
            <p:nvPr/>
          </p:nvSpPr>
          <p:spPr>
            <a:xfrm>
              <a:off x="3643370" y="4422292"/>
              <a:ext cx="305378" cy="292098"/>
            </a:xfrm>
            <a:prstGeom prst="roundRect">
              <a:avLst>
                <a:gd name="adj" fmla="val 16667"/>
              </a:avLst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b="1">
                  <a:solidFill>
                    <a:srgbClr val="00B0F0"/>
                  </a:solidFill>
                </a:rPr>
                <a:t>앱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2951718" y="4443393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핸드폰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2677092" y="4435698"/>
              <a:ext cx="3257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100">
                  <a:latin typeface="맑은 고딕"/>
                  <a:ea typeface="맑은 고딕"/>
                </a:rPr>
                <a:t>④</a:t>
              </a:r>
              <a:endParaRPr lang="ko-KR" altLang="en-US" sz="1100"/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2677092" y="5356665"/>
            <a:ext cx="965826" cy="261610"/>
            <a:chOff x="2677092" y="5020763"/>
            <a:chExt cx="965826" cy="261610"/>
          </a:xfrm>
        </p:grpSpPr>
        <p:sp>
          <p:nvSpPr>
            <p:cNvPr id="131" name="TextBox 86"/>
            <p:cNvSpPr txBox="1"/>
            <p:nvPr/>
          </p:nvSpPr>
          <p:spPr>
            <a:xfrm>
              <a:off x="2677092" y="5020763"/>
              <a:ext cx="354330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100">
                  <a:latin typeface="맑은 고딕"/>
                  <a:ea typeface="맑은 고딕"/>
                </a:rPr>
                <a:t>⑤</a:t>
              </a:r>
              <a:endParaRPr lang="en-US" altLang="ko-KR" sz="1100">
                <a:latin typeface="맑은 고딕"/>
                <a:ea typeface="맑은 고딕"/>
              </a:endParaRPr>
            </a:p>
          </p:txBody>
        </p:sp>
        <p:sp>
          <p:nvSpPr>
            <p:cNvPr id="133" name="TextBox 44"/>
            <p:cNvSpPr txBox="1"/>
            <p:nvPr/>
          </p:nvSpPr>
          <p:spPr>
            <a:xfrm>
              <a:off x="2951718" y="5028458"/>
              <a:ext cx="691200" cy="24622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가게음성</a:t>
              </a:r>
            </a:p>
          </p:txBody>
        </p:sp>
      </p:grpSp>
      <p:cxnSp>
        <p:nvCxnSpPr>
          <p:cNvPr id="134" name="직선 화살표 연결선 133"/>
          <p:cNvCxnSpPr>
            <a:endCxn id="138" idx="2"/>
          </p:cNvCxnSpPr>
          <p:nvPr/>
        </p:nvCxnSpPr>
        <p:spPr>
          <a:xfrm flipV="1">
            <a:off x="3610947" y="4714390"/>
            <a:ext cx="185112" cy="6507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2705085" y="1863041"/>
            <a:ext cx="6522972" cy="47853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3" name="TextBox 142"/>
          <p:cNvSpPr txBox="1"/>
          <p:nvPr/>
        </p:nvSpPr>
        <p:spPr>
          <a:xfrm>
            <a:off x="4595479" y="1930937"/>
            <a:ext cx="2452916" cy="6771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1400" b="1"/>
              <a:t>B. </a:t>
            </a:r>
            <a:r>
              <a:rPr lang="ko-KR" altLang="en-US" sz="1400" b="1"/>
              <a:t>실시간 주문 수집 및 입력</a:t>
            </a:r>
          </a:p>
          <a:p>
            <a:pPr lvl="0" algn="ctr">
              <a:defRPr/>
            </a:pPr>
            <a:r>
              <a:rPr lang="en-US" altLang="ko-KR" sz="1000"/>
              <a:t>(PC </a:t>
            </a:r>
            <a:r>
              <a:rPr lang="ko-KR" altLang="en-US" sz="1000"/>
              <a:t>백그라운드 서비스</a:t>
            </a:r>
            <a:r>
              <a:rPr lang="en-US" altLang="ko-KR" sz="1000"/>
              <a:t>)</a:t>
            </a:r>
          </a:p>
          <a:p>
            <a:pPr algn="ctr">
              <a:defRPr/>
            </a:pPr>
            <a:r>
              <a:rPr lang="en-US" altLang="ko-KR" sz="1400" b="1"/>
              <a:t>ggotAIorder</a:t>
            </a:r>
            <a:endParaRPr lang="ko-KR" altLang="en-US" sz="1400" b="1"/>
          </a:p>
        </p:txBody>
      </p:sp>
      <p:sp>
        <p:nvSpPr>
          <p:cNvPr id="148" name="직사각형 147"/>
          <p:cNvSpPr/>
          <p:nvPr/>
        </p:nvSpPr>
        <p:spPr>
          <a:xfrm>
            <a:off x="96117" y="1863040"/>
            <a:ext cx="2499886" cy="4785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0" name="TextBox 149"/>
          <p:cNvSpPr txBox="1"/>
          <p:nvPr/>
        </p:nvSpPr>
        <p:spPr>
          <a:xfrm>
            <a:off x="476271" y="1930937"/>
            <a:ext cx="1739579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ko-KR" sz="1400" b="1"/>
              <a:t>A.</a:t>
            </a:r>
            <a:r>
              <a:rPr lang="ko-KR" altLang="en-US" sz="1400" b="1"/>
              <a:t>핸드폰 통화 관리</a:t>
            </a:r>
          </a:p>
          <a:p>
            <a:pPr lvl="0" algn="ctr">
              <a:defRPr/>
            </a:pPr>
            <a:r>
              <a:rPr lang="en-US" altLang="ko-KR" sz="1400" b="1"/>
              <a:t>ggotAIhp</a:t>
            </a:r>
            <a:endParaRPr lang="ko-KR" altLang="en-US" sz="1400" b="1"/>
          </a:p>
        </p:txBody>
      </p:sp>
      <p:grpSp>
        <p:nvGrpSpPr>
          <p:cNvPr id="44" name="그룹 43"/>
          <p:cNvGrpSpPr/>
          <p:nvPr/>
        </p:nvGrpSpPr>
        <p:grpSpPr>
          <a:xfrm>
            <a:off x="1338742" y="761333"/>
            <a:ext cx="9374981" cy="1067950"/>
            <a:chOff x="1338742" y="761333"/>
            <a:chExt cx="9374981" cy="1067950"/>
          </a:xfrm>
        </p:grpSpPr>
        <p:sp>
          <p:nvSpPr>
            <p:cNvPr id="10" name="TextBox 9"/>
            <p:cNvSpPr txBox="1"/>
            <p:nvPr/>
          </p:nvSpPr>
          <p:spPr>
            <a:xfrm>
              <a:off x="5581484" y="761333"/>
              <a:ext cx="2276998" cy="52730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>
              <a:noAutofit/>
            </a:bodyPr>
            <a:lstStyle/>
            <a:p>
              <a:pPr algn="ctr">
                <a:defRPr/>
              </a:pPr>
              <a:r>
                <a:rPr lang="en-US" altLang="ko-KR" sz="2400" b="1"/>
                <a:t>ggotAI</a:t>
              </a:r>
              <a:endParaRPr lang="ko-KR" altLang="en-US" sz="2400" b="1"/>
            </a:p>
          </p:txBody>
        </p:sp>
        <p:grpSp>
          <p:nvGrpSpPr>
            <p:cNvPr id="41" name="그룹 40"/>
            <p:cNvGrpSpPr/>
            <p:nvPr/>
          </p:nvGrpSpPr>
          <p:grpSpPr>
            <a:xfrm>
              <a:off x="7858483" y="1024985"/>
              <a:ext cx="2855240" cy="800858"/>
              <a:chOff x="7858483" y="1024985"/>
              <a:chExt cx="2855240" cy="800858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 flipH="1">
                <a:off x="7858483" y="1024985"/>
                <a:ext cx="2855240" cy="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화살표 연결선 141"/>
              <p:cNvCxnSpPr/>
              <p:nvPr/>
            </p:nvCxnSpPr>
            <p:spPr>
              <a:xfrm>
                <a:off x="10713723" y="1024985"/>
                <a:ext cx="0" cy="80085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그룹 42"/>
            <p:cNvGrpSpPr/>
            <p:nvPr/>
          </p:nvGrpSpPr>
          <p:grpSpPr>
            <a:xfrm>
              <a:off x="1338742" y="1024985"/>
              <a:ext cx="4242743" cy="804298"/>
              <a:chOff x="1338742" y="1024985"/>
              <a:chExt cx="4242743" cy="804298"/>
            </a:xfrm>
          </p:grpSpPr>
          <p:cxnSp>
            <p:nvCxnSpPr>
              <p:cNvPr id="23" name="직선 연결선 22"/>
              <p:cNvCxnSpPr/>
              <p:nvPr/>
            </p:nvCxnSpPr>
            <p:spPr>
              <a:xfrm flipH="1" flipV="1">
                <a:off x="1338742" y="1024987"/>
                <a:ext cx="4242743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화살표 연결선 27"/>
              <p:cNvCxnSpPr/>
              <p:nvPr/>
            </p:nvCxnSpPr>
            <p:spPr>
              <a:xfrm>
                <a:off x="5231471" y="1028425"/>
                <a:ext cx="0" cy="8008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화살표 연결선 150"/>
              <p:cNvCxnSpPr/>
              <p:nvPr/>
            </p:nvCxnSpPr>
            <p:spPr>
              <a:xfrm>
                <a:off x="1338743" y="1024985"/>
                <a:ext cx="0" cy="8008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TextBox 3"/>
          <p:cNvSpPr txBox="1"/>
          <p:nvPr/>
        </p:nvSpPr>
        <p:spPr>
          <a:xfrm>
            <a:off x="481016" y="2853268"/>
            <a:ext cx="1730025" cy="8002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/>
              <a:t>안드로이드 앱</a:t>
            </a:r>
          </a:p>
          <a:p>
            <a:pPr algn="ctr">
              <a:defRPr/>
            </a:pPr>
            <a:r>
              <a:rPr lang="en-US" altLang="ko-KR"/>
              <a:t>(ggotAIhp)</a:t>
            </a:r>
          </a:p>
          <a:p>
            <a:pPr algn="ctr">
              <a:defRPr/>
            </a:pPr>
            <a:r>
              <a:rPr lang="ko-KR" altLang="en-US" sz="1000"/>
              <a:t>핸드폰</a:t>
            </a:r>
            <a:r>
              <a:rPr lang="en-US" altLang="ko-KR" sz="1000"/>
              <a:t> </a:t>
            </a:r>
            <a:r>
              <a:rPr lang="ko-KR" altLang="en-US" sz="1000"/>
              <a:t>통화내역 서버 전송</a:t>
            </a:r>
            <a:endParaRPr lang="en-US" altLang="ko-KR" sz="1000"/>
          </a:p>
        </p:txBody>
      </p:sp>
      <p:sp>
        <p:nvSpPr>
          <p:cNvPr id="77" name="TextBox 76"/>
          <p:cNvSpPr txBox="1"/>
          <p:nvPr/>
        </p:nvSpPr>
        <p:spPr>
          <a:xfrm rot="741081">
            <a:off x="3709439" y="2654037"/>
            <a:ext cx="118814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80" name="TextBox 79"/>
          <p:cNvSpPr txBox="1"/>
          <p:nvPr/>
        </p:nvSpPr>
        <p:spPr>
          <a:xfrm rot="388627">
            <a:off x="3756092" y="3195211"/>
            <a:ext cx="118814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81" name="TextBox 80"/>
          <p:cNvSpPr txBox="1"/>
          <p:nvPr/>
        </p:nvSpPr>
        <p:spPr>
          <a:xfrm rot="2933355">
            <a:off x="3857909" y="4858825"/>
            <a:ext cx="1072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4641743" y="5593086"/>
            <a:ext cx="646641" cy="554108"/>
            <a:chOff x="4679065" y="5742375"/>
            <a:chExt cx="646641" cy="554108"/>
          </a:xfrm>
        </p:grpSpPr>
        <p:sp>
          <p:nvSpPr>
            <p:cNvPr id="83" name="순서도: 자기 디스크 82"/>
            <p:cNvSpPr/>
            <p:nvPr/>
          </p:nvSpPr>
          <p:spPr>
            <a:xfrm>
              <a:off x="4679065" y="5742375"/>
              <a:ext cx="646641" cy="547839"/>
            </a:xfrm>
            <a:prstGeom prst="flowChartMagneticDisk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766725" y="6050262"/>
              <a:ext cx="441146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ko-KR" altLang="en-US" sz="1000"/>
                <a:t>서버</a:t>
              </a:r>
              <a:endParaRPr lang="en-US" altLang="ko-KR" sz="1000"/>
            </a:p>
          </p:txBody>
        </p:sp>
      </p:grpSp>
      <p:cxnSp>
        <p:nvCxnSpPr>
          <p:cNvPr id="26" name="직선 화살표 연결선 25"/>
          <p:cNvCxnSpPr>
            <a:stCxn id="83" idx="1"/>
          </p:cNvCxnSpPr>
          <p:nvPr/>
        </p:nvCxnSpPr>
        <p:spPr>
          <a:xfrm flipV="1">
            <a:off x="4965064" y="4609322"/>
            <a:ext cx="437360" cy="983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4753648" y="4886816"/>
            <a:ext cx="1072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sp>
        <p:nvSpPr>
          <p:cNvPr id="33" name="자유형 32"/>
          <p:cNvSpPr/>
          <p:nvPr/>
        </p:nvSpPr>
        <p:spPr>
          <a:xfrm>
            <a:off x="2090057" y="3125755"/>
            <a:ext cx="1660849" cy="1315617"/>
          </a:xfrm>
          <a:custGeom>
            <a:avLst/>
            <a:gdLst>
              <a:gd name="connsiteX0" fmla="*/ 0 w 1593270"/>
              <a:gd name="connsiteY0" fmla="*/ 0 h 1180207"/>
              <a:gd name="connsiteX1" fmla="*/ 251927 w 1593270"/>
              <a:gd name="connsiteY1" fmla="*/ 765110 h 1180207"/>
              <a:gd name="connsiteX2" fmla="*/ 690466 w 1593270"/>
              <a:gd name="connsiteY2" fmla="*/ 951722 h 1180207"/>
              <a:gd name="connsiteX3" fmla="*/ 1296955 w 1593270"/>
              <a:gd name="connsiteY3" fmla="*/ 998375 h 1180207"/>
              <a:gd name="connsiteX4" fmla="*/ 1586204 w 1593270"/>
              <a:gd name="connsiteY4" fmla="*/ 1175657 h 1180207"/>
              <a:gd name="connsiteX5" fmla="*/ 1576874 w 1593270"/>
              <a:gd name="connsiteY5" fmla="*/ 1138335 h 1180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93270" h="1180207">
                <a:moveTo>
                  <a:pt x="0" y="0"/>
                </a:moveTo>
                <a:cubicBezTo>
                  <a:pt x="68424" y="303245"/>
                  <a:pt x="136849" y="606490"/>
                  <a:pt x="251927" y="765110"/>
                </a:cubicBezTo>
                <a:cubicBezTo>
                  <a:pt x="367005" y="923730"/>
                  <a:pt x="516295" y="912845"/>
                  <a:pt x="690466" y="951722"/>
                </a:cubicBezTo>
                <a:cubicBezTo>
                  <a:pt x="864637" y="990599"/>
                  <a:pt x="1147665" y="961053"/>
                  <a:pt x="1296955" y="998375"/>
                </a:cubicBezTo>
                <a:cubicBezTo>
                  <a:pt x="1446245" y="1035697"/>
                  <a:pt x="1586204" y="1175657"/>
                  <a:pt x="1586204" y="1175657"/>
                </a:cubicBezTo>
                <a:cubicBezTo>
                  <a:pt x="1632857" y="1198984"/>
                  <a:pt x="1427584" y="1124339"/>
                  <a:pt x="1576874" y="1138335"/>
                </a:cubicBezTo>
              </a:path>
            </a:pathLst>
          </a:custGeom>
          <a:noFill/>
          <a:ln>
            <a:solidFill>
              <a:srgbClr val="FF0000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74" name="그룹 73"/>
          <p:cNvGrpSpPr/>
          <p:nvPr/>
        </p:nvGrpSpPr>
        <p:grpSpPr>
          <a:xfrm>
            <a:off x="9335664" y="1879975"/>
            <a:ext cx="2743142" cy="2522692"/>
            <a:chOff x="7750695" y="1863042"/>
            <a:chExt cx="2743142" cy="2522692"/>
          </a:xfrm>
        </p:grpSpPr>
        <p:sp>
          <p:nvSpPr>
            <p:cNvPr id="75" name="직사각형 74"/>
            <p:cNvSpPr/>
            <p:nvPr/>
          </p:nvSpPr>
          <p:spPr>
            <a:xfrm>
              <a:off x="7750695" y="1863042"/>
              <a:ext cx="2743142" cy="252269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465058" y="2785062"/>
              <a:ext cx="1370888" cy="92333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/>
                <a:t>①회원가입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ko-KR" altLang="en-US" sz="1200"/>
                <a:t>②주문 내역 조회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ko-KR" altLang="en-US" sz="1200"/>
                <a:t>③환경설정</a:t>
              </a:r>
              <a:endParaRPr lang="en-US" altLang="ko-KR" sz="120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837705" y="1930937"/>
              <a:ext cx="2586446" cy="64843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1400" b="1"/>
                <a:t>C.</a:t>
              </a:r>
              <a:r>
                <a:rPr lang="ko-KR" altLang="en-US" sz="1400" b="1"/>
                <a:t> 관리용 </a:t>
              </a:r>
              <a:r>
                <a:rPr lang="en-US" altLang="ko-KR" sz="1400" b="1"/>
                <a:t>UI </a:t>
              </a:r>
              <a:r>
                <a:rPr lang="ko-KR" altLang="en-US" sz="1400" b="1"/>
                <a:t>애플리케이션</a:t>
              </a:r>
            </a:p>
            <a:p>
              <a:pPr lvl="0" algn="ctr">
                <a:defRPr/>
              </a:pPr>
              <a:r>
                <a:rPr lang="en-US" altLang="ko-KR" sz="900"/>
                <a:t>(PC </a:t>
              </a:r>
              <a:r>
                <a:rPr lang="ko-KR" altLang="en-US" sz="900"/>
                <a:t>포그라운드 액티비티</a:t>
              </a:r>
              <a:r>
                <a:rPr lang="en-US" altLang="ko-KR" sz="900"/>
                <a:t>)</a:t>
              </a:r>
            </a:p>
            <a:p>
              <a:pPr lvl="0" algn="ctr">
                <a:defRPr/>
              </a:pPr>
              <a:r>
                <a:rPr lang="en-US" altLang="ko-KR" sz="1400" b="1"/>
                <a:t>ggotAIya</a:t>
              </a: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9342543" y="5719251"/>
            <a:ext cx="271060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050" b="1" dirty="0"/>
              <a:t>RPA</a:t>
            </a:r>
            <a:r>
              <a:rPr lang="en-US" altLang="ko-KR" sz="1050" dirty="0"/>
              <a:t>(Robotic Process Automation)</a:t>
            </a:r>
          </a:p>
          <a:p>
            <a:pPr>
              <a:defRPr/>
            </a:pPr>
            <a:r>
              <a:rPr lang="en-US" altLang="ko-KR" sz="900" b="1" dirty="0"/>
              <a:t>RPA</a:t>
            </a:r>
            <a:r>
              <a:rPr lang="ko-KR" altLang="en-US" sz="900" dirty="0"/>
              <a:t>는 </a:t>
            </a:r>
            <a:r>
              <a:rPr lang="ko-KR" altLang="en-US" sz="900" u="sng" dirty="0"/>
              <a:t>사람이 컴퓨터로 처리하는 반복적이고 규칙적인 업무</a:t>
            </a:r>
            <a:r>
              <a:rPr lang="ko-KR" altLang="en-US" sz="900" dirty="0"/>
              <a:t>를 </a:t>
            </a:r>
            <a:r>
              <a:rPr lang="ko-KR" altLang="en-US" sz="900" u="sng" dirty="0" smtClean="0"/>
              <a:t>소프트웨어 </a:t>
            </a:r>
            <a:r>
              <a:rPr lang="ko-KR" altLang="en-US" sz="900" u="sng" dirty="0"/>
              <a:t>로봇이 대신 수행하는 기술</a:t>
            </a:r>
            <a:r>
              <a:rPr lang="en-US" altLang="ko-KR" sz="900" u="sng" dirty="0"/>
              <a:t> </a:t>
            </a:r>
            <a:r>
              <a:rPr lang="ko-KR" altLang="en-US" sz="900" u="sng" dirty="0"/>
              <a:t>입니다</a:t>
            </a:r>
            <a:r>
              <a:rPr lang="en-US" altLang="ko-KR" sz="900" u="sng" dirty="0"/>
              <a:t>.</a:t>
            </a:r>
            <a:endParaRPr lang="ko-KR" altLang="en-US" sz="900" dirty="0"/>
          </a:p>
        </p:txBody>
      </p:sp>
      <p:sp>
        <p:nvSpPr>
          <p:cNvPr id="88" name="TextBox 87"/>
          <p:cNvSpPr txBox="1"/>
          <p:nvPr/>
        </p:nvSpPr>
        <p:spPr>
          <a:xfrm>
            <a:off x="9342543" y="4541808"/>
            <a:ext cx="2710603" cy="5309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050" b="1" dirty="0"/>
              <a:t>Whisper</a:t>
            </a:r>
          </a:p>
          <a:p>
            <a:pPr>
              <a:defRPr/>
            </a:pPr>
            <a:r>
              <a:rPr lang="en-US" altLang="ko-KR" sz="900" b="1" dirty="0"/>
              <a:t>Whisper</a:t>
            </a:r>
            <a:r>
              <a:rPr lang="ko-KR" altLang="en-US" sz="900" dirty="0"/>
              <a:t>는 </a:t>
            </a:r>
            <a:r>
              <a:rPr lang="ko-KR" altLang="en-US" sz="900" u="sng" dirty="0"/>
              <a:t>음성을 텍스트 변환</a:t>
            </a:r>
            <a:r>
              <a:rPr lang="en-US" altLang="ko-KR" sz="900" u="sng" dirty="0"/>
              <a:t>(STT)</a:t>
            </a:r>
            <a:r>
              <a:rPr lang="ko-KR" altLang="en-US" sz="900" u="sng" dirty="0"/>
              <a:t>하는</a:t>
            </a:r>
            <a:r>
              <a:rPr lang="en-US" altLang="ko-KR" sz="900" u="sng" dirty="0"/>
              <a:t> </a:t>
            </a:r>
            <a:r>
              <a:rPr lang="ko-KR" altLang="en-US" sz="900" u="sng" dirty="0"/>
              <a:t>서비스 입니다</a:t>
            </a:r>
            <a:r>
              <a:rPr lang="en-US" altLang="ko-KR" sz="900" u="sng" dirty="0"/>
              <a:t>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42543" y="6434931"/>
            <a:ext cx="2728019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800"/>
              <a:t>인터라넷 사용 고객은 </a:t>
            </a:r>
            <a:r>
              <a:rPr lang="en-US" altLang="ko-KR" sz="800"/>
              <a:t>‘</a:t>
            </a:r>
            <a:r>
              <a:rPr lang="ko-KR" altLang="en-US" sz="800"/>
              <a:t>타지역 꽃집</a:t>
            </a:r>
            <a:r>
              <a:rPr lang="en-US" altLang="ko-KR" sz="800"/>
              <a:t>’ </a:t>
            </a:r>
            <a:r>
              <a:rPr lang="ko-KR" altLang="en-US" sz="800"/>
              <a:t>입니다</a:t>
            </a:r>
            <a:r>
              <a:rPr lang="en-US" altLang="ko-KR" sz="800"/>
              <a:t>.</a:t>
            </a:r>
            <a:endParaRPr lang="ko-KR" altLang="en-US" sz="400"/>
          </a:p>
        </p:txBody>
      </p:sp>
      <p:sp>
        <p:nvSpPr>
          <p:cNvPr id="82" name="TextBox 81"/>
          <p:cNvSpPr txBox="1"/>
          <p:nvPr/>
        </p:nvSpPr>
        <p:spPr>
          <a:xfrm>
            <a:off x="9342543" y="5118988"/>
            <a:ext cx="2705524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200" b="1" dirty="0" smtClean="0"/>
              <a:t>Gemini</a:t>
            </a:r>
            <a:endParaRPr lang="en-US" altLang="ko-KR" sz="800" dirty="0"/>
          </a:p>
          <a:p>
            <a:pPr>
              <a:defRPr/>
            </a:pPr>
            <a:r>
              <a:rPr lang="en-US" altLang="ko-KR" sz="900" dirty="0" smtClean="0">
                <a:latin typeface="맑은 고딕"/>
              </a:rPr>
              <a:t>Gemini</a:t>
            </a:r>
            <a:r>
              <a:rPr lang="ko-KR" altLang="en-US" sz="900" dirty="0" smtClean="0">
                <a:latin typeface="맑은 고딕"/>
              </a:rPr>
              <a:t>는 </a:t>
            </a:r>
            <a:r>
              <a:rPr lang="ko-KR" altLang="en-US" sz="900" dirty="0">
                <a:latin typeface="맑은 고딕"/>
              </a:rPr>
              <a:t>꽃가게 비정형 </a:t>
            </a:r>
            <a:r>
              <a:rPr lang="ko-KR" altLang="en-US" sz="900" dirty="0" err="1">
                <a:latin typeface="맑은 고딕"/>
              </a:rPr>
              <a:t>음성주문</a:t>
            </a:r>
            <a:r>
              <a:rPr lang="ko-KR" altLang="en-US" sz="900" dirty="0">
                <a:latin typeface="맑은 고딕"/>
              </a:rPr>
              <a:t> 데이터를 </a:t>
            </a:r>
          </a:p>
          <a:p>
            <a:pPr>
              <a:defRPr/>
            </a:pPr>
            <a:r>
              <a:rPr lang="ko-KR" altLang="en-US" sz="900" dirty="0">
                <a:latin typeface="맑은 고딕"/>
              </a:rPr>
              <a:t>표준화된 데이터로 </a:t>
            </a:r>
            <a:r>
              <a:rPr lang="ko-KR" altLang="en-US" sz="900" dirty="0" smtClean="0">
                <a:latin typeface="맑은 고딕"/>
              </a:rPr>
              <a:t>변환해줍니다</a:t>
            </a:r>
            <a:r>
              <a:rPr lang="en-US" altLang="ko-KR" sz="900" dirty="0" smtClean="0">
                <a:latin typeface="맑은 고딕"/>
              </a:rPr>
              <a:t>.</a:t>
            </a:r>
            <a:endParaRPr lang="ko-KR" altLang="en-US" sz="900" dirty="0"/>
          </a:p>
        </p:txBody>
      </p:sp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210269" y="5198599"/>
            <a:ext cx="749332" cy="271235"/>
          </a:xfrm>
          <a:prstGeom prst="rect">
            <a:avLst/>
          </a:prstGeom>
        </p:spPr>
      </p:pic>
      <p:pic>
        <p:nvPicPr>
          <p:cNvPr id="90" name="그림 8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285330" y="6150568"/>
            <a:ext cx="749538" cy="44535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152400" y="133350"/>
            <a:ext cx="36215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2. ggotAI(</a:t>
            </a:r>
            <a:r>
              <a:rPr lang="ko-KR" altLang="en-US" b="1"/>
              <a:t>꽃아이</a:t>
            </a:r>
            <a:r>
              <a:rPr lang="en-US" altLang="ko-KR" b="1"/>
              <a:t>) </a:t>
            </a:r>
            <a:r>
              <a:rPr lang="ko-KR" altLang="en-US" b="1"/>
              <a:t>시스템 구성도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184150" y="733425"/>
            <a:ext cx="11906250" cy="6124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순서도: 문서 9"/>
          <p:cNvSpPr/>
          <p:nvPr/>
        </p:nvSpPr>
        <p:spPr>
          <a:xfrm>
            <a:off x="4375149" y="1790284"/>
            <a:ext cx="866775" cy="1110448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</a:rPr>
              <a:t>웹</a:t>
            </a:r>
            <a:r>
              <a:rPr lang="en-US" altLang="ko-KR" sz="1400">
                <a:solidFill>
                  <a:schemeClr val="tx1"/>
                </a:solidFill>
              </a:rPr>
              <a:t>1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67" name="순서도: 문서 66"/>
          <p:cNvSpPr/>
          <p:nvPr/>
        </p:nvSpPr>
        <p:spPr>
          <a:xfrm>
            <a:off x="1612900" y="1979517"/>
            <a:ext cx="866775" cy="51274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</a:rPr>
              <a:t>앱</a:t>
            </a:r>
          </a:p>
        </p:txBody>
      </p:sp>
      <p:sp>
        <p:nvSpPr>
          <p:cNvPr id="12" name="순서도: 자기 디스크 11"/>
          <p:cNvSpPr/>
          <p:nvPr/>
        </p:nvSpPr>
        <p:spPr>
          <a:xfrm>
            <a:off x="1140982" y="3254368"/>
            <a:ext cx="691513" cy="446817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00">
                <a:solidFill>
                  <a:schemeClr val="dk1"/>
                </a:solidFill>
              </a:rPr>
              <a:t>DataBase</a:t>
            </a:r>
          </a:p>
        </p:txBody>
      </p:sp>
      <p:sp>
        <p:nvSpPr>
          <p:cNvPr id="68" name="순서도: 자기 디스크 67"/>
          <p:cNvSpPr/>
          <p:nvPr/>
        </p:nvSpPr>
        <p:spPr>
          <a:xfrm>
            <a:off x="5769554" y="5239126"/>
            <a:ext cx="825979" cy="484341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>
                <a:solidFill>
                  <a:schemeClr val="tx1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2" y="806694"/>
            <a:ext cx="150554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/>
              <a:t>A.</a:t>
            </a:r>
            <a:r>
              <a:rPr lang="ko-KR" altLang="en-US" sz="1200"/>
              <a:t>핸드폰 통화 관리</a:t>
            </a:r>
          </a:p>
          <a:p>
            <a:pPr algn="ctr">
              <a:defRPr/>
            </a:pPr>
            <a:r>
              <a:rPr lang="en-US" altLang="ko-KR" sz="1200" b="1"/>
              <a:t>ggotAIhp</a:t>
            </a:r>
            <a:endParaRPr lang="ko-KR" altLang="en-US" sz="1200" b="1"/>
          </a:p>
        </p:txBody>
      </p:sp>
      <p:sp>
        <p:nvSpPr>
          <p:cNvPr id="69" name="TextBox 68"/>
          <p:cNvSpPr txBox="1"/>
          <p:nvPr/>
        </p:nvSpPr>
        <p:spPr>
          <a:xfrm>
            <a:off x="3866091" y="806694"/>
            <a:ext cx="368402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/>
              <a:t>B.</a:t>
            </a:r>
            <a:r>
              <a:rPr lang="ko-KR" altLang="en-US" sz="1200"/>
              <a:t>실시간 주문 수집 및 입력</a:t>
            </a:r>
            <a:r>
              <a:rPr lang="en-US" altLang="ko-KR" sz="1200"/>
              <a:t>(PC </a:t>
            </a:r>
            <a:r>
              <a:rPr lang="ko-KR" altLang="en-US" sz="1200"/>
              <a:t>백그라운드 서비스</a:t>
            </a:r>
            <a:r>
              <a:rPr lang="en-US" altLang="ko-KR" sz="1200"/>
              <a:t>)</a:t>
            </a:r>
          </a:p>
          <a:p>
            <a:pPr lvl="0" algn="ctr">
              <a:defRPr/>
            </a:pPr>
            <a:r>
              <a:rPr lang="en-US" altLang="ko-KR" sz="1200" b="1"/>
              <a:t>ggotAIorder</a:t>
            </a:r>
            <a:endParaRPr lang="ko-KR" altLang="en-US" sz="1200"/>
          </a:p>
        </p:txBody>
      </p:sp>
      <p:sp>
        <p:nvSpPr>
          <p:cNvPr id="14" name="TextBox 13"/>
          <p:cNvSpPr txBox="1"/>
          <p:nvPr/>
        </p:nvSpPr>
        <p:spPr>
          <a:xfrm>
            <a:off x="4927170" y="5542781"/>
            <a:ext cx="4924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/>
              <a:t>서버</a:t>
            </a:r>
            <a:endParaRPr lang="en-US" altLang="ko-KR" sz="1200"/>
          </a:p>
        </p:txBody>
      </p:sp>
      <p:sp>
        <p:nvSpPr>
          <p:cNvPr id="79" name="순서도: 자기 디스크 78"/>
          <p:cNvSpPr/>
          <p:nvPr/>
        </p:nvSpPr>
        <p:spPr>
          <a:xfrm>
            <a:off x="7276308" y="3886472"/>
            <a:ext cx="838200" cy="619125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4" name="순서도: 문서 83"/>
          <p:cNvSpPr/>
          <p:nvPr/>
        </p:nvSpPr>
        <p:spPr>
          <a:xfrm>
            <a:off x="7242175" y="1579466"/>
            <a:ext cx="866775" cy="51120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solidFill>
                  <a:srgbClr val="FF0000"/>
                </a:solidFill>
              </a:rPr>
              <a:t>Whisper</a:t>
            </a:r>
          </a:p>
        </p:txBody>
      </p:sp>
      <p:sp>
        <p:nvSpPr>
          <p:cNvPr id="93" name="순서도: 문서 92"/>
          <p:cNvSpPr/>
          <p:nvPr/>
        </p:nvSpPr>
        <p:spPr>
          <a:xfrm>
            <a:off x="7242175" y="2217642"/>
            <a:ext cx="866775" cy="51274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solidFill>
                  <a:schemeClr val="tx1"/>
                </a:solidFill>
              </a:rPr>
              <a:t>Gemini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52017" y="4545975"/>
            <a:ext cx="8867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200"/>
              <a:t>PC </a:t>
            </a:r>
            <a:r>
              <a:rPr lang="ko-KR" altLang="en-US" sz="1200"/>
              <a:t>디스크</a:t>
            </a:r>
            <a:endParaRPr lang="en-US" altLang="ko-KR" sz="1200"/>
          </a:p>
        </p:txBody>
      </p:sp>
      <p:sp>
        <p:nvSpPr>
          <p:cNvPr id="104" name="순서도: 문서 103"/>
          <p:cNvSpPr/>
          <p:nvPr/>
        </p:nvSpPr>
        <p:spPr>
          <a:xfrm>
            <a:off x="5867927" y="3243446"/>
            <a:ext cx="866775" cy="512740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400">
                <a:solidFill>
                  <a:schemeClr val="tx1"/>
                </a:solidFill>
              </a:rPr>
              <a:t>RPA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9627" y="2004043"/>
            <a:ext cx="69762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00"/>
              <a:t>스마트폰</a:t>
            </a:r>
          </a:p>
          <a:p>
            <a:pPr algn="ctr">
              <a:defRPr/>
            </a:pPr>
            <a:r>
              <a:rPr lang="ko-KR" altLang="en-US" sz="1000"/>
              <a:t>전화주문</a:t>
            </a:r>
          </a:p>
        </p:txBody>
      </p:sp>
      <p:cxnSp>
        <p:nvCxnSpPr>
          <p:cNvPr id="4" name="직선 화살표 연결선 3"/>
          <p:cNvCxnSpPr>
            <a:stCxn id="2" idx="3"/>
          </p:cNvCxnSpPr>
          <p:nvPr/>
        </p:nvCxnSpPr>
        <p:spPr>
          <a:xfrm>
            <a:off x="1187254" y="2204098"/>
            <a:ext cx="4256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2955925" y="965200"/>
            <a:ext cx="0" cy="39861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101668" y="2084784"/>
            <a:ext cx="900000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ctr">
              <a:defRPr/>
            </a:pPr>
            <a:r>
              <a:rPr lang="ko-KR" altLang="en-US" sz="1000"/>
              <a:t>쇼핑몰 주문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1668" y="1743312"/>
            <a:ext cx="900000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ctr">
              <a:defRPr/>
            </a:pPr>
            <a:r>
              <a:rPr lang="ko-KR" altLang="en-US" sz="1000"/>
              <a:t>가게 전화주문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1668" y="2422035"/>
            <a:ext cx="900000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noAutofit/>
          </a:bodyPr>
          <a:lstStyle/>
          <a:p>
            <a:pPr algn="ctr">
              <a:defRPr/>
            </a:pPr>
            <a:r>
              <a:rPr lang="ko-KR" altLang="en-US" sz="1000"/>
              <a:t>인터라넷 주문</a:t>
            </a:r>
          </a:p>
        </p:txBody>
      </p:sp>
      <p:cxnSp>
        <p:nvCxnSpPr>
          <p:cNvPr id="29" name="직선 화살표 연결선 28"/>
          <p:cNvCxnSpPr>
            <a:stCxn id="57" idx="3"/>
          </p:cNvCxnSpPr>
          <p:nvPr/>
        </p:nvCxnSpPr>
        <p:spPr>
          <a:xfrm>
            <a:off x="4001668" y="1866423"/>
            <a:ext cx="383007" cy="245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56" idx="3"/>
          </p:cNvCxnSpPr>
          <p:nvPr/>
        </p:nvCxnSpPr>
        <p:spPr>
          <a:xfrm>
            <a:off x="4001668" y="2207895"/>
            <a:ext cx="373481" cy="270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58" idx="3"/>
          </p:cNvCxnSpPr>
          <p:nvPr/>
        </p:nvCxnSpPr>
        <p:spPr>
          <a:xfrm flipV="1">
            <a:off x="4001668" y="2371004"/>
            <a:ext cx="383007" cy="1741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>
            <a:off x="5280024" y="1799034"/>
            <a:ext cx="19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 flipH="1">
            <a:off x="5280024" y="2037629"/>
            <a:ext cx="19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/>
          <p:nvPr/>
        </p:nvCxnSpPr>
        <p:spPr>
          <a:xfrm>
            <a:off x="5280024" y="2400048"/>
            <a:ext cx="19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 flipH="1">
            <a:off x="5280024" y="2676743"/>
            <a:ext cx="1908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 rot="5400000">
            <a:off x="1308076" y="2728740"/>
            <a:ext cx="781355" cy="2319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/>
          <p:nvPr/>
        </p:nvCxnSpPr>
        <p:spPr>
          <a:xfrm rot="5400000">
            <a:off x="1453990" y="2753095"/>
            <a:ext cx="771410" cy="17245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 rot="19101958">
            <a:off x="440834" y="2556536"/>
            <a:ext cx="11154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/>
              <a:t>1.</a:t>
            </a:r>
            <a:r>
              <a:rPr lang="ko-KR" altLang="en-US" sz="800"/>
              <a:t>핸드폰 통화내용</a:t>
            </a:r>
          </a:p>
          <a:p>
            <a:pPr>
              <a:defRPr/>
            </a:pPr>
            <a:r>
              <a:rPr lang="en-US" altLang="ko-KR" sz="800"/>
              <a:t>2.</a:t>
            </a:r>
            <a:r>
              <a:rPr lang="ko-KR" altLang="en-US" sz="800"/>
              <a:t>가게 주문 음성</a:t>
            </a:r>
          </a:p>
        </p:txBody>
      </p:sp>
      <p:cxnSp>
        <p:nvCxnSpPr>
          <p:cNvPr id="64" name="직선 화살표 연결선 63"/>
          <p:cNvCxnSpPr>
            <a:stCxn id="67" idx="2"/>
          </p:cNvCxnSpPr>
          <p:nvPr/>
        </p:nvCxnSpPr>
        <p:spPr>
          <a:xfrm rot="16200000" flipH="1">
            <a:off x="1683229" y="2821418"/>
            <a:ext cx="2683216" cy="1957097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 rot="17279432">
            <a:off x="1246532" y="2770372"/>
            <a:ext cx="678872" cy="22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/>
              <a:t>히스토리</a:t>
            </a:r>
            <a:endParaRPr lang="en-US" altLang="ko-KR" sz="800"/>
          </a:p>
        </p:txBody>
      </p:sp>
      <p:cxnSp>
        <p:nvCxnSpPr>
          <p:cNvPr id="75" name="직선 화살표 연결선 74"/>
          <p:cNvCxnSpPr/>
          <p:nvPr/>
        </p:nvCxnSpPr>
        <p:spPr>
          <a:xfrm>
            <a:off x="5089259" y="2712857"/>
            <a:ext cx="718874" cy="424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>
            <a:endCxn id="79" idx="2"/>
          </p:cNvCxnSpPr>
          <p:nvPr/>
        </p:nvCxnSpPr>
        <p:spPr>
          <a:xfrm>
            <a:off x="6385984" y="3688422"/>
            <a:ext cx="890324" cy="5076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5221229" y="2946709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실행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05708" y="1577604"/>
            <a:ext cx="107273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음성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848000" y="1838503"/>
            <a:ext cx="11881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48000" y="2188265"/>
            <a:ext cx="11881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900"/>
              <a:t>비정형 주문 텍스트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83236" y="2453889"/>
            <a:ext cx="13176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900"/>
              <a:t>정형화된 주문 텍스트</a:t>
            </a: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3057911" y="1619057"/>
            <a:ext cx="1031491" cy="1164166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3411200" y="1396134"/>
            <a:ext cx="341015" cy="2402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5753485" y="1477769"/>
            <a:ext cx="2429115" cy="640291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8" name="모서리가 둥근 직사각형 107"/>
          <p:cNvSpPr/>
          <p:nvPr/>
        </p:nvSpPr>
        <p:spPr>
          <a:xfrm>
            <a:off x="5753485" y="2195319"/>
            <a:ext cx="2429115" cy="568854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6586200" y="1253259"/>
            <a:ext cx="337840" cy="2402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83025" y="2731221"/>
            <a:ext cx="341015" cy="2402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5757187" y="3145366"/>
            <a:ext cx="1079741" cy="668867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6115771" y="2930505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  <a:ea typeface="맑은 고딕"/>
              </a:rPr>
              <a:t>⑤</a:t>
            </a:r>
            <a:endParaRPr lang="ko-KR" altLang="en-US" sz="1000">
              <a:solidFill>
                <a:srgbClr val="FF0000"/>
              </a:solidFill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3374930" y="5029201"/>
            <a:ext cx="3502120" cy="752474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4300197" y="4954429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①</a:t>
            </a:r>
          </a:p>
        </p:txBody>
      </p:sp>
      <p:cxnSp>
        <p:nvCxnSpPr>
          <p:cNvPr id="74" name="직선 연결선 73"/>
          <p:cNvCxnSpPr/>
          <p:nvPr/>
        </p:nvCxnSpPr>
        <p:spPr>
          <a:xfrm>
            <a:off x="8442325" y="965200"/>
            <a:ext cx="0" cy="39861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8539691" y="814388"/>
            <a:ext cx="3389842" cy="4308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100"/>
              <a:t>C.</a:t>
            </a:r>
            <a:r>
              <a:rPr lang="ko-KR" altLang="en-US" sz="1100"/>
              <a:t>관리용 </a:t>
            </a:r>
            <a:r>
              <a:rPr lang="en-US" altLang="ko-KR" sz="1100"/>
              <a:t>UI </a:t>
            </a:r>
            <a:r>
              <a:rPr lang="ko-KR" altLang="en-US" sz="1100"/>
              <a:t>애플리케이션</a:t>
            </a:r>
            <a:r>
              <a:rPr lang="en-US" altLang="ko-KR" sz="1100"/>
              <a:t>(PC </a:t>
            </a:r>
            <a:r>
              <a:rPr lang="ko-KR" altLang="en-US" sz="1100"/>
              <a:t>포그라운드 액티비티</a:t>
            </a:r>
            <a:r>
              <a:rPr lang="en-US" altLang="ko-KR" sz="1100"/>
              <a:t>)</a:t>
            </a:r>
          </a:p>
          <a:p>
            <a:pPr lvl="0" algn="ctr">
              <a:defRPr/>
            </a:pPr>
            <a:r>
              <a:rPr lang="en-US" altLang="ko-KR" sz="1100" b="1"/>
              <a:t>ggotAIya</a:t>
            </a:r>
          </a:p>
        </p:txBody>
      </p:sp>
      <p:sp>
        <p:nvSpPr>
          <p:cNvPr id="87" name="순서도: 문서 86"/>
          <p:cNvSpPr/>
          <p:nvPr/>
        </p:nvSpPr>
        <p:spPr>
          <a:xfrm>
            <a:off x="9988549" y="1637884"/>
            <a:ext cx="866775" cy="1110448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>
                <a:solidFill>
                  <a:schemeClr val="tx1"/>
                </a:solidFill>
              </a:rPr>
              <a:t>웹</a:t>
            </a:r>
            <a:r>
              <a:rPr lang="en-US" altLang="ko-KR" sz="1400">
                <a:solidFill>
                  <a:schemeClr val="tx1"/>
                </a:solidFill>
              </a:rPr>
              <a:t>2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 rot="17763278">
            <a:off x="8666178" y="3790605"/>
            <a:ext cx="67358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800"/>
              <a:t>1.</a:t>
            </a:r>
            <a:r>
              <a:rPr lang="ko-KR" altLang="en-US" sz="800"/>
              <a:t>주문내역</a:t>
            </a:r>
          </a:p>
          <a:p>
            <a:pPr algn="ctr">
              <a:defRPr/>
            </a:pPr>
            <a:r>
              <a:rPr lang="en-US" altLang="ko-KR" sz="800"/>
              <a:t>2.</a:t>
            </a:r>
            <a:r>
              <a:rPr lang="ko-KR" altLang="en-US" sz="800"/>
              <a:t>회원정보</a:t>
            </a:r>
          </a:p>
          <a:p>
            <a:pPr algn="ctr">
              <a:defRPr/>
            </a:pPr>
            <a:r>
              <a:rPr lang="en-US" altLang="ko-KR" sz="800"/>
              <a:t>3.</a:t>
            </a:r>
            <a:r>
              <a:rPr lang="ko-KR" altLang="en-US" sz="800"/>
              <a:t>환경정보</a:t>
            </a:r>
          </a:p>
        </p:txBody>
      </p:sp>
      <p:sp>
        <p:nvSpPr>
          <p:cNvPr id="88" name="TextBox 87"/>
          <p:cNvSpPr txBox="1"/>
          <p:nvPr/>
        </p:nvSpPr>
        <p:spPr>
          <a:xfrm rot="18252696">
            <a:off x="6440351" y="3882952"/>
            <a:ext cx="118173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800"/>
              <a:t>정형화된 주문 텍스트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8959" y="1537512"/>
            <a:ext cx="69762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000"/>
              <a:t>가게</a:t>
            </a:r>
          </a:p>
          <a:p>
            <a:pPr algn="ctr">
              <a:defRPr/>
            </a:pPr>
            <a:r>
              <a:rPr lang="ko-KR" altLang="en-US" sz="1000"/>
              <a:t>음성주문</a:t>
            </a:r>
          </a:p>
        </p:txBody>
      </p:sp>
      <p:cxnSp>
        <p:nvCxnSpPr>
          <p:cNvPr id="94" name="직선 화살표 연결선 93"/>
          <p:cNvCxnSpPr/>
          <p:nvPr/>
        </p:nvCxnSpPr>
        <p:spPr>
          <a:xfrm>
            <a:off x="1205915" y="1737568"/>
            <a:ext cx="389620" cy="2965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 rot="13920425">
            <a:off x="1805381" y="3162415"/>
            <a:ext cx="13389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/>
              <a:t>1. </a:t>
            </a:r>
            <a:r>
              <a:rPr lang="ko-KR" altLang="en-US" sz="800"/>
              <a:t>핸드폰 통화내용</a:t>
            </a:r>
          </a:p>
          <a:p>
            <a:pPr>
              <a:defRPr/>
            </a:pPr>
            <a:r>
              <a:rPr lang="en-US" altLang="ko-KR" sz="800"/>
              <a:t>2.</a:t>
            </a:r>
            <a:r>
              <a:rPr lang="ko-KR" altLang="en-US" sz="800"/>
              <a:t>가게 주문 음성</a:t>
            </a:r>
            <a:endParaRPr lang="en-US" altLang="ko-KR" sz="800"/>
          </a:p>
        </p:txBody>
      </p:sp>
      <p:sp>
        <p:nvSpPr>
          <p:cNvPr id="125" name="순서도: 자기 디스크 11"/>
          <p:cNvSpPr/>
          <p:nvPr/>
        </p:nvSpPr>
        <p:spPr>
          <a:xfrm>
            <a:off x="318368" y="3257830"/>
            <a:ext cx="691513" cy="446817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00">
                <a:solidFill>
                  <a:schemeClr val="dk1"/>
                </a:solidFill>
              </a:rPr>
              <a:t>Storage</a:t>
            </a:r>
          </a:p>
        </p:txBody>
      </p:sp>
      <p:cxnSp>
        <p:nvCxnSpPr>
          <p:cNvPr id="126" name="직선 화살표 연결선 61"/>
          <p:cNvCxnSpPr/>
          <p:nvPr/>
        </p:nvCxnSpPr>
        <p:spPr>
          <a:xfrm rot="10800000" flipV="1">
            <a:off x="673649" y="2380865"/>
            <a:ext cx="914716" cy="819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61"/>
          <p:cNvCxnSpPr/>
          <p:nvPr/>
        </p:nvCxnSpPr>
        <p:spPr>
          <a:xfrm rot="10800000" flipV="1">
            <a:off x="808153" y="2505459"/>
            <a:ext cx="808980" cy="733801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순서도: 자기 디스크 67"/>
          <p:cNvSpPr/>
          <p:nvPr/>
        </p:nvSpPr>
        <p:spPr>
          <a:xfrm>
            <a:off x="3597853" y="5137526"/>
            <a:ext cx="1239307" cy="458941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000">
                <a:solidFill>
                  <a:schemeClr val="tx1"/>
                </a:solidFill>
              </a:rPr>
              <a:t>Storage</a:t>
            </a:r>
          </a:p>
        </p:txBody>
      </p:sp>
      <p:cxnSp>
        <p:nvCxnSpPr>
          <p:cNvPr id="133" name="직선 화살표 연결선 63"/>
          <p:cNvCxnSpPr>
            <a:endCxn id="68" idx="2"/>
          </p:cNvCxnSpPr>
          <p:nvPr/>
        </p:nvCxnSpPr>
        <p:spPr>
          <a:xfrm>
            <a:off x="2400300" y="2428875"/>
            <a:ext cx="3369254" cy="3052422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95"/>
          <p:cNvSpPr txBox="1"/>
          <p:nvPr/>
        </p:nvSpPr>
        <p:spPr>
          <a:xfrm rot="13365525">
            <a:off x="2360422" y="3388738"/>
            <a:ext cx="207104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/>
              <a:t>히스토리</a:t>
            </a:r>
            <a:r>
              <a:rPr lang="en-US" altLang="ko-KR" sz="800"/>
              <a:t>(</a:t>
            </a:r>
            <a:r>
              <a:rPr lang="ko-KR" altLang="en-US" sz="800"/>
              <a:t>핸드폰 통화</a:t>
            </a:r>
            <a:r>
              <a:rPr lang="en-US" altLang="ko-KR" sz="800"/>
              <a:t>, </a:t>
            </a:r>
            <a:r>
              <a:rPr lang="ko-KR" altLang="en-US" sz="800"/>
              <a:t>가게 주문 음성</a:t>
            </a:r>
            <a:r>
              <a:rPr lang="en-US" altLang="ko-KR" sz="800"/>
              <a:t>)</a:t>
            </a:r>
          </a:p>
        </p:txBody>
      </p:sp>
      <p:cxnSp>
        <p:nvCxnSpPr>
          <p:cNvPr id="136" name="직선 화살표 연결선 135"/>
          <p:cNvCxnSpPr>
            <a:stCxn id="10" idx="2"/>
          </p:cNvCxnSpPr>
          <p:nvPr/>
        </p:nvCxnSpPr>
        <p:spPr>
          <a:xfrm>
            <a:off x="4808537" y="2827319"/>
            <a:ext cx="1177396" cy="2422014"/>
          </a:xfrm>
          <a:prstGeom prst="straightConnector1">
            <a:avLst/>
          </a:prstGeom>
          <a:ln>
            <a:solidFill>
              <a:srgbClr val="000000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/>
          <p:nvPr/>
        </p:nvCxnSpPr>
        <p:spPr>
          <a:xfrm flipH="1">
            <a:off x="4111817" y="2877611"/>
            <a:ext cx="296141" cy="2254439"/>
          </a:xfrm>
          <a:prstGeom prst="straightConnector1">
            <a:avLst/>
          </a:prstGeom>
          <a:ln>
            <a:solidFill>
              <a:srgbClr val="0000FF"/>
            </a:solidFill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95"/>
          <p:cNvSpPr txBox="1"/>
          <p:nvPr/>
        </p:nvSpPr>
        <p:spPr>
          <a:xfrm rot="16692916">
            <a:off x="3658074" y="3353149"/>
            <a:ext cx="117538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>
                <a:solidFill>
                  <a:srgbClr val="0000FF"/>
                </a:solidFill>
              </a:rPr>
              <a:t>가게 전화 통화내용</a:t>
            </a:r>
            <a:endParaRPr lang="en-US" altLang="ko-KR" sz="800">
              <a:solidFill>
                <a:srgbClr val="0000FF"/>
              </a:solidFill>
            </a:endParaRPr>
          </a:p>
        </p:txBody>
      </p:sp>
      <p:sp>
        <p:nvSpPr>
          <p:cNvPr id="86" name="TextBox 95"/>
          <p:cNvSpPr txBox="1"/>
          <p:nvPr/>
        </p:nvSpPr>
        <p:spPr>
          <a:xfrm rot="14706016">
            <a:off x="4210654" y="3923349"/>
            <a:ext cx="21640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/>
              <a:t>1.</a:t>
            </a:r>
            <a:r>
              <a:rPr lang="ko-KR" altLang="en-US" sz="800"/>
              <a:t>히스토리</a:t>
            </a:r>
            <a:r>
              <a:rPr lang="en-US" altLang="ko-KR" sz="800"/>
              <a:t>(</a:t>
            </a:r>
            <a:r>
              <a:rPr lang="ko-KR" altLang="en-US" sz="800"/>
              <a:t>가게통화</a:t>
            </a:r>
            <a:r>
              <a:rPr lang="en-US" altLang="ko-KR" sz="800"/>
              <a:t>,</a:t>
            </a:r>
            <a:r>
              <a:rPr lang="ko-KR" altLang="en-US" sz="800"/>
              <a:t>쇼핑몰</a:t>
            </a:r>
            <a:r>
              <a:rPr lang="en-US" altLang="ko-KR" sz="800"/>
              <a:t>,</a:t>
            </a:r>
            <a:r>
              <a:rPr lang="ko-KR" altLang="en-US" sz="800"/>
              <a:t>인터라넷</a:t>
            </a:r>
            <a:r>
              <a:rPr lang="en-US" altLang="ko-KR" sz="800"/>
              <a:t>)</a:t>
            </a:r>
          </a:p>
          <a:p>
            <a:pPr>
              <a:defRPr/>
            </a:pPr>
            <a:r>
              <a:rPr lang="en-US" altLang="ko-KR" sz="800"/>
              <a:t>2.</a:t>
            </a:r>
            <a:r>
              <a:rPr lang="ko-KR" altLang="en-US" sz="800"/>
              <a:t>주문내역</a:t>
            </a:r>
          </a:p>
        </p:txBody>
      </p:sp>
      <p:sp>
        <p:nvSpPr>
          <p:cNvPr id="20" name="자유형 19"/>
          <p:cNvSpPr/>
          <p:nvPr/>
        </p:nvSpPr>
        <p:spPr>
          <a:xfrm>
            <a:off x="6620933" y="2743200"/>
            <a:ext cx="3522134" cy="2810933"/>
          </a:xfrm>
          <a:custGeom>
            <a:avLst/>
            <a:gdLst>
              <a:gd name="connsiteX0" fmla="*/ 0 w 3522134"/>
              <a:gd name="connsiteY0" fmla="*/ 2971800 h 2972956"/>
              <a:gd name="connsiteX1" fmla="*/ 1058334 w 3522134"/>
              <a:gd name="connsiteY1" fmla="*/ 2921000 h 2972956"/>
              <a:gd name="connsiteX2" fmla="*/ 2125134 w 3522134"/>
              <a:gd name="connsiteY2" fmla="*/ 2692400 h 2972956"/>
              <a:gd name="connsiteX3" fmla="*/ 3522134 w 3522134"/>
              <a:gd name="connsiteY3" fmla="*/ 0 h 2972956"/>
              <a:gd name="connsiteX4" fmla="*/ 3522134 w 3522134"/>
              <a:gd name="connsiteY4" fmla="*/ 0 h 2972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2134" h="2972956">
                <a:moveTo>
                  <a:pt x="0" y="2971800"/>
                </a:moveTo>
                <a:cubicBezTo>
                  <a:pt x="352072" y="2969683"/>
                  <a:pt x="704145" y="2967567"/>
                  <a:pt x="1058334" y="2921000"/>
                </a:cubicBezTo>
                <a:cubicBezTo>
                  <a:pt x="1412523" y="2874433"/>
                  <a:pt x="1714501" y="3179233"/>
                  <a:pt x="2125134" y="2692400"/>
                </a:cubicBezTo>
                <a:cubicBezTo>
                  <a:pt x="2535767" y="2205567"/>
                  <a:pt x="3522134" y="0"/>
                  <a:pt x="3522134" y="0"/>
                </a:cubicBezTo>
                <a:lnTo>
                  <a:pt x="3522134" y="0"/>
                </a:lnTo>
              </a:path>
            </a:pathLst>
          </a:custGeom>
          <a:noFill/>
          <a:ln w="6350">
            <a:solidFill>
              <a:schemeClr val="tx1"/>
            </a:solidFill>
            <a:headEnd type="triangle" w="med" len="med"/>
            <a:tailEnd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자유형 22"/>
          <p:cNvSpPr/>
          <p:nvPr/>
        </p:nvSpPr>
        <p:spPr>
          <a:xfrm>
            <a:off x="6595533" y="2709333"/>
            <a:ext cx="3420534" cy="2667000"/>
          </a:xfrm>
          <a:custGeom>
            <a:avLst/>
            <a:gdLst>
              <a:gd name="connsiteX0" fmla="*/ 0 w 3420534"/>
              <a:gd name="connsiteY0" fmla="*/ 2810934 h 2810934"/>
              <a:gd name="connsiteX1" fmla="*/ 685800 w 3420534"/>
              <a:gd name="connsiteY1" fmla="*/ 2785534 h 2810934"/>
              <a:gd name="connsiteX2" fmla="*/ 1879600 w 3420534"/>
              <a:gd name="connsiteY2" fmla="*/ 2667000 h 2810934"/>
              <a:gd name="connsiteX3" fmla="*/ 2446867 w 3420534"/>
              <a:gd name="connsiteY3" fmla="*/ 1811867 h 2810934"/>
              <a:gd name="connsiteX4" fmla="*/ 3420534 w 3420534"/>
              <a:gd name="connsiteY4" fmla="*/ 0 h 281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0534" h="2810934">
                <a:moveTo>
                  <a:pt x="0" y="2810934"/>
                </a:moveTo>
                <a:cubicBezTo>
                  <a:pt x="186266" y="2810228"/>
                  <a:pt x="372533" y="2809523"/>
                  <a:pt x="685800" y="2785534"/>
                </a:cubicBezTo>
                <a:cubicBezTo>
                  <a:pt x="999067" y="2761545"/>
                  <a:pt x="1586089" y="2829278"/>
                  <a:pt x="1879600" y="2667000"/>
                </a:cubicBezTo>
                <a:cubicBezTo>
                  <a:pt x="2173111" y="2504722"/>
                  <a:pt x="2190045" y="2256367"/>
                  <a:pt x="2446867" y="1811867"/>
                </a:cubicBezTo>
                <a:cubicBezTo>
                  <a:pt x="2703689" y="1367367"/>
                  <a:pt x="3062111" y="683683"/>
                  <a:pt x="3420534" y="0"/>
                </a:cubicBezTo>
              </a:path>
            </a:pathLst>
          </a:custGeom>
          <a:noFill/>
          <a:ln w="6350">
            <a:solidFill>
              <a:schemeClr val="tx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2" name="TextBox 101"/>
          <p:cNvSpPr txBox="1"/>
          <p:nvPr/>
        </p:nvSpPr>
        <p:spPr>
          <a:xfrm rot="17763278">
            <a:off x="9126555" y="4280785"/>
            <a:ext cx="6735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800"/>
              <a:t>1.</a:t>
            </a:r>
            <a:r>
              <a:rPr lang="ko-KR" altLang="en-US" sz="800"/>
              <a:t>회원정보</a:t>
            </a:r>
          </a:p>
          <a:p>
            <a:pPr algn="ctr">
              <a:defRPr/>
            </a:pPr>
            <a:r>
              <a:rPr lang="en-US" altLang="ko-KR" sz="800"/>
              <a:t>2.</a:t>
            </a:r>
            <a:r>
              <a:rPr lang="ko-KR" altLang="en-US" sz="800"/>
              <a:t>환경정보</a:t>
            </a:r>
          </a:p>
        </p:txBody>
      </p:sp>
      <p:cxnSp>
        <p:nvCxnSpPr>
          <p:cNvPr id="113" name="직선 화살표 연결선 112"/>
          <p:cNvCxnSpPr>
            <a:endCxn id="68" idx="1"/>
          </p:cNvCxnSpPr>
          <p:nvPr/>
        </p:nvCxnSpPr>
        <p:spPr>
          <a:xfrm>
            <a:off x="4941887" y="2760644"/>
            <a:ext cx="1240657" cy="2478482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/>
          <p:nvPr/>
        </p:nvCxnSpPr>
        <p:spPr>
          <a:xfrm flipH="1">
            <a:off x="4330892" y="2887136"/>
            <a:ext cx="296141" cy="2254439"/>
          </a:xfrm>
          <a:prstGeom prst="straightConnector1">
            <a:avLst/>
          </a:prstGeom>
          <a:ln>
            <a:solidFill>
              <a:srgbClr val="0000FF"/>
            </a:solidFill>
            <a:headEnd type="triangle" w="med" len="med"/>
            <a:tailEnd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95"/>
          <p:cNvSpPr txBox="1"/>
          <p:nvPr/>
        </p:nvSpPr>
        <p:spPr>
          <a:xfrm rot="16692916">
            <a:off x="3783279" y="3826470"/>
            <a:ext cx="1767439" cy="33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800">
                <a:solidFill>
                  <a:srgbClr val="0000FF"/>
                </a:solidFill>
              </a:rPr>
              <a:t>1.</a:t>
            </a:r>
            <a:r>
              <a:rPr lang="ko-KR" altLang="en-US" sz="800">
                <a:solidFill>
                  <a:srgbClr val="0000FF"/>
                </a:solidFill>
              </a:rPr>
              <a:t>핸드폰</a:t>
            </a:r>
            <a:r>
              <a:rPr lang="en-US" altLang="ko-KR" sz="800">
                <a:solidFill>
                  <a:srgbClr val="0000FF"/>
                </a:solidFill>
              </a:rPr>
              <a:t>,</a:t>
            </a:r>
            <a:r>
              <a:rPr lang="ko-KR" altLang="en-US" sz="800">
                <a:solidFill>
                  <a:srgbClr val="0000FF"/>
                </a:solidFill>
              </a:rPr>
              <a:t> 가게전화 통화내용</a:t>
            </a:r>
          </a:p>
          <a:p>
            <a:pPr>
              <a:defRPr/>
            </a:pPr>
            <a:r>
              <a:rPr lang="en-US" altLang="ko-KR" sz="800">
                <a:solidFill>
                  <a:srgbClr val="0000FF"/>
                </a:solidFill>
              </a:rPr>
              <a:t>2..</a:t>
            </a:r>
            <a:r>
              <a:rPr lang="ko-KR" altLang="en-US" sz="800">
                <a:solidFill>
                  <a:srgbClr val="0000FF"/>
                </a:solidFill>
              </a:rPr>
              <a:t>가게 주문 음성</a:t>
            </a:r>
            <a:endParaRPr lang="en-US" altLang="ko-KR" sz="800">
              <a:solidFill>
                <a:srgbClr val="0000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 rot="17862356">
            <a:off x="8640233" y="4300007"/>
            <a:ext cx="286007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900"/>
              <a:t>핸드폰 통화내용</a:t>
            </a:r>
            <a:r>
              <a:rPr lang="en-US" altLang="ko-KR" sz="900"/>
              <a:t>, </a:t>
            </a:r>
            <a:r>
              <a:rPr lang="ko-KR" altLang="en-US" sz="900"/>
              <a:t>가게전화 통화내용</a:t>
            </a:r>
            <a:r>
              <a:rPr lang="en-US" altLang="ko-KR" sz="900"/>
              <a:t>. </a:t>
            </a:r>
            <a:r>
              <a:rPr lang="ko-KR" altLang="en-US" sz="900"/>
              <a:t>가게주문 음성</a:t>
            </a:r>
          </a:p>
        </p:txBody>
      </p:sp>
      <p:sp>
        <p:nvSpPr>
          <p:cNvPr id="117" name="TextBox 95"/>
          <p:cNvSpPr txBox="1"/>
          <p:nvPr/>
        </p:nvSpPr>
        <p:spPr>
          <a:xfrm rot="14581366">
            <a:off x="4658188" y="3865117"/>
            <a:ext cx="2199012" cy="33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800"/>
              <a:t>히스토리</a:t>
            </a:r>
            <a:r>
              <a:rPr lang="en-US" altLang="ko-KR" sz="800"/>
              <a:t>(</a:t>
            </a:r>
            <a:r>
              <a:rPr lang="ko-KR" altLang="en-US" sz="800"/>
              <a:t>핸드폰</a:t>
            </a:r>
            <a:r>
              <a:rPr lang="en-US" altLang="ko-KR" sz="800"/>
              <a:t>,</a:t>
            </a:r>
            <a:r>
              <a:rPr lang="ko-KR" altLang="en-US" sz="800"/>
              <a:t>가게 통화</a:t>
            </a:r>
            <a:r>
              <a:rPr lang="en-US" altLang="ko-KR" sz="800"/>
              <a:t>, </a:t>
            </a:r>
            <a:r>
              <a:rPr lang="ko-KR" altLang="en-US" sz="800"/>
              <a:t>가게 주문 음성</a:t>
            </a:r>
            <a:r>
              <a:rPr lang="en-US" altLang="ko-KR" sz="800"/>
              <a:t>,</a:t>
            </a:r>
            <a:r>
              <a:rPr lang="ko-KR" altLang="en-US" sz="800"/>
              <a:t> 쇼핑몰</a:t>
            </a:r>
            <a:r>
              <a:rPr lang="en-US" altLang="ko-KR" sz="800"/>
              <a:t>,</a:t>
            </a:r>
            <a:r>
              <a:rPr lang="ko-KR" altLang="en-US" sz="800"/>
              <a:t> 인터라넷</a:t>
            </a:r>
            <a:r>
              <a:rPr lang="en-US" altLang="ko-KR" sz="800"/>
              <a:t>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52747" y="5047560"/>
            <a:ext cx="3129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00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119" name="TextBox 58"/>
          <p:cNvSpPr txBox="1"/>
          <p:nvPr/>
        </p:nvSpPr>
        <p:spPr>
          <a:xfrm>
            <a:off x="2858696" y="6239471"/>
            <a:ext cx="6014371" cy="492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900"/>
              <a:t>‘B.</a:t>
            </a:r>
            <a:r>
              <a:rPr lang="ko-KR" altLang="en-US" sz="900"/>
              <a:t>실시간 주문 수집 및 입력</a:t>
            </a:r>
            <a:r>
              <a:rPr lang="en-US" altLang="ko-KR" sz="900"/>
              <a:t>(PC </a:t>
            </a:r>
            <a:r>
              <a:rPr lang="ko-KR" altLang="en-US" sz="900"/>
              <a:t>백그라운드 서비스</a:t>
            </a:r>
            <a:r>
              <a:rPr lang="en-US" altLang="ko-KR" sz="900"/>
              <a:t>)‘ </a:t>
            </a:r>
            <a:r>
              <a:rPr lang="ko-KR" altLang="en-US" sz="900"/>
              <a:t>업무처리순서</a:t>
            </a:r>
          </a:p>
          <a:p>
            <a:pPr marL="171450" indent="-171450">
              <a:buFontTx/>
              <a:buChar char="-"/>
              <a:defRPr/>
            </a:pPr>
            <a:r>
              <a:rPr lang="ko-KR" altLang="en-US" sz="900"/>
              <a:t>전화주문</a:t>
            </a:r>
            <a:r>
              <a:rPr lang="en-US" altLang="ko-KR" sz="900"/>
              <a:t>: ‘</a:t>
            </a:r>
            <a:r>
              <a:rPr lang="ko-KR" altLang="en-US" sz="900"/>
              <a:t>①</a:t>
            </a:r>
            <a:r>
              <a:rPr lang="en-US" altLang="ko-KR" sz="900"/>
              <a:t>’</a:t>
            </a:r>
            <a:r>
              <a:rPr lang="ko-KR" altLang="en-US" sz="900"/>
              <a:t> 주문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‘</a:t>
            </a:r>
            <a:r>
              <a:rPr lang="ko-KR" altLang="en-US" sz="900"/>
              <a:t>②</a:t>
            </a:r>
            <a:r>
              <a:rPr lang="en-US" altLang="ko-KR" sz="900"/>
              <a:t>’</a:t>
            </a:r>
            <a:r>
              <a:rPr lang="ko-KR" altLang="en-US" sz="900"/>
              <a:t> 음성</a:t>
            </a:r>
            <a:r>
              <a:rPr lang="en-US" altLang="ko-KR" sz="900"/>
              <a:t>-</a:t>
            </a:r>
            <a:r>
              <a:rPr lang="ko-KR" altLang="en-US" sz="900"/>
              <a:t>텍스트 변환 </a:t>
            </a:r>
            <a:r>
              <a:rPr lang="en-US" altLang="ko-KR" sz="900"/>
              <a:t>-&gt; </a:t>
            </a:r>
            <a:r>
              <a:rPr lang="ko-KR" altLang="en-US" sz="900"/>
              <a:t> </a:t>
            </a:r>
            <a:r>
              <a:rPr lang="en-US" altLang="ko-KR" sz="900"/>
              <a:t>‘</a:t>
            </a:r>
            <a:r>
              <a:rPr lang="ko-KR" altLang="en-US" sz="900"/>
              <a:t>③</a:t>
            </a:r>
            <a:r>
              <a:rPr lang="en-US" altLang="ko-KR" sz="900"/>
              <a:t>’</a:t>
            </a:r>
            <a:r>
              <a:rPr lang="ko-KR" altLang="en-US" sz="900"/>
              <a:t> </a:t>
            </a:r>
            <a:r>
              <a:rPr lang="en-US" altLang="ko-KR" sz="900"/>
              <a:t>Gemini -&gt;‘</a:t>
            </a:r>
            <a:r>
              <a:rPr lang="ko-KR" altLang="en-US" sz="900"/>
              <a:t>④</a:t>
            </a:r>
            <a:r>
              <a:rPr lang="en-US" altLang="ko-KR" sz="900"/>
              <a:t>’</a:t>
            </a:r>
            <a:r>
              <a:rPr lang="ko-KR" altLang="en-US" sz="900"/>
              <a:t> </a:t>
            </a:r>
            <a:r>
              <a:rPr lang="en-US" altLang="ko-KR" sz="900">
                <a:ea typeface="맑은 고딕"/>
              </a:rPr>
              <a:t>’</a:t>
            </a:r>
            <a:r>
              <a:rPr lang="ko-KR" altLang="en-US" sz="900">
                <a:ea typeface="맑은 고딕"/>
              </a:rPr>
              <a:t>서버</a:t>
            </a:r>
            <a:r>
              <a:rPr lang="en-US" altLang="ko-KR" sz="900">
                <a:ea typeface="맑은 고딕"/>
              </a:rPr>
              <a:t>(DataBase) </a:t>
            </a:r>
            <a:r>
              <a:rPr lang="ko-KR" altLang="en-US" sz="900">
                <a:ea typeface="맑은 고딕"/>
              </a:rPr>
              <a:t>저장</a:t>
            </a:r>
            <a:r>
              <a:rPr lang="en-US" altLang="ko-KR" sz="900">
                <a:ea typeface="맑은 고딕"/>
              </a:rPr>
              <a:t>-&gt;</a:t>
            </a:r>
            <a:r>
              <a:rPr lang="en-US" altLang="ko-KR" sz="900"/>
              <a:t>’</a:t>
            </a:r>
            <a:r>
              <a:rPr lang="en-US" altLang="ko-KR" sz="900">
                <a:ea typeface="맑은 고딕"/>
              </a:rPr>
              <a:t>⑤’</a:t>
            </a:r>
            <a:r>
              <a:rPr lang="ko-KR" altLang="en-US" sz="900">
                <a:ea typeface="맑은 고딕"/>
              </a:rPr>
              <a:t> </a:t>
            </a:r>
            <a:r>
              <a:rPr lang="en-US" altLang="ko-KR" sz="900"/>
              <a:t>RPA </a:t>
            </a:r>
            <a:r>
              <a:rPr lang="ko-KR" altLang="en-US" sz="900"/>
              <a:t>실행</a:t>
            </a:r>
          </a:p>
          <a:p>
            <a:pPr marL="171450" indent="-171450">
              <a:buFontTx/>
              <a:buChar char="-"/>
              <a:defRPr/>
            </a:pPr>
            <a:r>
              <a:rPr lang="ko-KR" altLang="en-US" sz="900"/>
              <a:t>쇼핑몰</a:t>
            </a:r>
            <a:r>
              <a:rPr lang="en-US" altLang="ko-KR" sz="900"/>
              <a:t>, </a:t>
            </a:r>
            <a:r>
              <a:rPr lang="ko-KR" altLang="en-US" sz="900"/>
              <a:t>인터라넷 주문</a:t>
            </a:r>
            <a:r>
              <a:rPr lang="en-US" altLang="ko-KR" sz="900"/>
              <a:t>: ‘</a:t>
            </a:r>
            <a:r>
              <a:rPr lang="ko-KR" altLang="en-US" sz="900"/>
              <a:t>①</a:t>
            </a:r>
            <a:r>
              <a:rPr lang="en-US" altLang="ko-KR" sz="900"/>
              <a:t>’</a:t>
            </a:r>
            <a:r>
              <a:rPr lang="ko-KR" altLang="en-US" sz="900"/>
              <a:t> 주문</a:t>
            </a:r>
            <a:r>
              <a:rPr lang="en-US" altLang="ko-KR" sz="900"/>
              <a:t> -&gt;  ’</a:t>
            </a:r>
            <a:r>
              <a:rPr lang="ko-KR" altLang="en-US" sz="900"/>
              <a:t> ④</a:t>
            </a:r>
            <a:r>
              <a:rPr lang="en-US" altLang="ko-KR" sz="900"/>
              <a:t>’</a:t>
            </a:r>
            <a:r>
              <a:rPr lang="ko-KR" altLang="en-US" sz="900"/>
              <a:t>서버</a:t>
            </a:r>
            <a:r>
              <a:rPr lang="en-US" altLang="ko-KR" sz="900">
                <a:ea typeface="맑은 고딕"/>
              </a:rPr>
              <a:t> (DataBase) </a:t>
            </a:r>
            <a:r>
              <a:rPr lang="ko-KR" altLang="en-US" sz="900"/>
              <a:t>저장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‘⑤’</a:t>
            </a:r>
            <a:r>
              <a:rPr lang="ko-KR" altLang="en-US" sz="900"/>
              <a:t> </a:t>
            </a:r>
            <a:r>
              <a:rPr lang="en-US" altLang="ko-KR" sz="900"/>
              <a:t>RPA </a:t>
            </a:r>
            <a:r>
              <a:rPr lang="ko-KR" altLang="en-US" sz="900"/>
              <a:t>실행</a:t>
            </a:r>
          </a:p>
        </p:txBody>
      </p:sp>
      <p:sp>
        <p:nvSpPr>
          <p:cNvPr id="33" name="자유형 32"/>
          <p:cNvSpPr/>
          <p:nvPr/>
        </p:nvSpPr>
        <p:spPr>
          <a:xfrm>
            <a:off x="4436533" y="2616200"/>
            <a:ext cx="6163734" cy="3319018"/>
          </a:xfrm>
          <a:custGeom>
            <a:avLst/>
            <a:gdLst>
              <a:gd name="connsiteX0" fmla="*/ 0 w 6163734"/>
              <a:gd name="connsiteY0" fmla="*/ 2980267 h 3319018"/>
              <a:gd name="connsiteX1" fmla="*/ 143934 w 6163734"/>
              <a:gd name="connsiteY1" fmla="*/ 3115733 h 3319018"/>
              <a:gd name="connsiteX2" fmla="*/ 635000 w 6163734"/>
              <a:gd name="connsiteY2" fmla="*/ 3268133 h 3319018"/>
              <a:gd name="connsiteX3" fmla="*/ 1244600 w 6163734"/>
              <a:gd name="connsiteY3" fmla="*/ 3310467 h 3319018"/>
              <a:gd name="connsiteX4" fmla="*/ 2463800 w 6163734"/>
              <a:gd name="connsiteY4" fmla="*/ 3302000 h 3319018"/>
              <a:gd name="connsiteX5" fmla="*/ 4064000 w 6163734"/>
              <a:gd name="connsiteY5" fmla="*/ 3141133 h 3319018"/>
              <a:gd name="connsiteX6" fmla="*/ 4859867 w 6163734"/>
              <a:gd name="connsiteY6" fmla="*/ 2683933 h 3319018"/>
              <a:gd name="connsiteX7" fmla="*/ 5664200 w 6163734"/>
              <a:gd name="connsiteY7" fmla="*/ 1312333 h 3319018"/>
              <a:gd name="connsiteX8" fmla="*/ 6163734 w 6163734"/>
              <a:gd name="connsiteY8" fmla="*/ 0 h 3319018"/>
              <a:gd name="connsiteX9" fmla="*/ 6163734 w 6163734"/>
              <a:gd name="connsiteY9" fmla="*/ 0 h 3319018"/>
              <a:gd name="connsiteX10" fmla="*/ 6163734 w 6163734"/>
              <a:gd name="connsiteY10" fmla="*/ 0 h 331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63734" h="3319018">
                <a:moveTo>
                  <a:pt x="0" y="2980267"/>
                </a:moveTo>
                <a:cubicBezTo>
                  <a:pt x="19050" y="3024011"/>
                  <a:pt x="38101" y="3067755"/>
                  <a:pt x="143934" y="3115733"/>
                </a:cubicBezTo>
                <a:cubicBezTo>
                  <a:pt x="249767" y="3163711"/>
                  <a:pt x="451556" y="3235677"/>
                  <a:pt x="635000" y="3268133"/>
                </a:cubicBezTo>
                <a:cubicBezTo>
                  <a:pt x="818444" y="3300589"/>
                  <a:pt x="939800" y="3304823"/>
                  <a:pt x="1244600" y="3310467"/>
                </a:cubicBezTo>
                <a:cubicBezTo>
                  <a:pt x="1549400" y="3316111"/>
                  <a:pt x="1993900" y="3330222"/>
                  <a:pt x="2463800" y="3302000"/>
                </a:cubicBezTo>
                <a:cubicBezTo>
                  <a:pt x="2933700" y="3273778"/>
                  <a:pt x="3664656" y="3244144"/>
                  <a:pt x="4064000" y="3141133"/>
                </a:cubicBezTo>
                <a:cubicBezTo>
                  <a:pt x="4463344" y="3038122"/>
                  <a:pt x="4593167" y="2988733"/>
                  <a:pt x="4859867" y="2683933"/>
                </a:cubicBezTo>
                <a:cubicBezTo>
                  <a:pt x="5126567" y="2379133"/>
                  <a:pt x="5446889" y="1759655"/>
                  <a:pt x="5664200" y="1312333"/>
                </a:cubicBezTo>
                <a:cubicBezTo>
                  <a:pt x="5881511" y="865011"/>
                  <a:pt x="6163734" y="0"/>
                  <a:pt x="6163734" y="0"/>
                </a:cubicBezTo>
                <a:lnTo>
                  <a:pt x="6163734" y="0"/>
                </a:lnTo>
                <a:lnTo>
                  <a:pt x="6163734" y="0"/>
                </a:lnTo>
              </a:path>
            </a:pathLst>
          </a:custGeom>
          <a:noFill/>
          <a:ln w="6350">
            <a:solidFill>
              <a:schemeClr val="tx1"/>
            </a:solidFill>
            <a:headEnd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60985" y="196419"/>
            <a:ext cx="2687955" cy="36365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3. DataBase &amp; Storage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/>
        </p:nvGraphicFramePr>
        <p:xfrm>
          <a:off x="728133" y="1013303"/>
          <a:ext cx="10006542" cy="275336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56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9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Table </a:t>
                      </a:r>
                      <a:r>
                        <a:rPr lang="ko-KR" altLang="en-US" sz="90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Table </a:t>
                      </a:r>
                      <a:r>
                        <a:rPr lang="ko-KR" altLang="en-US" sz="900"/>
                        <a:t>간단 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Table </a:t>
                      </a:r>
                      <a:r>
                        <a:rPr lang="ko-KR" altLang="en-US" sz="900"/>
                        <a:t>저장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사용 </a:t>
                      </a:r>
                      <a:r>
                        <a:rPr lang="en-US" altLang="ko-KR" sz="900"/>
                        <a:t>SW</a:t>
                      </a:r>
                    </a:p>
                    <a:p>
                      <a:pPr algn="ctr">
                        <a:defRPr/>
                      </a:pPr>
                      <a:r>
                        <a:rPr lang="en-US" altLang="ko-KR" sz="900"/>
                        <a:t>(R:Read, W:Write)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 rowSpan="5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 b="1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/>
                        <a:t>server_call_histor</a:t>
                      </a:r>
                      <a:r>
                        <a:rPr lang="en-US" altLang="ko-KR" sz="900">
                          <a:solidFill>
                            <a:schemeClr val="dk1"/>
                          </a:solidFill>
                        </a:rPr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히스토리</a:t>
                      </a:r>
                      <a:r>
                        <a:rPr lang="en-US" altLang="ko-KR" sz="900"/>
                        <a:t>_</a:t>
                      </a:r>
                      <a:r>
                        <a:rPr lang="ko-KR" altLang="en-US" sz="900"/>
                        <a:t>서버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en-US" altLang="ko-KR" sz="900">
                        <a:solidFill>
                          <a:schemeClr val="dk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각 주문채널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핸드폰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가게전화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가게음성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쇼핑몰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인트라넷</a:t>
                      </a:r>
                      <a:r>
                        <a:rPr lang="en-US" altLang="ko-KR" sz="900"/>
                        <a:t>)</a:t>
                      </a:r>
                      <a:r>
                        <a:rPr lang="ko-KR" altLang="en-US" sz="900"/>
                        <a:t>로 부터 주문을 수집한 환경 정보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채널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일자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시간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고객전화번호</a:t>
                      </a:r>
                      <a:r>
                        <a:rPr lang="en-US" altLang="ko-KR" sz="900"/>
                        <a:t>…</a:t>
                      </a:r>
                      <a:r>
                        <a:rPr lang="ko-KR" altLang="en-US" sz="900"/>
                        <a:t> 등</a:t>
                      </a:r>
                      <a:r>
                        <a:rPr lang="en-US" altLang="ko-KR" sz="9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ggotAIorder(R,W)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hp_call_history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히스토리</a:t>
                      </a:r>
                      <a:r>
                        <a:rPr lang="en-US" altLang="ko-KR" sz="900"/>
                        <a:t>_</a:t>
                      </a:r>
                      <a:r>
                        <a:rPr lang="ko-KR" altLang="en-US" sz="900"/>
                        <a:t>핸드폰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핸드폰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핸드폰으로 부터 주문을 수집한 환경 정보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채널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일자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시간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고객전화번호</a:t>
                      </a:r>
                      <a:r>
                        <a:rPr lang="en-US" altLang="ko-KR" sz="900"/>
                        <a:t>…</a:t>
                      </a:r>
                      <a:r>
                        <a:rPr lang="ko-KR" altLang="en-US" sz="900"/>
                        <a:t> 등</a:t>
                      </a:r>
                      <a:r>
                        <a:rPr lang="en-US" altLang="ko-KR" sz="900"/>
                        <a:t>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/>
                        <a:t>- </a:t>
                      </a:r>
                      <a:r>
                        <a:rPr lang="ko-KR" altLang="en-US" sz="900"/>
                        <a:t>핸드폰에 저장하는 </a:t>
                      </a:r>
                      <a:r>
                        <a:rPr lang="en-US" altLang="ko-KR" sz="900"/>
                        <a:t>DataBase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주기적으로 히스토리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서버</a:t>
                      </a: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와 동기화 필요</a:t>
                      </a:r>
                      <a:endParaRPr lang="en-US" altLang="ko-KR" sz="9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Order_details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주문내역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각 채널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핸드폰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가게전화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가게음성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쇼핑몰</a:t>
                      </a:r>
                      <a:r>
                        <a:rPr lang="en-US" altLang="ko-KR" sz="900"/>
                        <a:t>,</a:t>
                      </a:r>
                      <a:r>
                        <a:rPr lang="ko-KR" altLang="en-US" sz="900"/>
                        <a:t> 인털넷</a:t>
                      </a:r>
                      <a:r>
                        <a:rPr lang="en-US" altLang="ko-KR" sz="900"/>
                        <a:t>)</a:t>
                      </a:r>
                      <a:r>
                        <a:rPr lang="ko-KR" altLang="en-US" sz="900"/>
                        <a:t>로 부터 수집된 주문내역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ggotAIorder(R,W)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Setting_info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환경정보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/>
                        <a:t>- ggotAI, ggotAIorder, ggotAIhp </a:t>
                      </a:r>
                      <a:r>
                        <a:rPr lang="ko-KR" altLang="en-US" sz="900"/>
                        <a:t>사용을 위한 환경정보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/>
                        <a:t>- ggotAIhp </a:t>
                      </a:r>
                      <a:r>
                        <a:rPr lang="ko-KR" altLang="en-US" sz="900"/>
                        <a:t>사용 핸드폰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쇼핑몰 주소</a:t>
                      </a:r>
                      <a:r>
                        <a:rPr lang="en-US" altLang="ko-KR" sz="900"/>
                        <a:t>…</a:t>
                      </a:r>
                      <a:r>
                        <a:rPr lang="ko-KR" altLang="en-US" sz="900"/>
                        <a:t>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ggotAIya(R.W)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/>
                        <a:t>member_info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회원정보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사용자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꽃집</a:t>
                      </a:r>
                      <a:r>
                        <a:rPr lang="en-US" altLang="ko-KR" sz="900"/>
                        <a:t>)</a:t>
                      </a:r>
                      <a:r>
                        <a:rPr lang="ko-KR" altLang="en-US" sz="900"/>
                        <a:t>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ggotAIya(R,W)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728133" y="4054472"/>
          <a:ext cx="10044642" cy="248412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756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7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4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파일 이름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파일 간단 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저장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사용 </a:t>
                      </a:r>
                      <a:r>
                        <a:rPr lang="en-US" altLang="ko-KR" sz="900"/>
                        <a:t>SW</a:t>
                      </a:r>
                    </a:p>
                    <a:p>
                      <a:pPr algn="ctr">
                        <a:defRPr/>
                      </a:pPr>
                      <a:r>
                        <a:rPr lang="en-US" altLang="ko-KR" sz="900"/>
                        <a:t>(R:Read, W:Write)</a:t>
                      </a:r>
                      <a:endParaRPr lang="ko-KR" altLang="en-US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 rowSpan="5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900" b="1"/>
                        <a:t>Storage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핸드폰 통화내용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>
                          <a:solidFill>
                            <a:schemeClr val="dk1"/>
                          </a:solidFill>
                        </a:rPr>
                        <a:t>서버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주문 통화 내용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핸드폰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가게전화</a:t>
                      </a:r>
                      <a:r>
                        <a:rPr lang="en-US" altLang="ko-KR" sz="900"/>
                        <a:t>, </a:t>
                      </a:r>
                      <a:r>
                        <a:rPr lang="ko-KR" altLang="en-US" sz="900"/>
                        <a:t>가게 음성</a:t>
                      </a:r>
                      <a:r>
                        <a:rPr lang="en-US" altLang="ko-KR" sz="900"/>
                        <a:t>)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핸드폰 통화내용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/>
                        <a:t>핸드폰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/>
                        <a:t>-</a:t>
                      </a:r>
                      <a:r>
                        <a:rPr lang="ko-KR" altLang="en-US" sz="900"/>
                        <a:t>핸드폰 주문 통화 내용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핸드폰에 저장</a:t>
                      </a:r>
                      <a:r>
                        <a:rPr lang="en-US" altLang="ko-KR" sz="900"/>
                        <a:t>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/>
                        <a:t>-</a:t>
                      </a:r>
                      <a:r>
                        <a:rPr lang="ko-KR" altLang="en-US" sz="900"/>
                        <a:t>별도로 저장하지 않고 안드로이드 폰이 자동 저장함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가게 전화 통화내용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/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가게 전화의 주문 통화 내용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ggotAIorder(R,W)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가게 주문 음성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/>
                        <a:t>서버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가게의 음성 주문 내역</a:t>
                      </a:r>
                      <a:r>
                        <a:rPr lang="en-US" altLang="ko-KR" sz="900"/>
                        <a:t>(</a:t>
                      </a:r>
                      <a:r>
                        <a:rPr lang="ko-KR" altLang="en-US" sz="900"/>
                        <a:t>서버</a:t>
                      </a:r>
                      <a:r>
                        <a:rPr lang="en-US" altLang="ko-KR" sz="90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ggotAIhp(R.W)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ggotAIorder(R)</a:t>
                      </a:r>
                    </a:p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ggotAIya(R)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900"/>
                        <a:t>가게 주문 음성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/>
                        <a:t>핸드폰</a:t>
                      </a:r>
                      <a:endParaRPr lang="en-US" altLang="ko-KR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900"/>
                        <a:t>가게의 음성 주문 내역</a:t>
                      </a:r>
                      <a:r>
                        <a:rPr lang="en-US" altLang="ko-KR" sz="900"/>
                        <a:t>_</a:t>
                      </a:r>
                      <a:r>
                        <a:rPr lang="ko-KR" altLang="en-US" sz="900"/>
                        <a:t>핸드폰에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ggotAIhp(R,W)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0985" y="196419"/>
            <a:ext cx="2131417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b="1"/>
              <a:t>4. DataBase Table</a:t>
            </a:r>
            <a:endParaRPr lang="en-US" altLang="ko-KR" b="1"/>
          </a:p>
        </p:txBody>
      </p:sp>
      <p:sp>
        <p:nvSpPr>
          <p:cNvPr id="2" name="직사각형 1"/>
          <p:cNvSpPr/>
          <p:nvPr/>
        </p:nvSpPr>
        <p:spPr>
          <a:xfrm>
            <a:off x="400050" y="626983"/>
            <a:ext cx="11363325" cy="29620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900"/>
              <a:t>CREATE TABLE server_call_history (  </a:t>
            </a:r>
            <a:r>
              <a:rPr lang="en-US" altLang="ko-KR" sz="900"/>
              <a:t>--</a:t>
            </a:r>
            <a:r>
              <a:rPr lang="ko-KR" altLang="en-US" sz="900" b="1">
                <a:solidFill>
                  <a:srgbClr val="ff0000"/>
                </a:solidFill>
              </a:rPr>
              <a:t> 기존 </a:t>
            </a:r>
            <a:r>
              <a:rPr lang="en-US" altLang="ko-KR" sz="900" b="1">
                <a:solidFill>
                  <a:srgbClr val="ff0000"/>
                </a:solidFill>
              </a:rPr>
              <a:t>Supabase</a:t>
            </a:r>
            <a:r>
              <a:rPr lang="ko-KR" altLang="en-US" sz="900" b="1">
                <a:solidFill>
                  <a:srgbClr val="ff0000"/>
                </a:solidFill>
              </a:rPr>
              <a:t>의 </a:t>
            </a:r>
            <a:r>
              <a:rPr lang="en-US" altLang="ko-KR" sz="900" b="1">
                <a:solidFill>
                  <a:srgbClr val="ff0000"/>
                </a:solidFill>
              </a:rPr>
              <a:t>Server_call_history Table </a:t>
            </a:r>
            <a:r>
              <a:rPr lang="ko-KR" altLang="en-US" sz="900" b="1">
                <a:solidFill>
                  <a:srgbClr val="ff0000"/>
                </a:solidFill>
              </a:rPr>
              <a:t>수정해야 됨</a:t>
            </a:r>
            <a:endParaRPr lang="ko-KR" altLang="en-US" sz="900" b="1">
              <a:solidFill>
                <a:srgbClr val="ff0000"/>
              </a:solidFill>
            </a:endParaRPr>
          </a:p>
          <a:p>
            <a:pPr lvl="0">
              <a:defRPr/>
            </a:pPr>
            <a:r>
              <a:rPr lang="ko-KR" altLang="en-US" sz="900"/>
              <a:t>    id SERIAL PRIMARY KEY,                         -- 고유 ID (자동 증가)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channel_order VARCHAR(20) DEFAULT '기타',      -- 주문 수집 채널 ('핸드폰', '가게전화', '쇼핑몰', '인터라넷', '가게음성', '기타')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channel_classification VARCHAR(255) NOT NULL, -- 채널별 상세 정보 (전화번호, 쇼핑몰 주소, 인트라넷 주소 등)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shop_key INT NOT NULL,                         -- 꽃가게 고유 KEY (member_info 테이블의 id와 매핑)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shop_name VARCHAR(50) NOT NULL,                -- 꽃가게 이름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customer_phone_number VARCHAR(20) DEFAULT ' ',  -- 전화를 건 '고객'의 전화번호 (쇼핑몰/인터라넷은 공백 문자)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customer_name VARCHAR(50) DEFAULT '신규',       -- 고객명 (전화번호부 연동명, 없을 시 '신규' / 쇼핑몰/인터라넷은 공백 문자)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call_date DATE NOT NULL,                       -- 통화/수집 날짜 (YYYY-MM-DD)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call_time TIME NOT NULL,                       -- 통화/수집 시간 (HH:mm:ss)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duration_seconds INT DEFAULT 0,                -- 통화 시간(초 단위, 텍스트 채널은 0)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audio_file_name VARCHAR(255) DEFAULT NULL,     -- 서버 스토리지에 저장된 음성 파일명 (텍스트 채널은 NULL)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-- 성능 최적화를 위해 파일명 대신 텍스트 원본을 DB에 직접 저장하도록 수정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stt_text TEXT DEFAULT NULL,                    -- Whisper가 변환한 비정형 주문 텍스트 원본 (쇼핑몰/인터라넷은 스크래핑 원문)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is_order CHAR(1) DEFAULT 'N',                  -- </a:t>
            </a:r>
            <a:r>
              <a:rPr lang="en-US" altLang="ko-KR" sz="900"/>
              <a:t>Gemini</a:t>
            </a:r>
            <a:r>
              <a:rPr lang="ko-KR" altLang="en-US" sz="900"/>
              <a:t>(LLM)가 판별한 최종 주문 여부 ('Y' 또는 'N')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created_at TIMESTAMP DEFAULT NOW(),            -- 데이터 생성 일시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    FOREIGN KEY (shop_key) REFERENCES member_info(id) ON DELETE CASCADE -- 회원 정보와 유기적 연동</a:t>
            </a:r>
            <a:endParaRPr lang="ko-KR" altLang="en-US" sz="900"/>
          </a:p>
          <a:p>
            <a:pPr lvl="0">
              <a:defRPr/>
            </a:pPr>
            <a:r>
              <a:rPr lang="ko-KR" altLang="en-US" sz="900"/>
              <a:t>); </a:t>
            </a:r>
            <a:endParaRPr lang="ko-KR" altLang="en-US" sz="900" b="1">
              <a:solidFill>
                <a:srgbClr val="ff0000"/>
              </a:solidFill>
            </a:endParaRPr>
          </a:p>
        </p:txBody>
      </p:sp>
      <p:sp>
        <p:nvSpPr>
          <p:cNvPr id="7" name="직사각형 1"/>
          <p:cNvSpPr/>
          <p:nvPr/>
        </p:nvSpPr>
        <p:spPr>
          <a:xfrm>
            <a:off x="400048" y="3703557"/>
            <a:ext cx="11363326" cy="31049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900"/>
              <a:t>CREATE TABLE order_details (</a:t>
            </a:r>
            <a:r>
              <a:rPr lang="ko-KR" altLang="en-US" sz="900"/>
              <a:t> </a:t>
            </a:r>
            <a:r>
              <a:rPr lang="en-US" altLang="ko-KR" sz="900"/>
              <a:t> --</a:t>
            </a:r>
            <a:r>
              <a:rPr lang="ko-KR" altLang="en-US" sz="900" b="1">
                <a:solidFill>
                  <a:srgbClr val="ff0000"/>
                </a:solidFill>
              </a:rPr>
              <a:t> 신규 생성해야 함</a:t>
            </a:r>
            <a:endParaRPr lang="ko-KR" altLang="en-US" sz="900" b="1">
              <a:solidFill>
                <a:srgbClr val="ff0000"/>
              </a:solidFill>
            </a:endParaRPr>
          </a:p>
          <a:p>
            <a:pPr lvl="0">
              <a:defRPr/>
            </a:pPr>
            <a:r>
              <a:rPr lang="en-US" altLang="ko-KR" sz="900"/>
              <a:t>    id SERIAL PRIMARY KEY,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call_history_id INT NOT NULL,                  -- 어떤 통화/채널에서 온 주문인지 매핑 (외래키)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shop_key INT NOT NULL,                         -- 꽃가게 고유 KEY [cite: 852]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shop_name VARCHAR(50) NOT NULL,                -- 꽃가게 이름 [cite: 854]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customer_name VARCHAR(50) DEFAULT '신규',       -- 고객명 [cite: 854]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customer_phone_number VARCHAR(20) NOT NULL,    -- 고객전화번호 [cite: 855]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product_name VARCHAR(150) NOT NULL,            -- 상품명 [cite: 856]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quantity INT DEFAULT 1,                        -- 수량 [cite: 857]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price INT DEFAULT 0,                           -- 가격 [cite: 858]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delivery_at TIMESTAMP NOT NULL,                -- 배달일시 [cite: 859]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delivery_place VARCHAR(255) NOT NULL,          -- 배달장소 [cite: 860]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receiver_name VARCHAR(50) NOT NULL,            -- 받는사람 이름 [cite: 861]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receiver_phone_number VARCHAR(20) NOT NULL,    -- 받는사람 전화번호 [cite: 862]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ribbon_sender TEXT,                            -- 리본문구_보내는사람 [cite: 863]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ribbon_congratulations TEXT,                   -- 리본문구 경조사어 [cite: 864]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card_message TEXT,                             -- 카드메세지 [cite: 865]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rpa_status VARCHAR(20) DEFAULT 'ready',        -- RPA 처리 상태 ('ready', 'success', 'fail')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created_at TIMESTAMP DEFAULT NOW(),            -- [cite: 866]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FOREIGN KEY (call_history_id) REFERENCES server_call_history(id) ON DELETE CASCADE</a:t>
            </a:r>
            <a:endParaRPr lang="en-US" altLang="ko-KR" sz="900"/>
          </a:p>
          <a:p>
            <a:pPr>
              <a:defRPr/>
            </a:pPr>
            <a:r>
              <a:rPr lang="en-US" altLang="ko-KR" sz="900"/>
              <a:t>);</a:t>
            </a:r>
            <a:endParaRPr lang="ko-KR" altLang="en-US" sz="9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1"/>
          <p:cNvSpPr/>
          <p:nvPr/>
        </p:nvSpPr>
        <p:spPr>
          <a:xfrm>
            <a:off x="414336" y="4619881"/>
            <a:ext cx="11363326" cy="20076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900"/>
              <a:t>CREATE TABLE member_info (</a:t>
            </a:r>
            <a:r>
              <a:rPr lang="ko-KR" altLang="en-US" sz="900"/>
              <a:t> </a:t>
            </a:r>
            <a:r>
              <a:rPr lang="en-US" altLang="ko-KR" sz="900"/>
              <a:t>--</a:t>
            </a:r>
            <a:r>
              <a:rPr lang="ko-KR" altLang="en-US" sz="900" b="1">
                <a:solidFill>
                  <a:srgbClr val="ff0000"/>
                </a:solidFill>
              </a:rPr>
              <a:t> 기존 </a:t>
            </a:r>
            <a:r>
              <a:rPr lang="en-US" altLang="ko-KR" sz="900" b="1">
                <a:solidFill>
                  <a:srgbClr val="ff0000"/>
                </a:solidFill>
              </a:rPr>
              <a:t>Supabase</a:t>
            </a:r>
            <a:r>
              <a:rPr lang="ko-KR" altLang="en-US" sz="900" b="1">
                <a:solidFill>
                  <a:srgbClr val="ff0000"/>
                </a:solidFill>
              </a:rPr>
              <a:t>의 </a:t>
            </a:r>
            <a:r>
              <a:rPr lang="en-US" altLang="ko-KR" sz="900" b="1">
                <a:solidFill>
                  <a:srgbClr val="ff0000"/>
                </a:solidFill>
              </a:rPr>
              <a:t>member_info Table </a:t>
            </a:r>
            <a:r>
              <a:rPr lang="ko-KR" altLang="en-US" sz="900" b="1">
                <a:solidFill>
                  <a:srgbClr val="ff0000"/>
                </a:solidFill>
              </a:rPr>
              <a:t>수정해야 됨</a:t>
            </a:r>
            <a:endParaRPr lang="ko-KR" altLang="en-US" sz="900" b="1">
              <a:solidFill>
                <a:srgbClr val="ff0000"/>
              </a:solidFill>
            </a:endParaRPr>
          </a:p>
          <a:p>
            <a:pPr lvl="0">
              <a:defRPr/>
            </a:pPr>
            <a:r>
              <a:rPr lang="en-US" altLang="ko-KR" sz="900"/>
              <a:t>    id SERIAL PRIMARY KEY,                         -- 고유 KEY값 (이 값이 다른 테이블의 shop_key가 됨)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username VARCHAR(50) NOT NULL UNIQUE,          -- 아이디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password VARCHAR(255) NOT NULL,                -- 비밀번호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shop_name VARCHAR(50) NOT NULL,                -- 꽃집이름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representative_name VARCHAR(50) NOT NULL,      -- 대표자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landline_number VARCHAR(20) DEFAULT NULL,      -- 가게전화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mobile_number VARCHAR(20) NOT NULL,            -- 대표 핸드폰 번호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email VARCHAR(100) DEFAULT NULL,               -- 이메일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address VARCHAR(255) DEFAULT NULL,             -- 주소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address_detail VARCHAR(50) DEFAULT NULL,       -- 상세주소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is_approved CHAR(1) DEFAULT 'N',               -- 회원가입 승인 여부 ('Y' 또는 'N')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created_at TIMESTAMP DEFAULT NOW()             -- </a:t>
            </a:r>
            <a:endParaRPr lang="en-US" altLang="ko-KR" sz="900"/>
          </a:p>
          <a:p>
            <a:pPr>
              <a:defRPr/>
            </a:pPr>
            <a:r>
              <a:rPr lang="en-US" altLang="ko-KR" sz="900"/>
              <a:t>); </a:t>
            </a:r>
            <a:endParaRPr lang="ko-KR" altLang="en-US" sz="900" b="1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08517" y="440715"/>
            <a:ext cx="11363325" cy="40722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900"/>
              <a:t>CREATE TABLE setting_info (</a:t>
            </a:r>
            <a:r>
              <a:rPr lang="ko-KR" altLang="en-US" sz="900"/>
              <a:t> </a:t>
            </a:r>
            <a:r>
              <a:rPr lang="en-US" altLang="ko-KR" sz="900"/>
              <a:t> --</a:t>
            </a:r>
            <a:r>
              <a:rPr lang="ko-KR" altLang="en-US" sz="900" b="1">
                <a:solidFill>
                  <a:srgbClr val="ff0000"/>
                </a:solidFill>
              </a:rPr>
              <a:t> 신규 생성해야 함</a:t>
            </a:r>
            <a:endParaRPr lang="ko-KR" altLang="en-US" sz="900" b="1">
              <a:solidFill>
                <a:srgbClr val="ff0000"/>
              </a:solidFill>
            </a:endParaRPr>
          </a:p>
          <a:p>
            <a:pPr lvl="0">
              <a:defRPr/>
            </a:pPr>
            <a:r>
              <a:rPr lang="en-US" altLang="ko-KR" sz="900"/>
              <a:t>    id SERIAL PRIMARY KEY,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shop_key INT NOT NULL UNIQUE,                        -- 꽃가게 고유 KEY (회원정보와 1:1 매핑)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-- [알림 시스템 필드 설정]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use_notification CHAR(1) DEFAULT 'Y',                -- 알림톡/문자 발송 여부 ('Y' 또는 'N')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notification_phone_number VARCHAR(20) DEFAULT NULL,  -- ★ 알림을 수신할 사장님 핸드폰 번호 (국번 포함)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rpa_success_message TEXT DEFAULT '{channel} 주문 {count}건 꽃가게 관리 프로그램에 입력 완료했습니다.', -- 성공 보고 문구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rpa_fail_message TEXT DEFAULT '[ggotAI 경고] {channel} 주문 자동 입력 실패! 수동 확인 바랍니다.',       -- 실패 경고 문구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-- [기기 및 채널 설정]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order_hp_1 VARCHAR(20) NOT NULL,                     -- 주문핸드폰1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order_hp_2 VARCHAR(20) DEFAULT NULL,                 -- 주문핸드폰2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order_landline_1 VARCHAR(20) DEFAULT NULL,           -- 주문일반전화1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order_landline_2 VARCHAR(20) DEFAULT NULL,           -- 주문일반전화2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-- [외부 연동 설정]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shopping_mall_url VARCHAR(255) DEFAULT NULL,         -- 쇼핑몰 관리자주소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shopping_mall_id VARCHAR(50) DEFAULT NULL,           -- 쇼핑몰 아이디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shopping_mall_password VARCHAR(255) DEFAULT NULL,    -- 쇼핑몰 패스워드 (암호화 저장)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intranet_url VARCHAR(255) DEFAULT NULL,              -- 인트라넷주소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intranet_id VARCHAR(50) DEFAULT NULL,                -- 인트라넷 아이디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intranet_password VARCHAR(255) DEFAULT NULL,         -- 인트라넷 패스워드 (암호화 저장)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shopping_mall_check_interval INT DEFAULT 10; -- </a:t>
            </a:r>
            <a:r>
              <a:rPr lang="ko-KR" altLang="en-US" sz="900"/>
              <a:t>쇼핑몰 확인 간격 </a:t>
            </a:r>
            <a:r>
              <a:rPr lang="en-US" altLang="ko-KR" sz="900"/>
              <a:t>(</a:t>
            </a:r>
            <a:r>
              <a:rPr lang="ko-KR" altLang="en-US" sz="900"/>
              <a:t>분 단위</a:t>
            </a:r>
            <a:r>
              <a:rPr lang="en-US" altLang="ko-KR" sz="900"/>
              <a:t>) [cite: 3559]</a:t>
            </a:r>
            <a:endParaRPr lang="en-US" altLang="ko-KR" sz="900"/>
          </a:p>
          <a:p>
            <a:pPr lvl="0">
              <a:defRPr/>
            </a:pPr>
            <a:r>
              <a:rPr lang="en-US" altLang="ko-KR" sz="900"/>
              <a:t>    intranet_check_interval INT DEFAULT 30;      -- </a:t>
            </a:r>
            <a:r>
              <a:rPr lang="ko-KR" altLang="en-US" sz="900"/>
              <a:t>인트라넷 확인 간격 </a:t>
            </a:r>
            <a:r>
              <a:rPr lang="en-US" altLang="ko-KR" sz="900"/>
              <a:t>(</a:t>
            </a:r>
            <a:r>
              <a:rPr lang="ko-KR" altLang="en-US" sz="900"/>
              <a:t>분 단위</a:t>
            </a:r>
            <a:r>
              <a:rPr lang="en-US" altLang="ko-KR" sz="900"/>
              <a:t>) [cite: 3561]</a:t>
            </a:r>
            <a:endParaRPr lang="en-US" altLang="ko-KR" sz="900"/>
          </a:p>
          <a:p>
            <a:pPr lvl="0">
              <a:defRPr/>
            </a:pPr>
            <a:endParaRPr lang="en-US" altLang="ko-KR" sz="900"/>
          </a:p>
          <a:p>
            <a:pPr lvl="0">
              <a:defRPr/>
            </a:pPr>
            <a:r>
              <a:rPr lang="en-US" altLang="ko-KR" sz="900"/>
              <a:t>    created_at TIMESTAMP DEFAULT NOW()</a:t>
            </a:r>
            <a:endParaRPr lang="en-US" altLang="ko-KR" sz="900"/>
          </a:p>
          <a:p>
            <a:pPr>
              <a:defRPr/>
            </a:pPr>
            <a:r>
              <a:rPr lang="en-US" altLang="ko-KR" sz="900"/>
              <a:t>); </a:t>
            </a:r>
            <a:endParaRPr lang="ko-KR" altLang="en-US" sz="9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1099</ep:Words>
  <ep:PresentationFormat>와이드스크린</ep:PresentationFormat>
  <ep:Paragraphs>180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2026-02-22T10:01:34.000</dcterms:created>
  <dc:creator>박선희</dc:creator>
  <cp:lastModifiedBy>SAMSUNG</cp:lastModifiedBy>
  <dcterms:modified xsi:type="dcterms:W3CDTF">2026-06-10T06:55:50.382</dcterms:modified>
  <cp:revision>706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